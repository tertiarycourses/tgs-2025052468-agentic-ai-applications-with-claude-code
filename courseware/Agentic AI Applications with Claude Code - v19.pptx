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25" r:id="rId76"/>
    <p:sldId id="263" r:id="rId9"/>
    <p:sldId id="264" r:id="rId10"/>
    <p:sldId id="265" r:id="rId11"/>
    <p:sldId id="328" r:id="rId73"/>
    <p:sldId id="266" r:id="rId12"/>
    <p:sldId id="267" r:id="rId13"/>
    <p:sldId id="268" r:id="rId14"/>
    <p:sldId id="326" r:id="rId77"/>
    <p:sldId id="269" r:id="rId15"/>
    <p:sldId id="270" r:id="rId16"/>
    <p:sldId id="271" r:id="rId17"/>
    <p:sldId id="272" r:id="rId18"/>
    <p:sldId id="273" r:id="rId19"/>
    <p:sldId id="320" r:id="rId7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23" r:id="rId74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1" r:id="rId72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5" r:id="rId61"/>
    <p:sldId id="324" r:id="rId75"/>
    <p:sldId id="327" r:id="rId78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slide" Target="slides/slide44.xml"/><Relationship Id="rId42" Type="http://schemas.openxmlformats.org/officeDocument/2006/relationships/slide" Target="slides/slide46.xml"/><Relationship Id="rId43" Type="http://schemas.openxmlformats.org/officeDocument/2006/relationships/slide" Target="slides/slide47.xml"/><Relationship Id="rId44" Type="http://schemas.openxmlformats.org/officeDocument/2006/relationships/slide" Target="slides/slide48.xml"/><Relationship Id="rId45" Type="http://schemas.openxmlformats.org/officeDocument/2006/relationships/slide" Target="slides/slide49.xml"/><Relationship Id="rId46" Type="http://schemas.openxmlformats.org/officeDocument/2006/relationships/slide" Target="slides/slide50.xml"/><Relationship Id="rId47" Type="http://schemas.openxmlformats.org/officeDocument/2006/relationships/slide" Target="slides/slide51.xml"/><Relationship Id="rId48" Type="http://schemas.openxmlformats.org/officeDocument/2006/relationships/slide" Target="slides/slide52.xml"/><Relationship Id="rId49" Type="http://schemas.openxmlformats.org/officeDocument/2006/relationships/slide" Target="slides/slide53.xml"/><Relationship Id="rId50" Type="http://schemas.openxmlformats.org/officeDocument/2006/relationships/slide" Target="slides/slide54.xml"/><Relationship Id="rId51" Type="http://schemas.openxmlformats.org/officeDocument/2006/relationships/slide" Target="slides/slide56.xml"/><Relationship Id="rId52" Type="http://schemas.openxmlformats.org/officeDocument/2006/relationships/slide" Target="slides/slide57.xml"/><Relationship Id="rId53" Type="http://schemas.openxmlformats.org/officeDocument/2006/relationships/slide" Target="slides/slide58.xml"/><Relationship Id="rId54" Type="http://schemas.openxmlformats.org/officeDocument/2006/relationships/slide" Target="slides/slide59.xml"/><Relationship Id="rId55" Type="http://schemas.openxmlformats.org/officeDocument/2006/relationships/slide" Target="slides/slide60.xml"/><Relationship Id="rId56" Type="http://schemas.openxmlformats.org/officeDocument/2006/relationships/slide" Target="slides/slide61.xml"/><Relationship Id="rId57" Type="http://schemas.openxmlformats.org/officeDocument/2006/relationships/slide" Target="slides/slide62.xml"/><Relationship Id="rId58" Type="http://schemas.openxmlformats.org/officeDocument/2006/relationships/slide" Target="slides/slide63.xml"/><Relationship Id="rId61" Type="http://schemas.openxmlformats.org/officeDocument/2006/relationships/slide" Target="slides/slide64.xml"/><Relationship Id="rId62" Type="http://schemas.openxmlformats.org/officeDocument/2006/relationships/slide" Target="slides/slide67.xml"/><Relationship Id="rId63" Type="http://schemas.openxmlformats.org/officeDocument/2006/relationships/slide" Target="slides/slide68.xml"/><Relationship Id="rId64" Type="http://schemas.openxmlformats.org/officeDocument/2006/relationships/slide" Target="slides/slide69.xml"/><Relationship Id="rId65" Type="http://schemas.openxmlformats.org/officeDocument/2006/relationships/slide" Target="slides/slide70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22.xml"/><Relationship Id="rId72" Type="http://schemas.openxmlformats.org/officeDocument/2006/relationships/slide" Target="slides/slide55.xml"/><Relationship Id="rId73" Type="http://schemas.openxmlformats.org/officeDocument/2006/relationships/slide" Target="slides/slide12.xml"/><Relationship Id="rId74" Type="http://schemas.openxmlformats.org/officeDocument/2006/relationships/slide" Target="slides/slide45.xml"/><Relationship Id="rId75" Type="http://schemas.openxmlformats.org/officeDocument/2006/relationships/slide" Target="slides/slide65.xml"/><Relationship Id="rId76" Type="http://schemas.openxmlformats.org/officeDocument/2006/relationships/slide" Target="slides/slide8.xml"/><Relationship Id="rId77" Type="http://schemas.openxmlformats.org/officeDocument/2006/relationships/slide" Target="slides/slide16.xml"/><Relationship Id="rId78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Relationship Id="rId1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hyperlink" Target="https://lms-tms.tertiaryinfotech.com/" TargetMode="External"/><Relationship Id="rId7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Relationship Id="rId7" Type="http://schemas.openxmlformats.org/officeDocument/2006/relationships/hyperlink" Target="https://lms-tms.tertiaryinfotech.com/" TargetMode="External"/><Relationship Id="rId8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Relationship Id="rId8" Type="http://schemas.openxmlformats.org/officeDocument/2006/relationships/image" Target="../media/image-13-6.png"/><Relationship Id="rId9" Type="http://schemas.openxmlformats.org/officeDocument/2006/relationships/image" Target="../media/image-13-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Relationship Id="rId7" Type="http://schemas.openxmlformats.org/officeDocument/2006/relationships/image" Target="../media/image-23-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19.0  ·  24 Oct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Claude Certified Associate (Foundations),</a:t>
            </a:r>
            <a:b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0" name="Badge Claude Certified Associate" descr="Claude Certified Associate - Foundations bad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0784" y="3822191"/>
            <a:ext cx="987552" cy="987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HANDS-ON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Materials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8988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labs, each in its own folder. They build on one another — Lab 1 creates the website that every later lab extends.</a:t>
            </a:r>
          </a:p>
        </p:txBody>
      </p:sp>
      <p:sp>
        <p:nvSpPr>
          <p:cNvPr id="16" name="Card0"/>
          <p:cNvSpPr/>
          <p:nvPr/>
        </p:nvSpPr>
        <p:spPr>
          <a:xfrm>
            <a:off x="548640" y="19659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0"/>
          <p:cNvSpPr/>
          <p:nvPr/>
        </p:nvSpPr>
        <p:spPr>
          <a:xfrm>
            <a:off x="749808" y="2167128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Lab0"/>
          <p:cNvSpPr/>
          <p:nvPr/>
        </p:nvSpPr>
        <p:spPr>
          <a:xfrm>
            <a:off x="96012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</a:p>
        </p:txBody>
      </p:sp>
      <p:sp>
        <p:nvSpPr>
          <p:cNvPr id="22" name="Pill0"/>
          <p:cNvSpPr/>
          <p:nvPr/>
        </p:nvSpPr>
        <p:spPr>
          <a:xfrm>
            <a:off x="960120" y="2478024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Topic0"/>
          <p:cNvSpPr/>
          <p:nvPr/>
        </p:nvSpPr>
        <p:spPr>
          <a:xfrm>
            <a:off x="960120" y="2478024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</a:p>
        </p:txBody>
      </p:sp>
      <p:sp>
        <p:nvSpPr>
          <p:cNvPr id="26" name="Desc0"/>
          <p:cNvSpPr/>
          <p:nvPr/>
        </p:nvSpPr>
        <p:spPr>
          <a:xfrm>
            <a:off x="2331720" y="2057400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build workflow — goal, plan, execute, /init, GitHub, Pages, CI/CD.</a:t>
            </a:r>
          </a:p>
        </p:txBody>
      </p:sp>
      <p:sp>
        <p:nvSpPr>
          <p:cNvPr id="28" name="Fold0"/>
          <p:cNvSpPr/>
          <p:nvPr/>
        </p:nvSpPr>
        <p:spPr>
          <a:xfrm>
            <a:off x="2331720" y="245973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labs/lab1-seven-steps/</a:t>
            </a:r>
          </a:p>
        </p:txBody>
      </p:sp>
      <p:sp>
        <p:nvSpPr>
          <p:cNvPr id="30" name="Card1"/>
          <p:cNvSpPr/>
          <p:nvPr/>
        </p:nvSpPr>
        <p:spPr>
          <a:xfrm>
            <a:off x="548640" y="2980944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2" name="Tab1"/>
          <p:cNvSpPr/>
          <p:nvPr/>
        </p:nvSpPr>
        <p:spPr>
          <a:xfrm>
            <a:off x="749808" y="3182112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4" name="Lab1"/>
          <p:cNvSpPr/>
          <p:nvPr/>
        </p:nvSpPr>
        <p:spPr>
          <a:xfrm>
            <a:off x="960120" y="3090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1b</a:t>
            </a:r>
          </a:p>
        </p:txBody>
      </p:sp>
      <p:sp>
        <p:nvSpPr>
          <p:cNvPr id="36" name="Pill1"/>
          <p:cNvSpPr/>
          <p:nvPr/>
        </p:nvSpPr>
        <p:spPr>
          <a:xfrm>
            <a:off x="960120" y="3493008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8" name="Topic1"/>
          <p:cNvSpPr/>
          <p:nvPr/>
        </p:nvSpPr>
        <p:spPr>
          <a:xfrm>
            <a:off x="960120" y="3493008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</a:p>
        </p:txBody>
      </p:sp>
      <p:sp>
        <p:nvSpPr>
          <p:cNvPr id="40" name="Desc1"/>
          <p:cNvSpPr/>
          <p:nvPr/>
        </p:nvSpPr>
        <p:spPr>
          <a:xfrm>
            <a:off x="2331720" y="3072384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/publish custom command + Playwright MCP screenshots into the README.</a:t>
            </a:r>
          </a:p>
        </p:txBody>
      </p:sp>
      <p:sp>
        <p:nvSpPr>
          <p:cNvPr id="42" name="Fold1"/>
          <p:cNvSpPr/>
          <p:nvPr/>
        </p:nvSpPr>
        <p:spPr>
          <a:xfrm>
            <a:off x="2331720" y="3474720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labs/lab1b-commands-mcp/</a:t>
            </a:r>
          </a:p>
        </p:txBody>
      </p:sp>
      <p:sp>
        <p:nvSpPr>
          <p:cNvPr id="44" name="Card2"/>
          <p:cNvSpPr/>
          <p:nvPr/>
        </p:nvSpPr>
        <p:spPr>
          <a:xfrm>
            <a:off x="548640" y="3995928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6" name="Tab2"/>
          <p:cNvSpPr/>
          <p:nvPr/>
        </p:nvSpPr>
        <p:spPr>
          <a:xfrm>
            <a:off x="749808" y="4197096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Lab2"/>
          <p:cNvSpPr/>
          <p:nvPr/>
        </p:nvSpPr>
        <p:spPr>
          <a:xfrm>
            <a:off x="96012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</a:p>
        </p:txBody>
      </p:sp>
      <p:sp>
        <p:nvSpPr>
          <p:cNvPr id="50" name="Pill2"/>
          <p:cNvSpPr/>
          <p:nvPr/>
        </p:nvSpPr>
        <p:spPr>
          <a:xfrm>
            <a:off x="960120" y="4507992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52" name="Topic2"/>
          <p:cNvSpPr/>
          <p:nvPr/>
        </p:nvSpPr>
        <p:spPr>
          <a:xfrm>
            <a:off x="960120" y="4507992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54" name="Desc2"/>
          <p:cNvSpPr/>
          <p:nvPr/>
        </p:nvSpPr>
        <p:spPr>
          <a:xfrm>
            <a:off x="2331720" y="408736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3 skills — cybersecurity, kanban, UI/UX — and revamp the site.</a:t>
            </a:r>
          </a:p>
        </p:txBody>
      </p:sp>
      <p:sp>
        <p:nvSpPr>
          <p:cNvPr id="56" name="Fold2"/>
          <p:cNvSpPr/>
          <p:nvPr/>
        </p:nvSpPr>
        <p:spPr>
          <a:xfrm>
            <a:off x="2331720" y="4489704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labs/lab2-skills/</a:t>
            </a:r>
          </a:p>
        </p:txBody>
      </p:sp>
      <p:sp>
        <p:nvSpPr>
          <p:cNvPr id="58" name="Card3"/>
          <p:cNvSpPr/>
          <p:nvPr/>
        </p:nvSpPr>
        <p:spPr>
          <a:xfrm>
            <a:off x="548640" y="5010912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0" name="Tab3"/>
          <p:cNvSpPr/>
          <p:nvPr/>
        </p:nvSpPr>
        <p:spPr>
          <a:xfrm>
            <a:off x="749808" y="5212080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2" name="Lab3"/>
          <p:cNvSpPr/>
          <p:nvPr/>
        </p:nvSpPr>
        <p:spPr>
          <a:xfrm>
            <a:off x="960120" y="5120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</a:p>
        </p:txBody>
      </p:sp>
      <p:sp>
        <p:nvSpPr>
          <p:cNvPr id="64" name="Pill3"/>
          <p:cNvSpPr/>
          <p:nvPr/>
        </p:nvSpPr>
        <p:spPr>
          <a:xfrm>
            <a:off x="960120" y="5522976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6" name="Topic3"/>
          <p:cNvSpPr/>
          <p:nvPr/>
        </p:nvSpPr>
        <p:spPr>
          <a:xfrm>
            <a:off x="960120" y="5522976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68" name="Desc3"/>
          <p:cNvSpPr/>
          <p:nvPr/>
        </p:nvSpPr>
        <p:spPr>
          <a:xfrm>
            <a:off x="2331720" y="5102352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sub agents and /loop — the event, delegation and schedule triggers.</a:t>
            </a:r>
          </a:p>
        </p:txBody>
      </p:sp>
      <p:sp>
        <p:nvSpPr>
          <p:cNvPr id="70" name="Fold3"/>
          <p:cNvSpPr/>
          <p:nvPr/>
        </p:nvSpPr>
        <p:spPr>
          <a:xfrm>
            <a:off x="2331720" y="5504688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labs/lab3-hooks/</a:t>
            </a:r>
          </a:p>
        </p:txBody>
      </p:sp>
      <p:sp>
        <p:nvSpPr>
          <p:cNvPr id="72" name="Tip"/>
          <p:cNvSpPr/>
          <p:nvPr/>
        </p:nvSpPr>
        <p:spPr>
          <a:xfrm>
            <a:off x="548640" y="61173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gives you the exact prompt to paste, what you should see, and a checkpoint before moving on.</a:t>
            </a:r>
          </a:p>
        </p:txBody>
      </p:sp>
      <p:sp>
        <p:nvSpPr>
          <p:cNvPr id="74" name="F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76" name="F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78" name="F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setup, agentic loop &amp; tools,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6–7 · hooks, testing, optimisation &amp;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/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PORTAL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to LMS and Download Course Material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20" name="Picture 19" descr="ref_log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8637" y="1897380"/>
            <a:ext cx="8114725" cy="403707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09600" y="6016752"/>
            <a:ext cx="1097280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CBD5E1"/>
                </a:solidFill>
                <a:latin typeface="Cambria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3">
            <a:hlinkClick r:id="rId7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2770327"/>
            <a:ext cx="2194560" cy="1091793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200" name="Shape 3"/>
          <p:cNvSpPr/>
          <p:nvPr/>
        </p:nvSpPr>
        <p:spPr>
          <a:xfrm>
            <a:off x="5486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1" name="Shape 4"/>
          <p:cNvSpPr/>
          <p:nvPr/>
        </p:nvSpPr>
        <p:spPr>
          <a:xfrm>
            <a:off x="8229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2592705"/>
            <a:ext cx="247650" cy="247650"/>
          </a:xfrm>
          <a:prstGeom prst="rect">
            <a:avLst/>
          </a:prstGeom>
        </p:spPr>
      </p:pic>
      <p:sp>
        <p:nvSpPr>
          <p:cNvPr id="203" name="Text 5"/>
          <p:cNvSpPr/>
          <p:nvPr/>
        </p:nvSpPr>
        <p:spPr>
          <a:xfrm>
            <a:off x="8229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</a:t>
            </a:r>
            <a:endParaRPr lang="en-US" sz="1300" dirty="0"/>
          </a:p>
        </p:txBody>
      </p:sp>
      <p:sp>
        <p:nvSpPr>
          <p:cNvPr id="204" name="Text 6"/>
          <p:cNvSpPr/>
          <p:nvPr/>
        </p:nvSpPr>
        <p:spPr>
          <a:xfrm>
            <a:off x="8229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Cowork in one app — web, desktop &amp; mobile.</a:t>
            </a:r>
            <a:endParaRPr lang="en-US" sz="1050" dirty="0"/>
          </a:p>
        </p:txBody>
      </p:sp>
      <p:sp>
        <p:nvSpPr>
          <p:cNvPr id="205" name="Shape 3"/>
          <p:cNvSpPr/>
          <p:nvPr/>
        </p:nvSpPr>
        <p:spPr>
          <a:xfrm>
            <a:off x="43078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6" name="Shape 4"/>
          <p:cNvSpPr/>
          <p:nvPr/>
        </p:nvSpPr>
        <p:spPr>
          <a:xfrm>
            <a:off x="45821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365" y="2592705"/>
            <a:ext cx="247650" cy="247650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45821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9" name="Text 6"/>
          <p:cNvSpPr/>
          <p:nvPr/>
        </p:nvSpPr>
        <p:spPr>
          <a:xfrm>
            <a:off x="45821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tool for building — terminal, IDE &amp; web.</a:t>
            </a:r>
            <a:endParaRPr lang="en-US" sz="1050" dirty="0"/>
          </a:p>
        </p:txBody>
      </p:sp>
      <p:sp>
        <p:nvSpPr>
          <p:cNvPr id="215" name="Shape 3"/>
          <p:cNvSpPr/>
          <p:nvPr/>
        </p:nvSpPr>
        <p:spPr>
          <a:xfrm>
            <a:off x="80670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6" name="Shape 4"/>
          <p:cNvSpPr/>
          <p:nvPr/>
        </p:nvSpPr>
        <p:spPr>
          <a:xfrm>
            <a:off x="83413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565" y="2592705"/>
            <a:ext cx="247650" cy="247650"/>
          </a:xfrm>
          <a:prstGeom prst="rect">
            <a:avLst/>
          </a:prstGeom>
        </p:spPr>
      </p:pic>
      <p:sp>
        <p:nvSpPr>
          <p:cNvPr id="218" name="Text 5"/>
          <p:cNvSpPr/>
          <p:nvPr/>
        </p:nvSpPr>
        <p:spPr>
          <a:xfrm>
            <a:off x="83413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19" name="Text 6"/>
          <p:cNvSpPr/>
          <p:nvPr/>
        </p:nvSpPr>
        <p:spPr>
          <a:xfrm>
            <a:off x="83413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UI, prototypes &amp; front-end designs.</a:t>
            </a:r>
            <a:endParaRPr lang="en-US" sz="1050" dirty="0"/>
          </a:p>
        </p:txBody>
      </p:sp>
      <p:sp>
        <p:nvSpPr>
          <p:cNvPr id="220" name="Shape 3"/>
          <p:cNvSpPr/>
          <p:nvPr/>
        </p:nvSpPr>
        <p:spPr>
          <a:xfrm>
            <a:off x="5486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1" name="Shape 4"/>
          <p:cNvSpPr/>
          <p:nvPr/>
        </p:nvSpPr>
        <p:spPr>
          <a:xfrm>
            <a:off x="8229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65" y="4192905"/>
            <a:ext cx="247650" cy="247650"/>
          </a:xfrm>
          <a:prstGeom prst="rect">
            <a:avLst/>
          </a:prstGeom>
        </p:spPr>
      </p:pic>
      <p:sp>
        <p:nvSpPr>
          <p:cNvPr id="223" name="Text 5"/>
          <p:cNvSpPr/>
          <p:nvPr/>
        </p:nvSpPr>
        <p:spPr>
          <a:xfrm>
            <a:off x="8229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300" dirty="0"/>
          </a:p>
        </p:txBody>
      </p:sp>
      <p:sp>
        <p:nvSpPr>
          <p:cNvPr id="224" name="Text 6"/>
          <p:cNvSpPr/>
          <p:nvPr/>
        </p:nvSpPr>
        <p:spPr>
          <a:xfrm>
            <a:off x="8229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Excel, PowerPoint, Word &amp; Outlook.</a:t>
            </a:r>
            <a:endParaRPr lang="en-US" sz="1050" dirty="0"/>
          </a:p>
        </p:txBody>
      </p:sp>
      <p:sp>
        <p:nvSpPr>
          <p:cNvPr id="225" name="Shape 3"/>
          <p:cNvSpPr/>
          <p:nvPr/>
        </p:nvSpPr>
        <p:spPr>
          <a:xfrm>
            <a:off x="43078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6" name="Shape 4"/>
          <p:cNvSpPr/>
          <p:nvPr/>
        </p:nvSpPr>
        <p:spPr>
          <a:xfrm>
            <a:off x="45821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7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8365" y="4192905"/>
            <a:ext cx="247650" cy="247650"/>
          </a:xfrm>
          <a:prstGeom prst="rect">
            <a:avLst/>
          </a:prstGeom>
        </p:spPr>
      </p:pic>
      <p:sp>
        <p:nvSpPr>
          <p:cNvPr id="228" name="Text 5"/>
          <p:cNvSpPr/>
          <p:nvPr/>
        </p:nvSpPr>
        <p:spPr>
          <a:xfrm>
            <a:off x="45821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</a:t>
            </a:r>
            <a:endParaRPr lang="en-US" sz="1300" dirty="0"/>
          </a:p>
        </p:txBody>
      </p:sp>
      <p:sp>
        <p:nvSpPr>
          <p:cNvPr id="229" name="Text 6"/>
          <p:cNvSpPr/>
          <p:nvPr/>
        </p:nvSpPr>
        <p:spPr>
          <a:xfrm>
            <a:off x="45821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that clicks &amp; fills forms in Chrome.</a:t>
            </a:r>
            <a:endParaRPr lang="en-US" sz="1050" dirty="0"/>
          </a:p>
        </p:txBody>
      </p:sp>
      <p:sp>
        <p:nvSpPr>
          <p:cNvPr id="230" name="Shape 3"/>
          <p:cNvSpPr/>
          <p:nvPr/>
        </p:nvSpPr>
        <p:spPr>
          <a:xfrm>
            <a:off x="80670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1" name="Shape 4"/>
          <p:cNvSpPr/>
          <p:nvPr/>
        </p:nvSpPr>
        <p:spPr>
          <a:xfrm>
            <a:off x="83413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32" name="Image 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7565" y="4192905"/>
            <a:ext cx="247650" cy="247650"/>
          </a:xfrm>
          <a:prstGeom prst="rect">
            <a:avLst/>
          </a:prstGeom>
        </p:spPr>
      </p:pic>
      <p:sp>
        <p:nvSpPr>
          <p:cNvPr id="233" name="Text 5"/>
          <p:cNvSpPr/>
          <p:nvPr/>
        </p:nvSpPr>
        <p:spPr>
          <a:xfrm>
            <a:off x="83413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Science</a:t>
            </a:r>
            <a:endParaRPr lang="en-US" sz="1300" dirty="0"/>
          </a:p>
        </p:txBody>
      </p:sp>
      <p:sp>
        <p:nvSpPr>
          <p:cNvPr id="234" name="Text 6"/>
          <p:cNvSpPr/>
          <p:nvPr/>
        </p:nvSpPr>
        <p:spPr>
          <a:xfrm>
            <a:off x="83413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workflows for scientists and labs.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 and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Cowork are now one app: Claude. Claude Code is the agentic tool for building — the one we use in this course.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ask, draft, analyse and research with web search.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Cowork: plans and runs multi-step tasks on your files.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&amp; skills: Drive, Gmail, Calendar, Microsoft 365.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— web, desktop and mobile apps.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for building software, sites and automations.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terminal, VS Code, desktop app and web.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files, runs commands and calls MCP tools for you.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CLAUDE.md, skills, sub agents and hooks.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 of AI, 2023–2026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goes mainstream; results depend on the prompt wording.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call tools and MCP launches; results depend on context.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&amp; Codex: systems that plan, act and check their work.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agents work 24/7 — OpenClaw, Hermes Agent, agent teams.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wording one prompt → curating context → engineering the harness → AI agents that work around the clock.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Common use cases:  </a:t>
            </a:r>
            <a:pPr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 xml:space="preserve"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API pay-as-you-go (per million tokens, input / output):  </a:t>
            </a:r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You:  </a:t>
            </a:r>
            <a:pPr indent="0" marL="0">
              <a:buNone/>
            </a:pP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100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02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103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 to understand the existing site and conventions.</a:t>
            </a:r>
            <a:endParaRPr lang="en-US" sz="1300" dirty="0"/>
          </a:p>
        </p:txBody>
      </p:sp>
      <p:sp>
        <p:nvSpPr>
          <p:cNvPr id="104" name="Shape 4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5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392424"/>
            <a:ext cx="274320" cy="274320"/>
          </a:xfrm>
          <a:prstGeom prst="rect">
            <a:avLst/>
          </a:prstGeom>
        </p:spPr>
      </p:pic>
      <p:sp>
        <p:nvSpPr>
          <p:cNvPr id="106" name="Text 5"/>
          <p:cNvSpPr/>
          <p:nvPr/>
        </p:nvSpPr>
        <p:spPr>
          <a:xfrm>
            <a:off x="1371600" y="32095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7" name="Text 6"/>
          <p:cNvSpPr/>
          <p:nvPr/>
        </p:nvSpPr>
        <p:spPr>
          <a:xfrm>
            <a:off x="5394960" y="320954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approach — hero, testimonials and enquiry form sections — for you to approve.</a:t>
            </a:r>
            <a:endParaRPr lang="en-US" sz="1300" dirty="0"/>
          </a:p>
        </p:txBody>
      </p:sp>
      <p:sp>
        <p:nvSpPr>
          <p:cNvPr id="108" name="Shape 4"/>
          <p:cNvSpPr/>
          <p:nvPr/>
        </p:nvSpPr>
        <p:spPr>
          <a:xfrm>
            <a:off x="640080" y="399592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110" name="Text 5"/>
          <p:cNvSpPr/>
          <p:nvPr/>
        </p:nvSpPr>
        <p:spPr>
          <a:xfrm>
            <a:off x="1371600" y="3950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Take action</a:t>
            </a:r>
            <a:endParaRPr lang="en-US" sz="1600" dirty="0"/>
          </a:p>
        </p:txBody>
      </p:sp>
      <p:sp>
        <p:nvSpPr>
          <p:cNvPr id="111" name="Text 6"/>
          <p:cNvSpPr/>
          <p:nvPr/>
        </p:nvSpPr>
        <p:spPr>
          <a:xfrm>
            <a:off x="5394960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12" name="Shape 4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114" name="Text 5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 work</a:t>
            </a:r>
            <a:endParaRPr lang="en-US" sz="1600" dirty="0"/>
          </a:p>
        </p:txBody>
      </p:sp>
      <p:sp>
        <p:nvSpPr>
          <p:cNvPr id="115" name="Text 6"/>
          <p:cNvSpPr/>
          <p:nvPr/>
        </p:nvSpPr>
        <p:spPr>
          <a:xfrm>
            <a:off x="5394960" y="46908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16" name="Shape 4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14416"/>
            <a:ext cx="274320" cy="274320"/>
          </a:xfrm>
          <a:prstGeom prst="rect">
            <a:avLst/>
          </a:prstGeom>
        </p:spPr>
      </p:pic>
      <p:sp>
        <p:nvSpPr>
          <p:cNvPr id="118" name="Text 5"/>
          <p:cNvSpPr/>
          <p:nvPr/>
        </p:nvSpPr>
        <p:spPr>
          <a:xfrm>
            <a:off x="1371600" y="5431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Repeat</a:t>
            </a:r>
            <a:endParaRPr lang="en-US" sz="1600" dirty="0"/>
          </a:p>
        </p:txBody>
      </p:sp>
      <p:sp>
        <p:nvSpPr>
          <p:cNvPr id="119" name="Text 6"/>
          <p:cNvSpPr/>
          <p:nvPr/>
        </p:nvSpPr>
        <p:spPr>
          <a:xfrm>
            <a:off x="5394960" y="54315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Goal: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Sections: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Styling: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Deliverable: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  </a:t>
            </a:r>
            <a:pPr indent="0" marL="0">
              <a:buNone/>
            </a:pP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initialise git and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# settings, hooks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# personal memory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projects/&lt;p&gt;/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# sessions + memory/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# shared settings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# personal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rules/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# memory &amp; rules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# /slash commands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agents/&lt;name&gt;.md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# sub agents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</a:p>
        </p:txBody>
      </p:sp>
      <p:sp>
        <p:nvSpPr>
          <p:cNvPr id="102" name="Shape 10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vs Project Level</a:t>
            </a:r>
          </a:p>
        </p:txBody>
      </p:sp>
      <p:sp>
        <p:nvSpPr>
          <p:cNvPr id="103" name="Shape 10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customisation — commands, MCP tools, skills, CLAUDE.md and hooks — can be stored at two levels. User level applies to ALL your projects; project level applies only to that ONE project.</a:t>
            </a:r>
          </a:p>
        </p:txBody>
      </p:sp>
      <p:sp>
        <p:nvSpPr>
          <p:cNvPr id="104" name="Shape 104"/>
          <p:cNvSpPr/>
          <p:nvPr/>
        </p:nvSpPr>
        <p:spPr>
          <a:xfrm>
            <a:off x="54864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5" name="Shape 105"/>
          <p:cNvSpPr/>
          <p:nvPr/>
        </p:nvSpPr>
        <p:spPr>
          <a:xfrm>
            <a:off x="77724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6" name="Shape 106"/>
          <p:cNvSpPr/>
          <p:nvPr/>
        </p:nvSpPr>
        <p:spPr>
          <a:xfrm>
            <a:off x="77724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 ·  ~/.claude/</a:t>
            </a:r>
          </a:p>
        </p:txBody>
      </p:sp>
      <p:sp>
        <p:nvSpPr>
          <p:cNvPr id="107" name="Shape 107"/>
          <p:cNvSpPr/>
          <p:nvPr/>
        </p:nvSpPr>
        <p:spPr>
          <a:xfrm>
            <a:off x="77724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8" name="Shape 108"/>
          <p:cNvSpPr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PROJECTS</a:t>
            </a:r>
          </a:p>
        </p:txBody>
      </p:sp>
      <p:sp>
        <p:nvSpPr>
          <p:cNvPr id="109" name="Shape 109"/>
          <p:cNvSpPr/>
          <p:nvPr/>
        </p:nvSpPr>
        <p:spPr>
          <a:xfrm>
            <a:off x="822960" y="374916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0" name="Shape 110"/>
          <p:cNvSpPr/>
          <p:nvPr/>
        </p:nvSpPr>
        <p:spPr>
          <a:xfrm>
            <a:off x="101536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11" name="Shape 111"/>
          <p:cNvSpPr/>
          <p:nvPr/>
        </p:nvSpPr>
        <p:spPr>
          <a:xfrm>
            <a:off x="223864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~/.claude/commands/&lt;name&gt;.md</a:t>
            </a:r>
          </a:p>
        </p:txBody>
      </p:sp>
      <p:sp>
        <p:nvSpPr>
          <p:cNvPr id="112" name="Shape 112"/>
          <p:cNvSpPr/>
          <p:nvPr/>
        </p:nvSpPr>
        <p:spPr>
          <a:xfrm>
            <a:off x="822960" y="4114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3" name="Shape 113"/>
          <p:cNvSpPr/>
          <p:nvPr/>
        </p:nvSpPr>
        <p:spPr>
          <a:xfrm>
            <a:off x="101536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14" name="Shape 114"/>
          <p:cNvSpPr/>
          <p:nvPr/>
        </p:nvSpPr>
        <p:spPr>
          <a:xfrm>
            <a:off x="223864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~/.claude.json  ·  claude mcp add -s user …</a:t>
            </a:r>
          </a:p>
        </p:txBody>
      </p:sp>
      <p:sp>
        <p:nvSpPr>
          <p:cNvPr id="115" name="Shape 115"/>
          <p:cNvSpPr/>
          <p:nvPr/>
        </p:nvSpPr>
        <p:spPr>
          <a:xfrm>
            <a:off x="822960" y="448068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6" name="Shape 116"/>
          <p:cNvSpPr/>
          <p:nvPr/>
        </p:nvSpPr>
        <p:spPr>
          <a:xfrm>
            <a:off x="101536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17" name="Shape 117"/>
          <p:cNvSpPr/>
          <p:nvPr/>
        </p:nvSpPr>
        <p:spPr>
          <a:xfrm>
            <a:off x="223864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~/.claude/skills/&lt;name&gt;/SKILL.md</a:t>
            </a:r>
          </a:p>
        </p:txBody>
      </p:sp>
      <p:sp>
        <p:nvSpPr>
          <p:cNvPr id="118" name="Shape 118"/>
          <p:cNvSpPr/>
          <p:nvPr/>
        </p:nvSpPr>
        <p:spPr>
          <a:xfrm>
            <a:off x="822960" y="484644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9" name="Shape 119"/>
          <p:cNvSpPr/>
          <p:nvPr/>
        </p:nvSpPr>
        <p:spPr>
          <a:xfrm>
            <a:off x="101536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20" name="Shape 120"/>
          <p:cNvSpPr/>
          <p:nvPr/>
        </p:nvSpPr>
        <p:spPr>
          <a:xfrm>
            <a:off x="223864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  (your personal memory)</a:t>
            </a:r>
          </a:p>
        </p:txBody>
      </p:sp>
      <p:sp>
        <p:nvSpPr>
          <p:cNvPr id="121" name="Shape 121"/>
          <p:cNvSpPr/>
          <p:nvPr/>
        </p:nvSpPr>
        <p:spPr>
          <a:xfrm>
            <a:off x="822960" y="521220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22" name="Shape 122"/>
          <p:cNvSpPr/>
          <p:nvPr/>
        </p:nvSpPr>
        <p:spPr>
          <a:xfrm>
            <a:off x="101536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23" name="Shape 123"/>
          <p:cNvSpPr/>
          <p:nvPr/>
        </p:nvSpPr>
        <p:spPr>
          <a:xfrm>
            <a:off x="223864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~/.claude/settings.json  →  "hooks"</a:t>
            </a:r>
          </a:p>
        </p:txBody>
      </p:sp>
      <p:sp>
        <p:nvSpPr>
          <p:cNvPr id="124" name="Shape 124"/>
          <p:cNvSpPr/>
          <p:nvPr/>
        </p:nvSpPr>
        <p:spPr>
          <a:xfrm>
            <a:off x="621792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5" name="Shape 125"/>
          <p:cNvSpPr/>
          <p:nvPr/>
        </p:nvSpPr>
        <p:spPr>
          <a:xfrm>
            <a:off x="644652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6" name="Shape 126"/>
          <p:cNvSpPr/>
          <p:nvPr/>
        </p:nvSpPr>
        <p:spPr>
          <a:xfrm>
            <a:off x="644652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Level  ·  &lt;project&gt;/</a:t>
            </a:r>
          </a:p>
        </p:txBody>
      </p:sp>
      <p:sp>
        <p:nvSpPr>
          <p:cNvPr id="127" name="Shape 127"/>
          <p:cNvSpPr/>
          <p:nvPr/>
        </p:nvSpPr>
        <p:spPr>
          <a:xfrm>
            <a:off x="644652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8" name="Shape 128"/>
          <p:cNvSpPr/>
          <p:nvPr/>
        </p:nvSpPr>
        <p:spPr>
          <a:xfrm>
            <a:off x="64465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ONLY</a:t>
            </a:r>
          </a:p>
        </p:txBody>
      </p:sp>
      <p:sp>
        <p:nvSpPr>
          <p:cNvPr id="129" name="Shape 129"/>
          <p:cNvSpPr/>
          <p:nvPr/>
        </p:nvSpPr>
        <p:spPr>
          <a:xfrm>
            <a:off x="6492240" y="374916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0" name="Shape 130"/>
          <p:cNvSpPr/>
          <p:nvPr/>
        </p:nvSpPr>
        <p:spPr>
          <a:xfrm>
            <a:off x="668464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31" name="Shape 131"/>
          <p:cNvSpPr/>
          <p:nvPr/>
        </p:nvSpPr>
        <p:spPr>
          <a:xfrm>
            <a:off x="790792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&lt;project&gt;/.claude/commands/&lt;name&gt;.md</a:t>
            </a:r>
          </a:p>
        </p:txBody>
      </p:sp>
      <p:sp>
        <p:nvSpPr>
          <p:cNvPr id="132" name="Shape 132"/>
          <p:cNvSpPr/>
          <p:nvPr/>
        </p:nvSpPr>
        <p:spPr>
          <a:xfrm>
            <a:off x="6492240" y="4114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3" name="Shape 133"/>
          <p:cNvSpPr/>
          <p:nvPr/>
        </p:nvSpPr>
        <p:spPr>
          <a:xfrm>
            <a:off x="668464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34" name="Shape 134"/>
          <p:cNvSpPr/>
          <p:nvPr/>
        </p:nvSpPr>
        <p:spPr>
          <a:xfrm>
            <a:off x="790792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&lt;project&gt;/.mcp.json  ·  claude mcp add -s project …</a:t>
            </a:r>
          </a:p>
        </p:txBody>
      </p:sp>
      <p:sp>
        <p:nvSpPr>
          <p:cNvPr id="135" name="Shape 135"/>
          <p:cNvSpPr/>
          <p:nvPr/>
        </p:nvSpPr>
        <p:spPr>
          <a:xfrm>
            <a:off x="6492240" y="448068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6" name="Shape 136"/>
          <p:cNvSpPr/>
          <p:nvPr/>
        </p:nvSpPr>
        <p:spPr>
          <a:xfrm>
            <a:off x="668464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37" name="Shape 137"/>
          <p:cNvSpPr/>
          <p:nvPr/>
        </p:nvSpPr>
        <p:spPr>
          <a:xfrm>
            <a:off x="790792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&lt;project&gt;/.claude/skills/&lt;name&gt;/SKILL.md</a:t>
            </a:r>
          </a:p>
        </p:txBody>
      </p:sp>
      <p:sp>
        <p:nvSpPr>
          <p:cNvPr id="138" name="Shape 138"/>
          <p:cNvSpPr/>
          <p:nvPr/>
        </p:nvSpPr>
        <p:spPr>
          <a:xfrm>
            <a:off x="6492240" y="484644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9" name="Shape 139"/>
          <p:cNvSpPr/>
          <p:nvPr/>
        </p:nvSpPr>
        <p:spPr>
          <a:xfrm>
            <a:off x="668464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40" name="Shape 140"/>
          <p:cNvSpPr/>
          <p:nvPr/>
        </p:nvSpPr>
        <p:spPr>
          <a:xfrm>
            <a:off x="790792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&lt;project&gt;/CLAUDE.md  (shared with the team)</a:t>
            </a:r>
          </a:p>
        </p:txBody>
      </p:sp>
      <p:sp>
        <p:nvSpPr>
          <p:cNvPr id="141" name="Shape 141"/>
          <p:cNvSpPr/>
          <p:nvPr/>
        </p:nvSpPr>
        <p:spPr>
          <a:xfrm>
            <a:off x="6492240" y="521220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42" name="Shape 142"/>
          <p:cNvSpPr/>
          <p:nvPr/>
        </p:nvSpPr>
        <p:spPr>
          <a:xfrm>
            <a:off x="668464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43" name="Shape 143"/>
          <p:cNvSpPr/>
          <p:nvPr/>
        </p:nvSpPr>
        <p:spPr>
          <a:xfrm>
            <a:off x="790792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&lt;project&gt;/.claude/settings.json  →  "hooks"</a:t>
            </a:r>
          </a:p>
        </p:txBody>
      </p:sp>
      <p:sp>
        <p:nvSpPr>
          <p:cNvPr id="144" name="Shape 144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preferences at user level; commit team-shared rules, commands, skills and hooks at project level. Both levels load together — where they conflict, project settings take precedence.</a:t>
            </a:r>
          </a:p>
        </p:txBody>
      </p:sp>
      <p:sp>
        <p:nvSpPr>
          <p:cNvPr id="145" name="Shape 1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46" name="Shape 1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147" name="Shape 1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a README
2. Enable GitHub Pages
3. Update repo About + Pages link
4. Scan for secrets before publishing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$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npx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&gt;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screenshot, then add 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vs CLAUDE.md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Markdown instruction files — the difference is WHEN Claude loads them.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7"/>
          <p:cNvSpPr/>
          <p:nvPr/>
        </p:nvSpPr>
        <p:spPr>
          <a:xfrm>
            <a:off x="77724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8" name="Text 8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" name="Text 10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2" name="Text 12"/>
          <p:cNvSpPr/>
          <p:nvPr/>
        </p:nvSpPr>
        <p:spPr>
          <a:xfrm>
            <a:off x="101536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13" name="Text 13"/>
          <p:cNvSpPr/>
          <p:nvPr/>
        </p:nvSpPr>
        <p:spPr>
          <a:xfrm>
            <a:off x="205740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name + description, and loads it only when the task matches.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3319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5" name="Text 15"/>
          <p:cNvSpPr/>
          <p:nvPr/>
        </p:nvSpPr>
        <p:spPr>
          <a:xfrm>
            <a:off x="101536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6" name="Text 16"/>
          <p:cNvSpPr/>
          <p:nvPr/>
        </p:nvSpPr>
        <p:spPr>
          <a:xfrm>
            <a:off x="205740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specialised capability — a workflow, a format, a house standard.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47320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8" name="Text 18"/>
          <p:cNvSpPr/>
          <p:nvPr/>
        </p:nvSpPr>
        <p:spPr>
          <a:xfrm>
            <a:off x="101536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19" name="Text 19"/>
          <p:cNvSpPr/>
          <p:nvPr/>
        </p:nvSpPr>
        <p:spPr>
          <a:xfrm>
            <a:off x="205740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context until it fires; you can keep dozens installed.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51320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21" name="Text 21"/>
          <p:cNvSpPr/>
          <p:nvPr/>
        </p:nvSpPr>
        <p:spPr>
          <a:xfrm>
            <a:off x="101536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22" name="Text 22"/>
          <p:cNvSpPr/>
          <p:nvPr/>
        </p:nvSpPr>
        <p:spPr>
          <a:xfrm>
            <a:off x="205740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4" name="Shape 24"/>
          <p:cNvSpPr/>
          <p:nvPr/>
        </p:nvSpPr>
        <p:spPr>
          <a:xfrm>
            <a:off x="644652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5" name="Text 25"/>
          <p:cNvSpPr/>
          <p:nvPr/>
        </p:nvSpPr>
        <p:spPr>
          <a:xfrm>
            <a:off x="6446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</a:p>
        </p:txBody>
      </p:sp>
      <p:sp>
        <p:nvSpPr>
          <p:cNvPr id="26" name="Shape 26"/>
          <p:cNvSpPr/>
          <p:nvPr/>
        </p:nvSpPr>
        <p:spPr>
          <a:xfrm>
            <a:off x="644652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7" name="Text 27"/>
          <p:cNvSpPr/>
          <p:nvPr/>
        </p:nvSpPr>
        <p:spPr>
          <a:xfrm>
            <a:off x="64465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</a:p>
        </p:txBody>
      </p:sp>
      <p:sp>
        <p:nvSpPr>
          <p:cNvPr id="28" name="Shape 28"/>
          <p:cNvSpPr/>
          <p:nvPr/>
        </p:nvSpPr>
        <p:spPr>
          <a:xfrm>
            <a:off x="6492240" y="3931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9" name="Text 29"/>
          <p:cNvSpPr/>
          <p:nvPr/>
        </p:nvSpPr>
        <p:spPr>
          <a:xfrm>
            <a:off x="668464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30" name="Text 30"/>
          <p:cNvSpPr/>
          <p:nvPr/>
        </p:nvSpPr>
        <p:spPr>
          <a:xfrm>
            <a:off x="772668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automatically at the start of every session — always in context.</a:t>
            </a:r>
          </a:p>
        </p:txBody>
      </p:sp>
      <p:sp>
        <p:nvSpPr>
          <p:cNvPr id="31" name="Shape 31"/>
          <p:cNvSpPr/>
          <p:nvPr/>
        </p:nvSpPr>
        <p:spPr>
          <a:xfrm>
            <a:off x="6492240" y="43319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32" name="Text 32"/>
          <p:cNvSpPr/>
          <p:nvPr/>
        </p:nvSpPr>
        <p:spPr>
          <a:xfrm>
            <a:off x="668464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33" name="Text 33"/>
          <p:cNvSpPr/>
          <p:nvPr/>
        </p:nvSpPr>
        <p:spPr>
          <a:xfrm>
            <a:off x="772668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facts: stack, conventions, commands, do-nots.</a:t>
            </a:r>
          </a:p>
        </p:txBody>
      </p:sp>
      <p:sp>
        <p:nvSpPr>
          <p:cNvPr id="34" name="Shape 34"/>
          <p:cNvSpPr/>
          <p:nvPr/>
        </p:nvSpPr>
        <p:spPr>
          <a:xfrm>
            <a:off x="6492240" y="47320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35" name="Text 35"/>
          <p:cNvSpPr/>
          <p:nvPr/>
        </p:nvSpPr>
        <p:spPr>
          <a:xfrm>
            <a:off x="668464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36" name="Text 36"/>
          <p:cNvSpPr/>
          <p:nvPr/>
        </p:nvSpPr>
        <p:spPr>
          <a:xfrm>
            <a:off x="772668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context on every turn, so keep it tight and high-value.</a:t>
            </a:r>
          </a:p>
        </p:txBody>
      </p:sp>
      <p:sp>
        <p:nvSpPr>
          <p:cNvPr id="37" name="Shape 37"/>
          <p:cNvSpPr/>
          <p:nvPr/>
        </p:nvSpPr>
        <p:spPr>
          <a:xfrm>
            <a:off x="6492240" y="51320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38" name="Text 38"/>
          <p:cNvSpPr/>
          <p:nvPr/>
        </p:nvSpPr>
        <p:spPr>
          <a:xfrm>
            <a:off x="668464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39" name="Text 39"/>
          <p:cNvSpPr/>
          <p:nvPr/>
        </p:nvSpPr>
        <p:spPr>
          <a:xfrm>
            <a:off x="772668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root (or ~/.claude/CLAUDE.md)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project facts in CLAUDE.md; put specialised, occasional procedures in a skill.</a:t>
            </a:r>
          </a:p>
        </p:txBody>
      </p:sp>
      <p:sp>
        <p:nvSpPr>
          <p:cNvPr id="41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42" name="Text 4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43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name: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description: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"PostToolUse":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"matcher": "Edit|Write",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"hooks":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"type": "command",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"command":
          "npx prettier --write ."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Floating WhatsApp Widget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floating WhatsApp widget to the bottom-right of the website from Activity 1.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it as a round WhatsApp button that expands into a chat panel on click.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Claude Code hook that fires 10 seconds after page load to auto-open the widget.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auto-open, prompt the user “Hi! How can I help you?” with suggested queries as quick-reply chips.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activation — let the visitor speak their question using the Web Speech API.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the 10-second auto-open, the suggested queries and the voice prompt.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live in .claude/hooks + .claude/settings.json; the widget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Optimise &amp; Deploy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 version and verify the live site end-to-end.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Record the live URL and the tests completed for your final verification.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 ·  SUMMARY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Triggers What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extend Claude Code — each one is loaded by a different trigger. Knowing which fires when is how you choose the right mechanism.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0195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 0"/>
          <p:cNvSpPr/>
          <p:nvPr/>
        </p:nvSpPr>
        <p:spPr>
          <a:xfrm>
            <a:off x="749808" y="207568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Name 0"/>
          <p:cNvSpPr/>
          <p:nvPr/>
        </p:nvSpPr>
        <p:spPr>
          <a:xfrm>
            <a:off x="960120" y="190195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22" name="Pill 0"/>
          <p:cNvSpPr/>
          <p:nvPr/>
        </p:nvSpPr>
        <p:spPr>
          <a:xfrm>
            <a:off x="3154680" y="211683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Badge 0"/>
          <p:cNvSpPr/>
          <p:nvPr/>
        </p:nvSpPr>
        <p:spPr>
          <a:xfrm>
            <a:off x="3154680" y="211683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</a:p>
        </p:txBody>
      </p:sp>
      <p:sp>
        <p:nvSpPr>
          <p:cNvPr id="26" name="Desc 0"/>
          <p:cNvSpPr/>
          <p:nvPr/>
        </p:nvSpPr>
        <p:spPr>
          <a:xfrm>
            <a:off x="5074920" y="190195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— read automatically at the start of every session, so it is always in context.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606040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0" name="Tab 1"/>
          <p:cNvSpPr/>
          <p:nvPr/>
        </p:nvSpPr>
        <p:spPr>
          <a:xfrm>
            <a:off x="749808" y="2779776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2" name="Name 1"/>
          <p:cNvSpPr/>
          <p:nvPr/>
        </p:nvSpPr>
        <p:spPr>
          <a:xfrm>
            <a:off x="960120" y="2606040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34" name="Pill 1"/>
          <p:cNvSpPr/>
          <p:nvPr/>
        </p:nvSpPr>
        <p:spPr>
          <a:xfrm>
            <a:off x="3154680" y="2820924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6" name="Badge 1"/>
          <p:cNvSpPr/>
          <p:nvPr/>
        </p:nvSpPr>
        <p:spPr>
          <a:xfrm>
            <a:off x="3154680" y="2820924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38" name="Desc 1"/>
          <p:cNvSpPr/>
          <p:nvPr/>
        </p:nvSpPr>
        <p:spPr>
          <a:xfrm>
            <a:off x="5074920" y="2606040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folders — Claude reads the name + description, and loads one when the task matches.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310128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2" name="Tab 2"/>
          <p:cNvSpPr/>
          <p:nvPr/>
        </p:nvSpPr>
        <p:spPr>
          <a:xfrm>
            <a:off x="749808" y="3483864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4" name="Name 2"/>
          <p:cNvSpPr/>
          <p:nvPr/>
        </p:nvSpPr>
        <p:spPr>
          <a:xfrm>
            <a:off x="960120" y="3310128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</a:t>
            </a:r>
          </a:p>
        </p:txBody>
      </p:sp>
      <p:sp>
        <p:nvSpPr>
          <p:cNvPr id="46" name="Pill 2"/>
          <p:cNvSpPr/>
          <p:nvPr/>
        </p:nvSpPr>
        <p:spPr>
          <a:xfrm>
            <a:off x="3154680" y="3525012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Badge 2"/>
          <p:cNvSpPr/>
          <p:nvPr/>
        </p:nvSpPr>
        <p:spPr>
          <a:xfrm>
            <a:off x="3154680" y="3525012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50" name="Desc 2"/>
          <p:cNvSpPr/>
          <p:nvPr/>
        </p:nvSpPr>
        <p:spPr>
          <a:xfrm>
            <a:off x="5074920" y="3310128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MCP tools — invoked by Claude during the agentic loop whenever the job needs them.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014216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54" name="Tab 3"/>
          <p:cNvSpPr/>
          <p:nvPr/>
        </p:nvSpPr>
        <p:spPr>
          <a:xfrm>
            <a:off x="749808" y="4187952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56" name="Name 3"/>
          <p:cNvSpPr/>
          <p:nvPr/>
        </p:nvSpPr>
        <p:spPr>
          <a:xfrm>
            <a:off x="960120" y="401421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</a:p>
        </p:txBody>
      </p:sp>
      <p:sp>
        <p:nvSpPr>
          <p:cNvPr id="58" name="Pill 3"/>
          <p:cNvSpPr/>
          <p:nvPr/>
        </p:nvSpPr>
        <p:spPr>
          <a:xfrm>
            <a:off x="3154680" y="4229100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0" name="Badge 3"/>
          <p:cNvSpPr/>
          <p:nvPr/>
        </p:nvSpPr>
        <p:spPr>
          <a:xfrm>
            <a:off x="3154680" y="4229100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</a:p>
        </p:txBody>
      </p:sp>
      <p:sp>
        <p:nvSpPr>
          <p:cNvPr id="62" name="Desc 3"/>
          <p:cNvSpPr/>
          <p:nvPr/>
        </p:nvSpPr>
        <p:spPr>
          <a:xfrm>
            <a:off x="5074920" y="4014216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prompts in .claude/commands/ — they run only when you type /&lt;name&gt; yourself.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4718304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6" name="Tab 4"/>
          <p:cNvSpPr/>
          <p:nvPr/>
        </p:nvSpPr>
        <p:spPr>
          <a:xfrm>
            <a:off x="749808" y="48920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8" name="Name 4"/>
          <p:cNvSpPr/>
          <p:nvPr/>
        </p:nvSpPr>
        <p:spPr>
          <a:xfrm>
            <a:off x="960120" y="4718304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70" name="Pill 4"/>
          <p:cNvSpPr/>
          <p:nvPr/>
        </p:nvSpPr>
        <p:spPr>
          <a:xfrm>
            <a:off x="3154680" y="4933188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72" name="Badge 4"/>
          <p:cNvSpPr/>
          <p:nvPr/>
        </p:nvSpPr>
        <p:spPr>
          <a:xfrm>
            <a:off x="3154680" y="4933188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EVENT</a:t>
            </a:r>
          </a:p>
        </p:txBody>
      </p:sp>
      <p:sp>
        <p:nvSpPr>
          <p:cNvPr id="74" name="Desc 4"/>
          <p:cNvSpPr/>
          <p:nvPr/>
        </p:nvSpPr>
        <p:spPr>
          <a:xfrm>
            <a:off x="5074920" y="4718304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in settings.json — fired deterministically by a lifecycle event, not by the model.</a:t>
            </a:r>
          </a:p>
        </p:txBody>
      </p:sp>
      <p:sp>
        <p:nvSpPr>
          <p:cNvPr id="76" name="Card 5"/>
          <p:cNvSpPr/>
          <p:nvPr/>
        </p:nvSpPr>
        <p:spPr>
          <a:xfrm>
            <a:off x="548640" y="542239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78" name="Tab 5"/>
          <p:cNvSpPr/>
          <p:nvPr/>
        </p:nvSpPr>
        <p:spPr>
          <a:xfrm>
            <a:off x="749808" y="559612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80" name="Name 5"/>
          <p:cNvSpPr/>
          <p:nvPr/>
        </p:nvSpPr>
        <p:spPr>
          <a:xfrm>
            <a:off x="960120" y="542239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</a:p>
        </p:txBody>
      </p:sp>
      <p:sp>
        <p:nvSpPr>
          <p:cNvPr id="82" name="Pill 5"/>
          <p:cNvSpPr/>
          <p:nvPr/>
        </p:nvSpPr>
        <p:spPr>
          <a:xfrm>
            <a:off x="3154680" y="563727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84" name="Badge 5"/>
          <p:cNvSpPr/>
          <p:nvPr/>
        </p:nvSpPr>
        <p:spPr>
          <a:xfrm>
            <a:off x="3154680" y="563727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DELEGATION</a:t>
            </a:r>
          </a:p>
        </p:txBody>
      </p:sp>
      <p:sp>
        <p:nvSpPr>
          <p:cNvPr id="86" name="Desc 5"/>
          <p:cNvSpPr/>
          <p:nvPr/>
        </p:nvSpPr>
        <p:spPr>
          <a:xfrm>
            <a:off x="5074920" y="542239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assistants with their own context — spawned when the main agent delegates a job.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context is expensive — keep CLAUDE.md tight and push specialised, occasional procedures into skills, commands and sub agents.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Principles of AI Security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 on your behalf. These five controls keep what they can see and do safe, reviewable and accountable.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659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 0"/>
          <p:cNvSpPr/>
          <p:nvPr/>
        </p:nvSpPr>
        <p:spPr>
          <a:xfrm>
            <a:off x="749808" y="217170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Name 0"/>
          <p:cNvSpPr/>
          <p:nvPr/>
        </p:nvSpPr>
        <p:spPr>
          <a:xfrm>
            <a:off x="960120" y="19659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</a:p>
        </p:txBody>
      </p:sp>
      <p:sp>
        <p:nvSpPr>
          <p:cNvPr id="22" name="Pill 0"/>
          <p:cNvSpPr/>
          <p:nvPr/>
        </p:nvSpPr>
        <p:spPr>
          <a:xfrm>
            <a:off x="3063240" y="221284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Badge 0"/>
          <p:cNvSpPr/>
          <p:nvPr/>
        </p:nvSpPr>
        <p:spPr>
          <a:xfrm>
            <a:off x="3063240" y="221284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SEE</a:t>
            </a:r>
          </a:p>
        </p:txBody>
      </p:sp>
      <p:sp>
        <p:nvSpPr>
          <p:cNvPr id="26" name="Desc 0"/>
          <p:cNvSpPr/>
          <p:nvPr/>
        </p:nvSpPr>
        <p:spPr>
          <a:xfrm>
            <a:off x="5394960" y="196596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your data (public, internal, confidential) and decide exactly which data the AI may access.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7889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0" name="Tab 1"/>
          <p:cNvSpPr/>
          <p:nvPr/>
        </p:nvSpPr>
        <p:spPr>
          <a:xfrm>
            <a:off x="749808" y="299466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2" name="Name 1"/>
          <p:cNvSpPr/>
          <p:nvPr/>
        </p:nvSpPr>
        <p:spPr>
          <a:xfrm>
            <a:off x="960120" y="27889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Control</a:t>
            </a:r>
          </a:p>
        </p:txBody>
      </p:sp>
      <p:sp>
        <p:nvSpPr>
          <p:cNvPr id="34" name="Pill 1"/>
          <p:cNvSpPr/>
          <p:nvPr/>
        </p:nvSpPr>
        <p:spPr>
          <a:xfrm>
            <a:off x="3063240" y="303580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6" name="Badge 1"/>
          <p:cNvSpPr/>
          <p:nvPr/>
        </p:nvSpPr>
        <p:spPr>
          <a:xfrm>
            <a:off x="3063240" y="303580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DO</a:t>
            </a:r>
          </a:p>
        </p:txBody>
      </p:sp>
      <p:sp>
        <p:nvSpPr>
          <p:cNvPr id="38" name="Desc 1"/>
          <p:cNvSpPr/>
          <p:nvPr/>
        </p:nvSpPr>
        <p:spPr>
          <a:xfrm>
            <a:off x="5394960" y="27889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the rights needed — read, write, edit, delete. Ask before anything destructive.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6118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2" name="Tab 2"/>
          <p:cNvSpPr/>
          <p:nvPr/>
        </p:nvSpPr>
        <p:spPr>
          <a:xfrm>
            <a:off x="749808" y="381762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4" name="Name 2"/>
          <p:cNvSpPr/>
          <p:nvPr/>
        </p:nvSpPr>
        <p:spPr>
          <a:xfrm>
            <a:off x="960120" y="36118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</a:p>
        </p:txBody>
      </p:sp>
      <p:sp>
        <p:nvSpPr>
          <p:cNvPr id="46" name="Pill 2"/>
          <p:cNvSpPr/>
          <p:nvPr/>
        </p:nvSpPr>
        <p:spPr>
          <a:xfrm>
            <a:off x="3063240" y="385876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Badge 2"/>
          <p:cNvSpPr/>
          <p:nvPr/>
        </p:nvSpPr>
        <p:spPr>
          <a:xfrm>
            <a:off x="3063240" y="385876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APPROVES</a:t>
            </a:r>
          </a:p>
        </p:txBody>
      </p:sp>
      <p:sp>
        <p:nvSpPr>
          <p:cNvPr id="50" name="Desc 2"/>
          <p:cNvSpPr/>
          <p:nvPr/>
        </p:nvSpPr>
        <p:spPr>
          <a:xfrm>
            <a:off x="5394960" y="36118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and approves high-impact actions — deploys, deletions, payments, emails.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43484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54" name="Tab 3"/>
          <p:cNvSpPr/>
          <p:nvPr/>
        </p:nvSpPr>
        <p:spPr>
          <a:xfrm>
            <a:off x="749808" y="464058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56" name="Name 3"/>
          <p:cNvSpPr/>
          <p:nvPr/>
        </p:nvSpPr>
        <p:spPr>
          <a:xfrm>
            <a:off x="960120" y="44348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</a:p>
        </p:txBody>
      </p:sp>
      <p:sp>
        <p:nvSpPr>
          <p:cNvPr id="58" name="Pill 3"/>
          <p:cNvSpPr/>
          <p:nvPr/>
        </p:nvSpPr>
        <p:spPr>
          <a:xfrm>
            <a:off x="3063240" y="468172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0" name="Badge 3"/>
          <p:cNvSpPr/>
          <p:nvPr/>
        </p:nvSpPr>
        <p:spPr>
          <a:xfrm>
            <a:off x="3063240" y="468172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</a:p>
        </p:txBody>
      </p:sp>
      <p:sp>
        <p:nvSpPr>
          <p:cNvPr id="62" name="Desc 3"/>
          <p:cNvSpPr/>
          <p:nvPr/>
        </p:nvSpPr>
        <p:spPr>
          <a:xfrm>
            <a:off x="5394960" y="44348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prompt, tool call and change so actions can be audited, explained and rolled back.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6" name="Tab 4"/>
          <p:cNvSpPr/>
          <p:nvPr/>
        </p:nvSpPr>
        <p:spPr>
          <a:xfrm>
            <a:off x="749808" y="54635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8" name="Name 4"/>
          <p:cNvSpPr/>
          <p:nvPr/>
        </p:nvSpPr>
        <p:spPr>
          <a:xfrm>
            <a:off x="960120" y="52578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Models</a:t>
            </a:r>
          </a:p>
        </p:txBody>
      </p:sp>
      <p:sp>
        <p:nvSpPr>
          <p:cNvPr id="70" name="Pill 4"/>
          <p:cNvSpPr/>
          <p:nvPr/>
        </p:nvSpPr>
        <p:spPr>
          <a:xfrm>
            <a:off x="3063240" y="550468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72" name="Badge 4"/>
          <p:cNvSpPr/>
          <p:nvPr/>
        </p:nvSpPr>
        <p:spPr>
          <a:xfrm>
            <a:off x="3063240" y="550468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MOST POWERFUL</a:t>
            </a:r>
          </a:p>
        </p:txBody>
      </p:sp>
      <p:sp>
        <p:nvSpPr>
          <p:cNvPr id="74" name="Desc 4"/>
          <p:cNvSpPr/>
          <p:nvPr/>
        </p:nvSpPr>
        <p:spPr>
          <a:xfrm>
            <a:off x="5394960" y="52578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the most powerful models by default — the smallest model that does the job has less autonomy and risk.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Claude Code: permission modes &amp; allow/deny rules, hooks for guardrails &amp; logs, plan mode for human review.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Build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Dr. Alfred Ang</cp:lastModifiedBy>
  <cp:revision>1</cp:revision>
  <dcterms:created xsi:type="dcterms:W3CDTF">2026-06-27T18:49:35Z</dcterms:created>
  <dcterms:modified xsi:type="dcterms:W3CDTF">2026-06-27T18:49:35Z</dcterms:modified>
</cp:coreProperties>
</file>