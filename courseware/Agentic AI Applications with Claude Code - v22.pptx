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1"/>
  </p:notesMasterIdLst>
  <p:sldIdLst>
    <p:sldId id="256" r:id="rId2"/>
    <p:sldId id="257" r:id="rId5"/>
    <p:sldId id="258" r:id="rId6"/>
    <p:sldId id="259" r:id="rId7"/>
    <p:sldId id="260" r:id="rId8"/>
    <p:sldId id="261" r:id="rId9"/>
    <p:sldId id="262" r:id="rId10"/>
    <p:sldId id="325" r:id="rId11"/>
    <p:sldId id="263" r:id="rId12"/>
    <p:sldId id="264" r:id="rId13"/>
    <p:sldId id="265" r:id="rId14"/>
    <p:sldId id="328" r:id="rId15"/>
    <p:sldId id="266" r:id="rId16"/>
    <p:sldId id="267" r:id="rId17"/>
    <p:sldId id="268" r:id="rId18"/>
    <p:sldId id="326" r:id="rId19"/>
    <p:sldId id="269" r:id="rId20"/>
    <p:sldId id="270" r:id="rId21"/>
    <p:sldId id="275" r:id="rId22"/>
    <p:sldId id="276" r:id="rId23"/>
    <p:sldId id="277" r:id="rId24"/>
    <p:sldId id="278" r:id="rId25"/>
    <p:sldId id="271" r:id="rId26"/>
    <p:sldId id="272" r:id="rId27"/>
    <p:sldId id="273" r:id="rId28"/>
    <p:sldId id="320" r:id="rId29"/>
    <p:sldId id="274" r:id="rId30"/>
    <p:sldId id="279" r:id="rId31"/>
    <p:sldId id="341" r:id="rId32"/>
    <p:sldId id="342" r:id="rId33"/>
    <p:sldId id="340" r:id="rId34"/>
    <p:sldId id="280" r:id="rId35"/>
    <p:sldId id="281" r:id="rId36"/>
    <p:sldId id="282" r:id="rId37"/>
    <p:sldId id="283" r:id="rId38"/>
    <p:sldId id="34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344" r:id="rId50"/>
    <p:sldId id="345" r:id="rId51"/>
    <p:sldId id="346" r:id="rId52"/>
    <p:sldId id="294" r:id="rId53"/>
    <p:sldId id="295" r:id="rId54"/>
    <p:sldId id="323" r:id="rId55"/>
    <p:sldId id="296" r:id="rId56"/>
    <p:sldId id="297" r:id="rId57"/>
    <p:sldId id="298" r:id="rId58"/>
    <p:sldId id="299" r:id="rId59"/>
    <p:sldId id="300" r:id="rId60"/>
    <p:sldId id="301" r:id="rId61"/>
    <p:sldId id="302" r:id="rId62"/>
    <p:sldId id="303" r:id="rId63"/>
    <p:sldId id="304" r:id="rId64"/>
    <p:sldId id="321" r:id="rId65"/>
    <p:sldId id="305" r:id="rId66"/>
    <p:sldId id="306" r:id="rId67"/>
    <p:sldId id="307" r:id="rId68"/>
    <p:sldId id="308" r:id="rId69"/>
    <p:sldId id="309" r:id="rId70"/>
    <p:sldId id="310" r:id="rId71"/>
    <p:sldId id="311" r:id="rId72"/>
    <p:sldId id="349" r:id="rId86"/>
    <p:sldId id="350" r:id="rId87"/>
    <p:sldId id="312" r:id="rId73"/>
    <p:sldId id="315" r:id="rId74"/>
    <p:sldId id="324" r:id="rId75"/>
    <p:sldId id="327" r:id="rId76"/>
    <p:sldId id="316" r:id="rId77"/>
    <p:sldId id="317" r:id="rId78"/>
    <p:sldId id="318" r:id="rId79"/>
    <p:sldId id="319" r:id="rId8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97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48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notesMaster" Target="notesMasters/notesMaster1.xml"/><Relationship Id="rId82" Type="http://schemas.openxmlformats.org/officeDocument/2006/relationships/presProps" Target="presProps.xml"/><Relationship Id="rId83" Type="http://schemas.openxmlformats.org/officeDocument/2006/relationships/viewProps" Target="viewProps.xml"/><Relationship Id="rId84" Type="http://schemas.openxmlformats.org/officeDocument/2006/relationships/theme" Target="theme/theme1.xml"/><Relationship Id="rId85" Type="http://schemas.openxmlformats.org/officeDocument/2006/relationships/tableStyles" Target="tableStyles.xml"/><Relationship Id="rId86" Type="http://schemas.openxmlformats.org/officeDocument/2006/relationships/slide" Target="slides/slide80.xml"/><Relationship Id="rId87" Type="http://schemas.openxmlformats.org/officeDocument/2006/relationships/slide" Target="slides/slide8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hyperlink" Target="https://www.linkedin.com/in/angchewhoe/" TargetMode="External"/><Relationship Id="rId10" Type="http://schemas.openxmlformats.org/officeDocument/2006/relationships/image" Target="../media/image11.png"/><Relationship Id="rId11" Type="http://schemas.openxmlformats.org/officeDocument/2006/relationships/hyperlink" Target="https://github.com/alfredang" TargetMode="External"/><Relationship Id="rId12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0.png"/><Relationship Id="rId8" Type="http://schemas.openxmlformats.org/officeDocument/2006/relationships/image" Target="../media/image2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Relationship Id="rId4" Type="http://schemas.openxmlformats.org/officeDocument/2006/relationships/image" Target="../media/image28.png"/><Relationship Id="rId5" Type="http://schemas.openxmlformats.org/officeDocument/2006/relationships/image" Target="../media/image32.png"/><Relationship Id="rId6" Type="http://schemas.openxmlformats.org/officeDocument/2006/relationships/hyperlink" Target="https://lms-tms.tertiaryinfotech.com/" TargetMode="External"/><Relationship Id="rId7" Type="http://schemas.openxmlformats.org/officeDocument/2006/relationships/image" Target="../media/image3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2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33.png"/><Relationship Id="rId6" Type="http://schemas.openxmlformats.org/officeDocument/2006/relationships/image" Target="../media/image4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5.png"/><Relationship Id="rId4" Type="http://schemas.openxmlformats.org/officeDocument/2006/relationships/image" Target="../media/image39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9.png"/><Relationship Id="rId4" Type="http://schemas.openxmlformats.org/officeDocument/2006/relationships/image" Target="../media/image48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2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4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4.png"/><Relationship Id="rId4" Type="http://schemas.openxmlformats.org/officeDocument/2006/relationships/image" Target="../media/image15.png"/><Relationship Id="rId5" Type="http://schemas.openxmlformats.org/officeDocument/2006/relationships/image" Target="../media/image5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Relationship Id="rId4" Type="http://schemas.openxmlformats.org/officeDocument/2006/relationships/image" Target="../media/image40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Relationship Id="rId4" Type="http://schemas.openxmlformats.org/officeDocument/2006/relationships/image" Target="../media/image59.png"/><Relationship Id="rId5" Type="http://schemas.openxmlformats.org/officeDocument/2006/relationships/image" Target="../media/image40.png"/><Relationship Id="rId6" Type="http://schemas.openxmlformats.org/officeDocument/2006/relationships/image" Target="../media/image45.png"/><Relationship Id="rId7" Type="http://schemas.openxmlformats.org/officeDocument/2006/relationships/image" Target="../media/image11.png"/><Relationship Id="rId8" Type="http://schemas.openxmlformats.org/officeDocument/2006/relationships/image" Target="../media/image60.png"/><Relationship Id="rId9" Type="http://schemas.openxmlformats.org/officeDocument/2006/relationships/image" Target="../media/image6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59.png"/><Relationship Id="rId6" Type="http://schemas.openxmlformats.org/officeDocument/2006/relationships/image" Target="../media/image6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5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4.png"/><Relationship Id="rId4" Type="http://schemas.openxmlformats.org/officeDocument/2006/relationships/image" Target="../media/image77.png"/><Relationship Id="rId5" Type="http://schemas.openxmlformats.org/officeDocument/2006/relationships/image" Target="../media/image75.png"/><Relationship Id="rId6" Type="http://schemas.openxmlformats.org/officeDocument/2006/relationships/image" Target="../media/image78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5.png"/><Relationship Id="rId4" Type="http://schemas.openxmlformats.org/officeDocument/2006/relationships/image" Target="../media/image7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6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22.png"/><Relationship Id="rId6" Type="http://schemas.openxmlformats.org/officeDocument/2006/relationships/image" Target="../media/image8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6.png"/><Relationship Id="rId4" Type="http://schemas.openxmlformats.org/officeDocument/2006/relationships/image" Target="../media/image86.png"/><Relationship Id="rId5" Type="http://schemas.openxmlformats.org/officeDocument/2006/relationships/image" Target="../media/image87.png"/><Relationship Id="rId6" Type="http://schemas.openxmlformats.org/officeDocument/2006/relationships/image" Target="../media/image88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9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0.png"/><Relationship Id="rId3" Type="http://schemas.openxmlformats.org/officeDocument/2006/relationships/image" Target="../media/image9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94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95.png"/><Relationship Id="rId4" Type="http://schemas.openxmlformats.org/officeDocument/2006/relationships/image" Target="../media/image96.png"/><Relationship Id="rId5" Type="http://schemas.openxmlformats.org/officeDocument/2006/relationships/image" Target="../media/image97.png"/><Relationship Id="rId6" Type="http://schemas.openxmlformats.org/officeDocument/2006/relationships/image" Target="../media/image98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99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00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5.png"/><Relationship Id="rId4" Type="http://schemas.openxmlformats.org/officeDocument/2006/relationships/image" Target="../media/image101.png"/><Relationship Id="rId5" Type="http://schemas.openxmlformats.org/officeDocument/2006/relationships/image" Target="../media/image31.png"/><Relationship Id="rId6" Type="http://schemas.openxmlformats.org/officeDocument/2006/relationships/image" Target="../media/image69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02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4.png"/><Relationship Id="rId4" Type="http://schemas.openxmlformats.org/officeDocument/2006/relationships/image" Target="../media/image103.png"/><Relationship Id="rId5" Type="http://schemas.openxmlformats.org/officeDocument/2006/relationships/image" Target="../media/image27.png"/><Relationship Id="rId6" Type="http://schemas.openxmlformats.org/officeDocument/2006/relationships/image" Target="../media/image40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04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2.png"/><Relationship Id="rId4" Type="http://schemas.openxmlformats.org/officeDocument/2006/relationships/image" Target="../media/image105.png"/><Relationship Id="rId5" Type="http://schemas.openxmlformats.org/officeDocument/2006/relationships/image" Target="../media/image106.png"/><Relationship Id="rId6" Type="http://schemas.openxmlformats.org/officeDocument/2006/relationships/image" Target="../media/image87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07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08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1.png"/><Relationship Id="rId4" Type="http://schemas.openxmlformats.org/officeDocument/2006/relationships/image" Target="../media/image50.png"/><Relationship Id="rId5" Type="http://schemas.openxmlformats.org/officeDocument/2006/relationships/image" Target="../media/image88.png"/><Relationship Id="rId6" Type="http://schemas.openxmlformats.org/officeDocument/2006/relationships/image" Target="../media/image109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10.png"/><Relationship Id="rId4" Type="http://schemas.openxmlformats.org/officeDocument/2006/relationships/image" Target="../media/image111.png"/><Relationship Id="rId5" Type="http://schemas.openxmlformats.org/officeDocument/2006/relationships/image" Target="../media/image3.png"/><Relationship Id="rId6" Type="http://schemas.openxmlformats.org/officeDocument/2006/relationships/image" Target="../media/image28.png"/><Relationship Id="rId7" Type="http://schemas.openxmlformats.org/officeDocument/2006/relationships/image" Target="../media/image112.png"/><Relationship Id="rId8" Type="http://schemas.openxmlformats.org/officeDocument/2006/relationships/image" Target="../media/image113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14.png"/><Relationship Id="rId4" Type="http://schemas.openxmlformats.org/officeDocument/2006/relationships/image" Target="../media/image2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>
              <a:alpha val="1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WSQ COURSE  •  TGS-2025052468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241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Applications</a:t>
            </a:r>
            <a:endParaRPr lang="en-US" sz="5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Claude Code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Infotech Academy Pte Ltd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UEN: 201200696W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www.tertiarycourses.com.sg   |   enquiry@tertiaryinfotech.com   |   +65 6100 0613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875" y="1371600"/>
            <a:ext cx="28641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22.0  ·  29 Oct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62495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Attendance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6596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74520"/>
            <a:ext cx="6583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mandatory for SSG funding.</a:t>
            </a:r>
            <a:endParaRPr lang="en-US" sz="17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AM, PM and Assessment digital attendance for every session.</a:t>
            </a:r>
            <a:endParaRPr lang="en-US" sz="17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SSG / TMS QR code provided by your trainer.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0" y="182880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8229600" y="237744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required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Trainer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1201C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874520" y="2103120"/>
            <a:ext cx="640080" cy="64008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96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Trainer Name ]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Title / Role ]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18288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684" y="19522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178308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Qualifications:  ____________________________________________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206240" y="2670048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684" y="279349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92040" y="2624328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Expertise:  _________________________________________________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206240" y="3511296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9684" y="363474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92040" y="3465576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Experience:  ________________________________________________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206240" y="4352544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9684" y="4475988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2040" y="4306824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/ Profile:  __________________________________________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Trainer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1201C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874520" y="2103120"/>
            <a:ext cx="640080" cy="64008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96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Alfred Ang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Trainer &amp; Engineer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18288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684" y="19522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178308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PhD-qualified trainer specialising in AI, software engineering and developer tooling.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206240" y="2633472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684" y="275691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92040" y="2587752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building agentic AI applications with Claude Code.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206240" y="3438144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9684" y="3561588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92040" y="3392424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professionals across Singapore on practical, project-based AI skills.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4206240" y="4242816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9684" y="4366260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2040" y="4197096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Certifications: Claude Certified Associate (Foundations),</a:t>
            </a:r>
            <a:b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PMP, AWS, Microsoft, CompTIA, CKA, CKAD.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4206240" y="5093208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0540" y="5207508"/>
            <a:ext cx="274320" cy="274320"/>
          </a:xfrm>
          <a:prstGeom prst="rect">
            <a:avLst/>
          </a:prstGeom>
        </p:spPr>
      </p:pic>
      <p:sp>
        <p:nvSpPr>
          <p:cNvPr id="23" name="Text 15">
            <a:hlinkClick r:id="rId9"/>
          </p:cNvPr>
          <p:cNvSpPr/>
          <p:nvPr/>
        </p:nvSpPr>
        <p:spPr>
          <a:xfrm>
            <a:off x="4892040" y="5047488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u="sng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linkedin.com/in/angchewhoe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8229600" y="5093208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43900" y="5207508"/>
            <a:ext cx="274320" cy="274320"/>
          </a:xfrm>
          <a:prstGeom prst="rect">
            <a:avLst/>
          </a:prstGeom>
        </p:spPr>
      </p:pic>
      <p:sp>
        <p:nvSpPr>
          <p:cNvPr id="26" name="Text 17">
            <a:hlinkClick r:id="rId11"/>
          </p:cNvPr>
          <p:cNvSpPr/>
          <p:nvPr/>
        </p:nvSpPr>
        <p:spPr>
          <a:xfrm>
            <a:off x="8915400" y="504748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u="sng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github.com/alfredang</a:t>
            </a:r>
            <a:endParaRPr lang="en-US" sz="1500" dirty="0"/>
          </a:p>
        </p:txBody>
      </p:sp>
      <p:sp>
        <p:nvSpPr>
          <p:cNvPr id="27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30" name="Badge Claude Certified Associate" descr="Claude Certified Associate - Foundations badg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00784" y="3822191"/>
            <a:ext cx="987552" cy="9875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D97757">
              <a:alpha val="17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Know Each Other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minute to introduce yourself to the class: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851660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820" y="40233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&amp; role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593592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622292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9452" y="40233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30752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 day to day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64224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7392924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0084" y="40233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01384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coding experience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9134856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4"/>
          <p:cNvSpPr/>
          <p:nvPr/>
        </p:nvSpPr>
        <p:spPr>
          <a:xfrm>
            <a:off x="10163556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0716" y="40233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72016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want from this course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Rules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21808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Phones on silent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out quietly for calls or breaks.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4553712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7156" y="21808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Participate actively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53712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question is stupid — ask freely.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8330184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3628" y="21808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respect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30184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to disagree; one conversation at a time.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684" y="378104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punctual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7240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from breaks on time.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5112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19"/>
          <p:cNvSpPr/>
          <p:nvPr/>
        </p:nvSpPr>
        <p:spPr>
          <a:xfrm>
            <a:off x="4553712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7156" y="378104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3792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 attendance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53712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funding eligibility.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01584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3"/>
          <p:cNvSpPr/>
          <p:nvPr/>
        </p:nvSpPr>
        <p:spPr>
          <a:xfrm>
            <a:off x="8330184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3628" y="378104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0264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hands-on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30184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 with every activity.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Outline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93592" cy="420624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Fundamentals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29992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the Agentic Loop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Memory &amp; Sessions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&amp; Scheduled Tasks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Build &amp; deploy a website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5112" y="1737360"/>
            <a:ext cx="3593592" cy="420624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599432" y="2011680"/>
            <a:ext cx="731520" cy="73152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599432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99432" y="288036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Commands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45152" y="3657600"/>
            <a:ext cx="29992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MCP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Activities: /gitpush + MCP screenshot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01584" y="1737360"/>
            <a:ext cx="3593592" cy="420624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8375904" y="2011680"/>
            <a:ext cx="731520" cy="73152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375904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75904" y="288036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Skills, Agents &amp; Hooks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21624" y="3657600"/>
            <a:ext cx="29992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Summary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 ·  HANDS-ON</a:t>
            </a:r>
          </a:p>
        </p:txBody>
      </p:sp>
      <p:sp>
        <p:nvSpPr>
          <p:cNvPr id="12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Materials</a:t>
            </a:r>
          </a:p>
        </p:txBody>
      </p:sp>
      <p:sp>
        <p:nvSpPr>
          <p:cNvPr id="14" name="Text 2"/>
          <p:cNvSpPr/>
          <p:nvPr/>
        </p:nvSpPr>
        <p:spPr>
          <a:xfrm>
            <a:off x="548640" y="1389888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labs, each in its own folder. They build on one another — Lab 1 creates the website that every later lab extends.</a:t>
            </a:r>
          </a:p>
        </p:txBody>
      </p:sp>
      <p:sp>
        <p:nvSpPr>
          <p:cNvPr id="16" name="Card0"/>
          <p:cNvSpPr/>
          <p:nvPr/>
        </p:nvSpPr>
        <p:spPr>
          <a:xfrm>
            <a:off x="548640" y="1965960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>
            <a:endParaRPr/>
          </a:p>
        </p:txBody>
      </p:sp>
      <p:sp>
        <p:nvSpPr>
          <p:cNvPr id="18" name="Tab0"/>
          <p:cNvSpPr/>
          <p:nvPr/>
        </p:nvSpPr>
        <p:spPr>
          <a:xfrm>
            <a:off x="749808" y="2167128"/>
            <a:ext cx="68580" cy="53035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20" name="Lab0"/>
          <p:cNvSpPr/>
          <p:nvPr/>
        </p:nvSpPr>
        <p:spPr>
          <a:xfrm>
            <a:off x="960120" y="20756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</a:p>
        </p:txBody>
      </p:sp>
      <p:sp>
        <p:nvSpPr>
          <p:cNvPr id="22" name="Pill0"/>
          <p:cNvSpPr/>
          <p:nvPr/>
        </p:nvSpPr>
        <p:spPr>
          <a:xfrm>
            <a:off x="960120" y="2478024"/>
            <a:ext cx="1051560" cy="265176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24" name="Topic0"/>
          <p:cNvSpPr/>
          <p:nvPr/>
        </p:nvSpPr>
        <p:spPr>
          <a:xfrm>
            <a:off x="960120" y="2478024"/>
            <a:ext cx="1051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</a:p>
        </p:txBody>
      </p:sp>
      <p:sp>
        <p:nvSpPr>
          <p:cNvPr id="26" name="Desc0"/>
          <p:cNvSpPr/>
          <p:nvPr/>
        </p:nvSpPr>
        <p:spPr>
          <a:xfrm>
            <a:off x="2331720" y="2057400"/>
            <a:ext cx="6766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7-step build workflow — goal, plan, execute, /init, GitHub, Pages, CI/CD.</a:t>
            </a:r>
          </a:p>
        </p:txBody>
      </p:sp>
      <p:sp>
        <p:nvSpPr>
          <p:cNvPr id="28" name="Fold0"/>
          <p:cNvSpPr/>
          <p:nvPr/>
        </p:nvSpPr>
        <p:spPr>
          <a:xfrm>
            <a:off x="2331720" y="2459736"/>
            <a:ext cx="6766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0" kern="0" dirty="0">
                <a:solidFill>
                  <a:srgbClr val="6B68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labs/lab1-seven-steps/</a:t>
            </a:r>
          </a:p>
        </p:txBody>
      </p:sp>
      <p:sp>
        <p:nvSpPr>
          <p:cNvPr id="30" name="Card1"/>
          <p:cNvSpPr/>
          <p:nvPr/>
        </p:nvSpPr>
        <p:spPr>
          <a:xfrm>
            <a:off x="548640" y="2980944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>
            <a:endParaRPr/>
          </a:p>
        </p:txBody>
      </p:sp>
      <p:sp>
        <p:nvSpPr>
          <p:cNvPr id="32" name="Tab1"/>
          <p:cNvSpPr/>
          <p:nvPr/>
        </p:nvSpPr>
        <p:spPr>
          <a:xfrm>
            <a:off x="749808" y="3182112"/>
            <a:ext cx="68580" cy="53035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34" name="Lab1"/>
          <p:cNvSpPr/>
          <p:nvPr/>
        </p:nvSpPr>
        <p:spPr>
          <a:xfrm>
            <a:off x="960120" y="309067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1b</a:t>
            </a:r>
          </a:p>
        </p:txBody>
      </p:sp>
      <p:sp>
        <p:nvSpPr>
          <p:cNvPr id="36" name="Pill1"/>
          <p:cNvSpPr/>
          <p:nvPr/>
        </p:nvSpPr>
        <p:spPr>
          <a:xfrm>
            <a:off x="960120" y="3493008"/>
            <a:ext cx="1051560" cy="265176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38" name="Topic1"/>
          <p:cNvSpPr/>
          <p:nvPr/>
        </p:nvSpPr>
        <p:spPr>
          <a:xfrm>
            <a:off x="960120" y="3493008"/>
            <a:ext cx="1051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</a:p>
        </p:txBody>
      </p:sp>
      <p:sp>
        <p:nvSpPr>
          <p:cNvPr id="40" name="Desc1"/>
          <p:cNvSpPr/>
          <p:nvPr/>
        </p:nvSpPr>
        <p:spPr>
          <a:xfrm>
            <a:off x="2331720" y="3072384"/>
            <a:ext cx="6766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/publish custom command + Playwright MCP screenshots into the README.</a:t>
            </a:r>
          </a:p>
        </p:txBody>
      </p:sp>
      <p:sp>
        <p:nvSpPr>
          <p:cNvPr id="42" name="Fold1"/>
          <p:cNvSpPr/>
          <p:nvPr/>
        </p:nvSpPr>
        <p:spPr>
          <a:xfrm>
            <a:off x="2331720" y="3474720"/>
            <a:ext cx="6766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0" kern="0" dirty="0">
                <a:solidFill>
                  <a:srgbClr val="6B68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labs/lab1b-commands-mcp/</a:t>
            </a:r>
          </a:p>
        </p:txBody>
      </p:sp>
      <p:sp>
        <p:nvSpPr>
          <p:cNvPr id="44" name="Card2"/>
          <p:cNvSpPr/>
          <p:nvPr/>
        </p:nvSpPr>
        <p:spPr>
          <a:xfrm>
            <a:off x="548640" y="3995928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>
            <a:endParaRPr/>
          </a:p>
        </p:txBody>
      </p:sp>
      <p:sp>
        <p:nvSpPr>
          <p:cNvPr id="46" name="Tab2"/>
          <p:cNvSpPr/>
          <p:nvPr/>
        </p:nvSpPr>
        <p:spPr>
          <a:xfrm>
            <a:off x="749808" y="4197096"/>
            <a:ext cx="68580" cy="53035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48" name="Lab2"/>
          <p:cNvSpPr/>
          <p:nvPr/>
        </p:nvSpPr>
        <p:spPr>
          <a:xfrm>
            <a:off x="960120" y="41056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</a:p>
        </p:txBody>
      </p:sp>
      <p:sp>
        <p:nvSpPr>
          <p:cNvPr id="50" name="Pill2"/>
          <p:cNvSpPr/>
          <p:nvPr/>
        </p:nvSpPr>
        <p:spPr>
          <a:xfrm>
            <a:off x="960120" y="4507992"/>
            <a:ext cx="1051560" cy="265176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52" name="Topic2"/>
          <p:cNvSpPr/>
          <p:nvPr/>
        </p:nvSpPr>
        <p:spPr>
          <a:xfrm>
            <a:off x="960120" y="4507992"/>
            <a:ext cx="1051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</a:p>
        </p:txBody>
      </p:sp>
      <p:sp>
        <p:nvSpPr>
          <p:cNvPr id="54" name="Desc2"/>
          <p:cNvSpPr/>
          <p:nvPr/>
        </p:nvSpPr>
        <p:spPr>
          <a:xfrm>
            <a:off x="2331720" y="4087368"/>
            <a:ext cx="6766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3 skills — cybersecurity, kanban, UI/UX — and revamp the site.</a:t>
            </a:r>
          </a:p>
        </p:txBody>
      </p:sp>
      <p:sp>
        <p:nvSpPr>
          <p:cNvPr id="56" name="Fold2"/>
          <p:cNvSpPr/>
          <p:nvPr/>
        </p:nvSpPr>
        <p:spPr>
          <a:xfrm>
            <a:off x="2331720" y="4489704"/>
            <a:ext cx="6766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0" kern="0" dirty="0">
                <a:solidFill>
                  <a:srgbClr val="6B68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labs/lab2-skills/</a:t>
            </a:r>
          </a:p>
        </p:txBody>
      </p:sp>
      <p:sp>
        <p:nvSpPr>
          <p:cNvPr id="58" name="Card3"/>
          <p:cNvSpPr/>
          <p:nvPr/>
        </p:nvSpPr>
        <p:spPr>
          <a:xfrm>
            <a:off x="548640" y="5010912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>
            <a:endParaRPr/>
          </a:p>
        </p:txBody>
      </p:sp>
      <p:sp>
        <p:nvSpPr>
          <p:cNvPr id="60" name="Tab3"/>
          <p:cNvSpPr/>
          <p:nvPr/>
        </p:nvSpPr>
        <p:spPr>
          <a:xfrm>
            <a:off x="749808" y="5212080"/>
            <a:ext cx="68580" cy="53035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62" name="Lab3"/>
          <p:cNvSpPr/>
          <p:nvPr/>
        </p:nvSpPr>
        <p:spPr>
          <a:xfrm>
            <a:off x="960120" y="51206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</a:p>
        </p:txBody>
      </p:sp>
      <p:sp>
        <p:nvSpPr>
          <p:cNvPr id="64" name="Pill3"/>
          <p:cNvSpPr/>
          <p:nvPr/>
        </p:nvSpPr>
        <p:spPr>
          <a:xfrm>
            <a:off x="960120" y="5522976"/>
            <a:ext cx="1051560" cy="265176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66" name="Topic3"/>
          <p:cNvSpPr/>
          <p:nvPr/>
        </p:nvSpPr>
        <p:spPr>
          <a:xfrm>
            <a:off x="960120" y="5522976"/>
            <a:ext cx="1051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</a:p>
        </p:txBody>
      </p:sp>
      <p:sp>
        <p:nvSpPr>
          <p:cNvPr id="68" name="Desc3"/>
          <p:cNvSpPr/>
          <p:nvPr/>
        </p:nvSpPr>
        <p:spPr>
          <a:xfrm>
            <a:off x="2331720" y="5102352"/>
            <a:ext cx="6766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Hooks, sub agents and /loop — the event, delegation and schedule triggers.</a:t>
            </a:r>
          </a:p>
        </p:txBody>
      </p:sp>
      <p:sp>
        <p:nvSpPr>
          <p:cNvPr id="70" name="Fold3"/>
          <p:cNvSpPr/>
          <p:nvPr/>
        </p:nvSpPr>
        <p:spPr>
          <a:xfrm>
            <a:off x="2331720" y="5504688"/>
            <a:ext cx="6766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0" kern="0" dirty="0">
                <a:solidFill>
                  <a:srgbClr val="6B68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labs/lab3-hooks/</a:t>
            </a:r>
          </a:p>
        </p:txBody>
      </p:sp>
      <p:sp>
        <p:nvSpPr>
          <p:cNvPr id="72" name="Tip"/>
          <p:cNvSpPr/>
          <p:nvPr/>
        </p:nvSpPr>
        <p:spPr>
          <a:xfrm>
            <a:off x="548640" y="6117336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0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gives you the exact prompt to paste, what you should see, and a checkpoint before moving on.</a:t>
            </a:r>
          </a:p>
        </p:txBody>
      </p:sp>
      <p:sp>
        <p:nvSpPr>
          <p:cNvPr id="74" name="FL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</a:p>
        </p:txBody>
      </p:sp>
      <p:sp>
        <p:nvSpPr>
          <p:cNvPr id="76" name="FC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</a:p>
        </p:txBody>
      </p:sp>
      <p:sp>
        <p:nvSpPr>
          <p:cNvPr id="78" name="FN"/>
          <p:cNvSpPr/>
          <p:nvPr/>
        </p:nvSpPr>
        <p:spPr>
          <a:xfrm>
            <a:off x="11373427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Plan (9:00 AM – 6:00 PM)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52628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Time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0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Session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0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9:00 – 9:30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Welcome, admin, attendance (AM), introductions, ground rules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9:30 – 10:30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1.1: agentic loop &amp; tools, setup, permission modes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10:30 – 10:40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Morning break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10:40 – 11:20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1.2: context, memory, sessions, scheduled tasks, /goal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11:20 – 12:30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1: Build &amp; deploy a website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12:30 – 1:15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Lunch break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1:15 – 1:45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2: Custom commands · Activity 2: /gitpush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1:45 – 2:45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2: MCP tools · Activity 3: Playwright screenshot + form 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2:45 – 2:55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Afternoon break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2:55 – 3:40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3: Agent skills · Activity 4: frontend-design &amp; SEO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3:40 – 4:25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3: Sub agents &amp; hooks · Activity 5: security + UX agents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4:25 – 4:50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Activities 6–7 · hooks, testing, optimisation &amp; deployment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4:50 – 5:00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Summary, Q&amp;A, attendance (PM)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5:00 – 6:00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Assessment: 30 min WA + 30 min PP (on the LMS)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Briefing for Assessment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21808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your space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phones and other materials under the table or on the floor.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4553712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7156" y="21808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recording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53712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photos or recording of assessment materials.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8330184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3628" y="21808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book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30184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slides, learner guide and approved materials are allowed.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684" y="378104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individually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assessment on your own; no discussion.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25112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19"/>
          <p:cNvSpPr/>
          <p:nvPr/>
        </p:nvSpPr>
        <p:spPr>
          <a:xfrm>
            <a:off x="4553712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7156" y="378104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3792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your time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53712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Assessment then Practical Performance — watch the clock.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01584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Shape 23"/>
          <p:cNvSpPr/>
          <p:nvPr/>
        </p:nvSpPr>
        <p:spPr>
          <a:xfrm>
            <a:off x="8330184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3628" y="378104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0264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Appeals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30184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appeal process is available if you disagree with the outcome.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&amp; Funding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1945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031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Assessment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Assessment (WA) — 30 min, starts 5:00 PM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Performance (PP) — 30 min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Open book — class ends 6:00 PM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Allowed: slides, learner guide &amp; approved materials only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 process available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178308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21201C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6583680" y="20574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19456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103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Criteria for Funding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629400" y="29260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75% attendance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SSG digital attendance records.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as ‘Competent’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and pass both assessment components.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PORTAL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to LMS and Download Course Material</a:t>
            </a:r>
            <a:endParaRPr lang="en-US" sz="2800" dirty="0"/>
          </a:p>
        </p:txBody>
      </p:sp>
      <p:sp>
        <p:nvSpPr>
          <p:cNvPr id="19" name="Text 14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pic>
        <p:nvPicPr>
          <p:cNvPr id="20" name="Picture 19" descr="ref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637" y="1897380"/>
            <a:ext cx="8114725" cy="4037076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609600" y="6016752"/>
            <a:ext cx="10972800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CBD5E1"/>
                </a:solidFill>
                <a:latin typeface="Cambria"/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  <p:sp>
        <p:nvSpPr>
          <p:cNvPr id="27" name="Text 21"/>
          <p:cNvSpPr/>
          <p:nvPr/>
        </p:nvSpPr>
        <p:spPr>
          <a:xfrm>
            <a:off x="11368735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D97757">
              <a:alpha val="17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Courseware &amp; Assessment on the LMS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2402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574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the courseware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71600" y="2468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slides and learner guide from the LMS for the open-book assessment.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918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1089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the assessment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371600" y="3520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Written Assessment and Practical Performance on the LMS.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420624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3434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1605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in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371600" y="45720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enrolled account to access the course materials and assessment.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40080" y="5440680"/>
            <a:ext cx="10881360" cy="640080"/>
          </a:xfrm>
          <a:prstGeom prst="roundRect">
            <a:avLst>
              <a:gd name="adj" fmla="val 14286"/>
            </a:avLst>
          </a:prstGeom>
          <a:solidFill>
            <a:srgbClr val="2E2C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3">
            <a:hlinkClick r:id="rId6"/>
          </p:cNvPr>
          <p:cNvSpPr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LMS:  </a:t>
            </a: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https://lms-tms.tertiaryinfotech.com/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pic>
        <p:nvPicPr>
          <p:cNvPr id="90" name="LMS Screenshot" descr="lms-tms.tertiaryinfotech.com login p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0" y="2770327"/>
            <a:ext cx="2194560" cy="1091793"/>
          </a:xfrm>
          <a:prstGeom prst="roundRect">
            <a:avLst>
              <a:gd name="adj" fmla="val 3000"/>
            </a:avLst>
          </a:prstGeom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</p:pic>
      <p:sp>
        <p:nvSpPr>
          <p:cNvPr id="27" name="Text 21"/>
          <p:cNvSpPr/>
          <p:nvPr/>
        </p:nvSpPr>
        <p:spPr>
          <a:xfrm>
            <a:off x="11368735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657600"/>
            <a:ext cx="4572000" cy="4572000"/>
          </a:xfrm>
          <a:prstGeom prst="ellipse">
            <a:avLst/>
          </a:prstGeom>
          <a:solidFill>
            <a:srgbClr val="D97757">
              <a:alpha val="1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Fundamentals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321040" y="1463040"/>
            <a:ext cx="3200400" cy="2724912"/>
          </a:xfrm>
          <a:prstGeom prst="roundRect">
            <a:avLst>
              <a:gd name="adj" fmla="val 3356"/>
            </a:avLst>
          </a:prstGeom>
          <a:solidFill>
            <a:srgbClr val="2E2C2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549640" y="1755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5256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Claude Code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49640" y="23225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52560" y="23042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Loop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49640" y="28895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52560" y="2871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49640" y="34564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0" y="34381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Build a website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Claude Product Family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offers several Claude products — here's how they differ so you know which is which.</a:t>
            </a:r>
            <a:endParaRPr lang="en-US" sz="1600" dirty="0"/>
          </a:p>
        </p:txBody>
      </p:sp>
      <p:sp>
        <p:nvSpPr>
          <p:cNvPr id="200" name="Shape 3"/>
          <p:cNvSpPr/>
          <p:nvPr/>
        </p:nvSpPr>
        <p:spPr>
          <a:xfrm>
            <a:off x="548640" y="2286000"/>
            <a:ext cx="35763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1" name="Shape 4"/>
          <p:cNvSpPr/>
          <p:nvPr/>
        </p:nvSpPr>
        <p:spPr>
          <a:xfrm>
            <a:off x="822960" y="24765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0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165" y="2592705"/>
            <a:ext cx="247650" cy="247650"/>
          </a:xfrm>
          <a:prstGeom prst="rect">
            <a:avLst/>
          </a:prstGeom>
        </p:spPr>
      </p:pic>
      <p:sp>
        <p:nvSpPr>
          <p:cNvPr id="203" name="Text 5"/>
          <p:cNvSpPr/>
          <p:nvPr/>
        </p:nvSpPr>
        <p:spPr>
          <a:xfrm>
            <a:off x="822960" y="3009900"/>
            <a:ext cx="31191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(Chat + Cowork)</a:t>
            </a:r>
            <a:endParaRPr lang="en-US" sz="1300" dirty="0"/>
          </a:p>
        </p:txBody>
      </p:sp>
      <p:sp>
        <p:nvSpPr>
          <p:cNvPr id="204" name="Text 6"/>
          <p:cNvSpPr/>
          <p:nvPr/>
        </p:nvSpPr>
        <p:spPr>
          <a:xfrm>
            <a:off x="822960" y="3343275"/>
            <a:ext cx="31191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+ Cowork in one app — web, desktop &amp; mobile.</a:t>
            </a:r>
            <a:endParaRPr lang="en-US" sz="1050" dirty="0"/>
          </a:p>
        </p:txBody>
      </p:sp>
      <p:sp>
        <p:nvSpPr>
          <p:cNvPr id="205" name="Shape 3"/>
          <p:cNvSpPr/>
          <p:nvPr/>
        </p:nvSpPr>
        <p:spPr>
          <a:xfrm>
            <a:off x="4307840" y="2286000"/>
            <a:ext cx="35763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6" name="Shape 4"/>
          <p:cNvSpPr/>
          <p:nvPr/>
        </p:nvSpPr>
        <p:spPr>
          <a:xfrm>
            <a:off x="4582160" y="24765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0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8365" y="2592705"/>
            <a:ext cx="247650" cy="247650"/>
          </a:xfrm>
          <a:prstGeom prst="rect">
            <a:avLst/>
          </a:prstGeom>
        </p:spPr>
      </p:pic>
      <p:sp>
        <p:nvSpPr>
          <p:cNvPr id="208" name="Text 5"/>
          <p:cNvSpPr/>
          <p:nvPr/>
        </p:nvSpPr>
        <p:spPr>
          <a:xfrm>
            <a:off x="4582160" y="3009900"/>
            <a:ext cx="31191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209" name="Text 6"/>
          <p:cNvSpPr/>
          <p:nvPr/>
        </p:nvSpPr>
        <p:spPr>
          <a:xfrm>
            <a:off x="4582160" y="3343275"/>
            <a:ext cx="31191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tool for building — terminal, IDE &amp; web.</a:t>
            </a:r>
            <a:endParaRPr lang="en-US" sz="1050" dirty="0"/>
          </a:p>
        </p:txBody>
      </p:sp>
      <p:sp>
        <p:nvSpPr>
          <p:cNvPr id="215" name="Shape 3"/>
          <p:cNvSpPr/>
          <p:nvPr/>
        </p:nvSpPr>
        <p:spPr>
          <a:xfrm>
            <a:off x="8067040" y="2286000"/>
            <a:ext cx="35763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6" name="Shape 4"/>
          <p:cNvSpPr/>
          <p:nvPr/>
        </p:nvSpPr>
        <p:spPr>
          <a:xfrm>
            <a:off x="8341360" y="24765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17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7565" y="2592705"/>
            <a:ext cx="247650" cy="247650"/>
          </a:xfrm>
          <a:prstGeom prst="rect">
            <a:avLst/>
          </a:prstGeom>
        </p:spPr>
      </p:pic>
      <p:sp>
        <p:nvSpPr>
          <p:cNvPr id="218" name="Text 5"/>
          <p:cNvSpPr/>
          <p:nvPr/>
        </p:nvSpPr>
        <p:spPr>
          <a:xfrm>
            <a:off x="8341360" y="3009900"/>
            <a:ext cx="31191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Design</a:t>
            </a:r>
            <a:endParaRPr lang="en-US" sz="1300" dirty="0"/>
          </a:p>
        </p:txBody>
      </p:sp>
      <p:sp>
        <p:nvSpPr>
          <p:cNvPr id="219" name="Text 6"/>
          <p:cNvSpPr/>
          <p:nvPr/>
        </p:nvSpPr>
        <p:spPr>
          <a:xfrm>
            <a:off x="8341360" y="3343275"/>
            <a:ext cx="31191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 UI, prototypes &amp; front-end designs.</a:t>
            </a:r>
            <a:endParaRPr lang="en-US" sz="1050" dirty="0"/>
          </a:p>
        </p:txBody>
      </p:sp>
      <p:sp>
        <p:nvSpPr>
          <p:cNvPr id="220" name="Shape 3"/>
          <p:cNvSpPr/>
          <p:nvPr/>
        </p:nvSpPr>
        <p:spPr>
          <a:xfrm>
            <a:off x="548640" y="3886200"/>
            <a:ext cx="35763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1" name="Shape 4"/>
          <p:cNvSpPr/>
          <p:nvPr/>
        </p:nvSpPr>
        <p:spPr>
          <a:xfrm>
            <a:off x="822960" y="40767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2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165" y="4192905"/>
            <a:ext cx="247650" cy="247650"/>
          </a:xfrm>
          <a:prstGeom prst="rect">
            <a:avLst/>
          </a:prstGeom>
        </p:spPr>
      </p:pic>
      <p:sp>
        <p:nvSpPr>
          <p:cNvPr id="223" name="Text 5"/>
          <p:cNvSpPr/>
          <p:nvPr/>
        </p:nvSpPr>
        <p:spPr>
          <a:xfrm>
            <a:off x="822960" y="4610100"/>
            <a:ext cx="31191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for Microsoft</a:t>
            </a:r>
            <a:endParaRPr lang="en-US" sz="1300" dirty="0"/>
          </a:p>
        </p:txBody>
      </p:sp>
      <p:sp>
        <p:nvSpPr>
          <p:cNvPr id="224" name="Text 6"/>
          <p:cNvSpPr/>
          <p:nvPr/>
        </p:nvSpPr>
        <p:spPr>
          <a:xfrm>
            <a:off x="822960" y="4943475"/>
            <a:ext cx="31191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inside Excel, PowerPoint, Word &amp; Outlook.</a:t>
            </a:r>
            <a:endParaRPr lang="en-US" sz="1050" dirty="0"/>
          </a:p>
        </p:txBody>
      </p:sp>
      <p:sp>
        <p:nvSpPr>
          <p:cNvPr id="225" name="Shape 3"/>
          <p:cNvSpPr/>
          <p:nvPr/>
        </p:nvSpPr>
        <p:spPr>
          <a:xfrm>
            <a:off x="4307840" y="3886200"/>
            <a:ext cx="35763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6" name="Shape 4"/>
          <p:cNvSpPr/>
          <p:nvPr/>
        </p:nvSpPr>
        <p:spPr>
          <a:xfrm>
            <a:off x="4582160" y="40767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7" name="Image 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8365" y="4192905"/>
            <a:ext cx="247650" cy="247650"/>
          </a:xfrm>
          <a:prstGeom prst="rect">
            <a:avLst/>
          </a:prstGeom>
        </p:spPr>
      </p:pic>
      <p:sp>
        <p:nvSpPr>
          <p:cNvPr id="228" name="Text 5"/>
          <p:cNvSpPr/>
          <p:nvPr/>
        </p:nvSpPr>
        <p:spPr>
          <a:xfrm>
            <a:off x="4582160" y="4610100"/>
            <a:ext cx="31191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for Chrome</a:t>
            </a:r>
            <a:endParaRPr lang="en-US" sz="1300" dirty="0"/>
          </a:p>
        </p:txBody>
      </p:sp>
      <p:sp>
        <p:nvSpPr>
          <p:cNvPr id="229" name="Text 6"/>
          <p:cNvSpPr/>
          <p:nvPr/>
        </p:nvSpPr>
        <p:spPr>
          <a:xfrm>
            <a:off x="4582160" y="4943475"/>
            <a:ext cx="31191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agent that clicks &amp; fills forms in Chrome.</a:t>
            </a:r>
            <a:endParaRPr lang="en-US" sz="1050" dirty="0"/>
          </a:p>
        </p:txBody>
      </p:sp>
      <p:sp>
        <p:nvSpPr>
          <p:cNvPr id="230" name="Shape 3"/>
          <p:cNvSpPr/>
          <p:nvPr/>
        </p:nvSpPr>
        <p:spPr>
          <a:xfrm>
            <a:off x="8067040" y="3886200"/>
            <a:ext cx="35763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1" name="Shape 4"/>
          <p:cNvSpPr/>
          <p:nvPr/>
        </p:nvSpPr>
        <p:spPr>
          <a:xfrm>
            <a:off x="8341360" y="40767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32" name="Image 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7565" y="4192905"/>
            <a:ext cx="247650" cy="247650"/>
          </a:xfrm>
          <a:prstGeom prst="rect">
            <a:avLst/>
          </a:prstGeom>
        </p:spPr>
      </p:pic>
      <p:sp>
        <p:nvSpPr>
          <p:cNvPr id="233" name="Text 5"/>
          <p:cNvSpPr/>
          <p:nvPr/>
        </p:nvSpPr>
        <p:spPr>
          <a:xfrm>
            <a:off x="8341360" y="4610100"/>
            <a:ext cx="31191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for Science</a:t>
            </a:r>
            <a:endParaRPr lang="en-US" sz="1300" dirty="0"/>
          </a:p>
        </p:txBody>
      </p:sp>
      <p:sp>
        <p:nvSpPr>
          <p:cNvPr id="234" name="Text 6"/>
          <p:cNvSpPr/>
          <p:nvPr/>
        </p:nvSpPr>
        <p:spPr>
          <a:xfrm>
            <a:off x="8341360" y="4943475"/>
            <a:ext cx="31191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up research workflows for scientists and labs.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548640" y="56388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are powered by the same Claude models — they differ in where they run and who they're for.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(Chat + Cowork) and Claude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and Cowork are now one app: Claude. Claude Code is the agentic tool for building — the one we use in this course.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864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25603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6974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6060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(Chat + Cowork)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333756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Chat: ask, draft, analyse and research with web search.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Cowork: plans and runs multi-step tasks on your files.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&amp; skills: Drive, Gmail, Calendar, Microsoft 365.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everyone — web, desktop and mobile apps.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09360" y="2286000"/>
            <a:ext cx="5303520" cy="3383280"/>
          </a:xfrm>
          <a:prstGeom prst="roundRect">
            <a:avLst>
              <a:gd name="adj" fmla="val 2162"/>
            </a:avLst>
          </a:prstGeom>
          <a:solidFill>
            <a:srgbClr val="21201C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6583680" y="25603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6974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606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629400" y="333756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tool for building software, sites and automations.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the terminal, VS Code, desktop app and web.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files, runs commands and calls MCP tools for you.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with CLAUDE.md, skills, sub agents and hooks.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Brief History of AI, 2023–2026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3657600"/>
            <a:ext cx="9418320" cy="0"/>
          </a:xfrm>
          <a:prstGeom prst="line">
            <a:avLst/>
          </a:prstGeom>
          <a:noFill/>
          <a:ln w="25400">
            <a:solidFill>
              <a:srgbClr val="6B6862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69164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69164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goes mainstream; results depend on the prompt wording.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56616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2628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52628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044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call tools and MCP launches; results depend on context.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Harness Engineering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6092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36092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5508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&amp; Codex: systems that plan, act and check their work.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05256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1268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001268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0684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agents work 24/7 — OpenClaw, Hermes Agent, agent teams.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wording one prompt → curating context → engineering the harness → AI agents that work around the clock.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11368735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Harness Engineering?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harness is the system built around the model — the agentic loop, tools, context management, verification and guardrails — that turns a capable model into an agent which can complete long-running tasks. Harness engineering is designing that scaffolding (and stripping it back as models improve).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harness provides: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5212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loop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access (files, shell, MCP)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memory management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guardrails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09360" y="2697480"/>
            <a:ext cx="5303520" cy="2651760"/>
          </a:xfrm>
          <a:prstGeom prst="roundRect">
            <a:avLst>
              <a:gd name="adj" fmla="val 3448"/>
            </a:avLst>
          </a:prstGeom>
          <a:solidFill>
            <a:srgbClr val="21201C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583680" y="2880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 of harness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0" y="3383280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583680" y="338328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098280" y="3383280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098280" y="338328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Cowork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0" y="3986784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583680" y="398678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Codex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098280" y="3986784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9098280" y="398678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CLI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0" y="4590288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583680" y="459028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98280" y="4590288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9098280" y="459028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Agent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5778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simplest harness that works — and re-examine it with every new, more capable model.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AGENTIC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Agentic Loop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Claude Code task runs the same repeating cycle. Understanding this loop is the key to working effectively with an agent.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283464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97180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Gather Context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files, run searches,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tools to understand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4992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21201C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3639312" y="28346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472" y="297180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Take Action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39312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code, run commands,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MCP tools to make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1344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6455664" y="283464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4" y="297180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55664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Verify Work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55664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tests, lint, view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check the result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correct.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997696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21201C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9272016" y="28346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9176" y="297180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2016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Repeat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2016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results back as new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and loop until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met.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in → context → action → verification → repeat → goal met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AGENTIC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loop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659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83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direction, not micro-steps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71600" y="217627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goal and constraints clearly; let the loop figure out the steps.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816352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95351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7706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is everything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371600" y="316382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only as good as its ability to check its own work — provide tests, linters, screenshots.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3803904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94106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75818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Steer mid-loop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371600" y="415137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plan, interrupt, and course-correct rather than waiting for a wrong final answer.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4791456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92861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74573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is the fuel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1371600" y="51389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can see determines what it can do — leading us to context engineering.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Tools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what make Claude Code agentic. Each tool use returns information that feeds the next decision in the loop.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ops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edit, create, rename and reorganise files.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files by pattern, grep content, explore code.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shell commands, tests, builds and git.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web and fetch docs or error messages.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subagents, code intelligence and your configured extensions (MCP, skills, hooks).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AGENTIC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Agentic Loop in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2E2C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68680" y="16002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 </a:t>
            </a:r>
            <a:r>
              <a:rPr lang="en-US" sz="1400" i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“Build a responsive software-dev website with an enquiry form, then test it.”</a:t>
            </a:r>
            <a:endParaRPr lang="en-US" sz="1400" dirty="0"/>
          </a:p>
        </p:txBody>
      </p:sp>
      <p:sp>
        <p:nvSpPr>
          <p:cNvPr id="100" name="Shape 4"/>
          <p:cNvSpPr/>
          <p:nvPr/>
        </p:nvSpPr>
        <p:spPr>
          <a:xfrm>
            <a:off x="640080" y="25146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274320" cy="274320"/>
          </a:xfrm>
          <a:prstGeom prst="rect">
            <a:avLst/>
          </a:prstGeom>
        </p:spPr>
      </p:pic>
      <p:sp>
        <p:nvSpPr>
          <p:cNvPr id="102" name="Text 5"/>
          <p:cNvSpPr/>
          <p:nvPr/>
        </p:nvSpPr>
        <p:spPr>
          <a:xfrm>
            <a:off x="137160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Gather context</a:t>
            </a:r>
            <a:endParaRPr lang="en-US" sz="1600" dirty="0"/>
          </a:p>
        </p:txBody>
      </p:sp>
      <p:sp>
        <p:nvSpPr>
          <p:cNvPr id="103" name="Text 6"/>
          <p:cNvSpPr/>
          <p:nvPr/>
        </p:nvSpPr>
        <p:spPr>
          <a:xfrm>
            <a:off x="5394960" y="246888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folder &amp; CLAUDE.md to understand the existing site and conventions.</a:t>
            </a:r>
            <a:endParaRPr lang="en-US" sz="1300" dirty="0"/>
          </a:p>
        </p:txBody>
      </p:sp>
      <p:sp>
        <p:nvSpPr>
          <p:cNvPr id="104" name="Shape 4"/>
          <p:cNvSpPr/>
          <p:nvPr/>
        </p:nvSpPr>
        <p:spPr>
          <a:xfrm>
            <a:off x="640080" y="3255264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392424"/>
            <a:ext cx="274320" cy="274320"/>
          </a:xfrm>
          <a:prstGeom prst="rect">
            <a:avLst/>
          </a:prstGeom>
        </p:spPr>
      </p:pic>
      <p:sp>
        <p:nvSpPr>
          <p:cNvPr id="106" name="Text 5"/>
          <p:cNvSpPr/>
          <p:nvPr/>
        </p:nvSpPr>
        <p:spPr>
          <a:xfrm>
            <a:off x="1371600" y="320954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Plan</a:t>
            </a:r>
            <a:endParaRPr lang="en-US" sz="1600" dirty="0"/>
          </a:p>
        </p:txBody>
      </p:sp>
      <p:sp>
        <p:nvSpPr>
          <p:cNvPr id="107" name="Text 6"/>
          <p:cNvSpPr/>
          <p:nvPr/>
        </p:nvSpPr>
        <p:spPr>
          <a:xfrm>
            <a:off x="5394960" y="3209544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the approach — hero, testimonials and enquiry form sections — for you to approve.</a:t>
            </a:r>
            <a:endParaRPr lang="en-US" sz="1300" dirty="0"/>
          </a:p>
        </p:txBody>
      </p:sp>
      <p:sp>
        <p:nvSpPr>
          <p:cNvPr id="108" name="Shape 4"/>
          <p:cNvSpPr/>
          <p:nvPr/>
        </p:nvSpPr>
        <p:spPr>
          <a:xfrm>
            <a:off x="640080" y="3995928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9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133088"/>
            <a:ext cx="274320" cy="274320"/>
          </a:xfrm>
          <a:prstGeom prst="rect">
            <a:avLst/>
          </a:prstGeom>
        </p:spPr>
      </p:pic>
      <p:sp>
        <p:nvSpPr>
          <p:cNvPr id="110" name="Text 5"/>
          <p:cNvSpPr/>
          <p:nvPr/>
        </p:nvSpPr>
        <p:spPr>
          <a:xfrm>
            <a:off x="1371600" y="39502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Take action</a:t>
            </a:r>
            <a:endParaRPr lang="en-US" sz="1600" dirty="0"/>
          </a:p>
        </p:txBody>
      </p:sp>
      <p:sp>
        <p:nvSpPr>
          <p:cNvPr id="111" name="Text 6"/>
          <p:cNvSpPr/>
          <p:nvPr/>
        </p:nvSpPr>
        <p:spPr>
          <a:xfrm>
            <a:off x="5394960" y="3950208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index.html, styles.css and script.js with form validation.</a:t>
            </a:r>
            <a:endParaRPr lang="en-US" sz="1300" dirty="0"/>
          </a:p>
        </p:txBody>
      </p:sp>
      <p:sp>
        <p:nvSpPr>
          <p:cNvPr id="112" name="Shape 4"/>
          <p:cNvSpPr/>
          <p:nvPr/>
        </p:nvSpPr>
        <p:spPr>
          <a:xfrm>
            <a:off x="640080" y="4736592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3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873752"/>
            <a:ext cx="274320" cy="274320"/>
          </a:xfrm>
          <a:prstGeom prst="rect">
            <a:avLst/>
          </a:prstGeom>
        </p:spPr>
      </p:pic>
      <p:sp>
        <p:nvSpPr>
          <p:cNvPr id="114" name="Text 5"/>
          <p:cNvSpPr/>
          <p:nvPr/>
        </p:nvSpPr>
        <p:spPr>
          <a:xfrm>
            <a:off x="1371600" y="46908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Verify work</a:t>
            </a:r>
            <a:endParaRPr lang="en-US" sz="1600" dirty="0"/>
          </a:p>
        </p:txBody>
      </p:sp>
      <p:sp>
        <p:nvSpPr>
          <p:cNvPr id="115" name="Text 6"/>
          <p:cNvSpPr/>
          <p:nvPr/>
        </p:nvSpPr>
        <p:spPr>
          <a:xfrm>
            <a:off x="5394960" y="4690872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page via Playwright MCP and submits the form to test it.</a:t>
            </a:r>
            <a:endParaRPr lang="en-US" sz="1300" dirty="0"/>
          </a:p>
        </p:txBody>
      </p:sp>
      <p:sp>
        <p:nvSpPr>
          <p:cNvPr id="116" name="Shape 4"/>
          <p:cNvSpPr/>
          <p:nvPr/>
        </p:nvSpPr>
        <p:spPr>
          <a:xfrm>
            <a:off x="640080" y="5477256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7" name="Image 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614416"/>
            <a:ext cx="274320" cy="274320"/>
          </a:xfrm>
          <a:prstGeom prst="rect">
            <a:avLst/>
          </a:prstGeom>
        </p:spPr>
      </p:pic>
      <p:sp>
        <p:nvSpPr>
          <p:cNvPr id="118" name="Text 5"/>
          <p:cNvSpPr/>
          <p:nvPr/>
        </p:nvSpPr>
        <p:spPr>
          <a:xfrm>
            <a:off x="1371600" y="54315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Repeat</a:t>
            </a:r>
            <a:endParaRPr lang="en-US" sz="1600" dirty="0"/>
          </a:p>
        </p:txBody>
      </p:sp>
      <p:sp>
        <p:nvSpPr>
          <p:cNvPr id="119" name="Text 6"/>
          <p:cNvSpPr/>
          <p:nvPr/>
        </p:nvSpPr>
        <p:spPr>
          <a:xfrm>
            <a:off x="5394960" y="5431536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 a validation bug, fixes script.js, re-tests — then reports done.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11368735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Claude Code?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is an agentic coding tool that lives in your terminal. You describe a goal in plain English, and Claude plans, writes, runs and verifies the work — editing files, running commands and using tools on your behalf.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2461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Terminal-native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where you already work — no heavy IDE required.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3648456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32461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8456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multi-step tasks and acts, not just autocompletes.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6473952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112" y="32461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Tool-using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73952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Reads/writes files, runs bash, calls MCP servers.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9299448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6608" y="32461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Extensible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99448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commands, skills, sub-agents and hooks.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Claude Code Can 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handles real engineering tasks end to end — describe the outcome and it does the work.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74320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features, apps and whole projects from a prompt.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3641598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758" y="274320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 &amp; fix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and fix errors; read logs and stack traces.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6460236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396" y="274320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Refactor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Improve, restructure and document existing code.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9278874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6034" y="274320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git, tests, deployment and CI/CD workflows.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 cases:  </a:t>
            </a:r>
            <a:r>
              <a:rPr lang="en-US" sz="13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sites &amp; landing pages · internal web tools · full-stack apps · mobile apps · scripts &amp; automations · data tasks.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Claude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agentic loop runs everywhere — choose the interface that fits how you work.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575304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269748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8346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8328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67912"/>
            <a:ext cx="311810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CLI, then run `claude` in any project.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Mac/Linux: curl -fsSL claude.ai/install.sh | bash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06824" y="2423160"/>
            <a:ext cx="3575304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581144" y="269748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283464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81144" y="338328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 (VS Code)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81144" y="3867912"/>
            <a:ext cx="311810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Claude Code extension (also Cursor &amp; JetBrains): inline diffs, @-mentions, plan review.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65008" y="2423160"/>
            <a:ext cx="3575304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8339328" y="269748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6488" y="283464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39328" y="338328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Desktop App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39328" y="3867912"/>
            <a:ext cx="311810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GUI for parallel sessions, scheduled tasks and connectors — runs on your machine.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55321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 yet? In VS Code just ask Claude Code: “install claude cli in the terminal for me.”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D97757"/>
                </a:solidFill>
                <a:latin typeface="Calibri"/>
              </a:rPr>
              <a:t>TOPIC 1 ·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>
                <a:solidFill>
                  <a:srgbClr val="21201C"/>
                </a:solidFill>
                <a:latin typeface="Cambria"/>
              </a:rPr>
              <a:t>Setup Claude Code in VS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0">
                <a:solidFill>
                  <a:srgbClr val="21201C"/>
                </a:solidFill>
                <a:latin typeface="Calibri"/>
              </a:rPr>
              <a:t>Add Claude Code to VS Code in five steps — from a clean install to signed in and ready to build.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40000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370000"/>
            <a:ext cx="10360000" cy="5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Install VS Code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Download from code.visualstudio.com/download and install it for your operating system.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04008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10080"/>
            <a:ext cx="10360000" cy="5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Open a project folder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Launch VS Code and open an empty folder to start a new project.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68016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650160"/>
            <a:ext cx="10360000" cy="5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Install the Claude Code extension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In the Extensions panel, search for “Claude Code” and click Install.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2024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290240"/>
            <a:ext cx="10360000" cy="5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Move it to the secondary side bar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Drag the Claude Code icon into the secondary side bar so it stays open beside your editor.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96032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930320"/>
            <a:ext cx="10360000" cy="5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Sign in with your subscription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Click Sign in and log in with your Claude Pro or Max subscription — you’re ready to build.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2000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>
                <a:solidFill>
                  <a:srgbClr val="6B6862"/>
                </a:solidFill>
                <a:latin typeface="Calibri"/>
              </a:rPr>
              <a:t>No CLI needed to start — the VS Code extension runs the same agentic loop. Ask it to “install the Claude CLI” anytime.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Agentic AI Applications with Claude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Pricing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is included in the subscription plans (from Pro up) and is also available pay-as-you-go via the API.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6060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$17/mo (annual) · $20 monthly. Claude Code included.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3641598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758" y="260604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$100/mo — 5× or 20× more usage than Pro.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6460236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396" y="260604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$20/seat standard · $100/seat premium (5× usage).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9278874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6034" y="260604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$20/seat + usage at API rates. Contact sales.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48640" y="48920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21201C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0"/>
          <p:cNvSpPr/>
          <p:nvPr/>
        </p:nvSpPr>
        <p:spPr>
          <a:xfrm>
            <a:off x="822960" y="48920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pay-as-you-go (per million tokens, input / output):  </a:t>
            </a: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4.8 $5 / $25   ·   Sonnet 4.6 $3 / $15   ·   Haiku 4.5 $1 / $5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plan is also available. Prices as of June 2026 — verify at claude.com/pricing.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Steps to Build an App with Claude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04672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04672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478024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1468" y="218084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&amp; Features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04672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to build (draft the prompt with ChatGPT).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74136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3630168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3630168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303520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6964" y="2180844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30168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Mode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3630168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Claude plan before coding (Shift+Tab).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99632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6455664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6"/>
          <p:cNvSpPr/>
          <p:nvPr/>
        </p:nvSpPr>
        <p:spPr>
          <a:xfrm>
            <a:off x="6455664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8129016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2460" y="2180844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55664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6455664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plan in Bypass Permissions mode.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9025128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1"/>
          <p:cNvSpPr/>
          <p:nvPr/>
        </p:nvSpPr>
        <p:spPr>
          <a:xfrm>
            <a:off x="9281160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2"/>
          <p:cNvSpPr/>
          <p:nvPr/>
        </p:nvSpPr>
        <p:spPr>
          <a:xfrm>
            <a:off x="9281160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10954512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7956" y="2180844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281160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(/init)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9281160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CLAUDE.md to capture project context.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548640" y="365760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21201C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Shape 27"/>
          <p:cNvSpPr/>
          <p:nvPr/>
        </p:nvSpPr>
        <p:spPr>
          <a:xfrm>
            <a:off x="804672" y="391363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28"/>
          <p:cNvSpPr/>
          <p:nvPr/>
        </p:nvSpPr>
        <p:spPr>
          <a:xfrm>
            <a:off x="804672" y="3913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Shape 29"/>
          <p:cNvSpPr/>
          <p:nvPr/>
        </p:nvSpPr>
        <p:spPr>
          <a:xfrm>
            <a:off x="2478024" y="393192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1468" y="4055364"/>
            <a:ext cx="256032" cy="25603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804672" y="457200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to GitHub</a:t>
            </a:r>
            <a:endParaRPr lang="en-US" sz="1450" dirty="0"/>
          </a:p>
        </p:txBody>
      </p:sp>
      <p:sp>
        <p:nvSpPr>
          <p:cNvPr id="38" name="Text 31"/>
          <p:cNvSpPr/>
          <p:nvPr/>
        </p:nvSpPr>
        <p:spPr>
          <a:xfrm>
            <a:off x="804672" y="491947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 and push your code.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3374136" y="365760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21201C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0" name="Shape 33"/>
          <p:cNvSpPr/>
          <p:nvPr/>
        </p:nvSpPr>
        <p:spPr>
          <a:xfrm>
            <a:off x="3630168" y="391363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4"/>
          <p:cNvSpPr/>
          <p:nvPr/>
        </p:nvSpPr>
        <p:spPr>
          <a:xfrm>
            <a:off x="3630168" y="3913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2" name="Shape 35"/>
          <p:cNvSpPr/>
          <p:nvPr/>
        </p:nvSpPr>
        <p:spPr>
          <a:xfrm>
            <a:off x="5303520" y="393192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6964" y="4055364"/>
            <a:ext cx="256032" cy="256032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3630168" y="457200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450" dirty="0"/>
          </a:p>
        </p:txBody>
      </p:sp>
      <p:sp>
        <p:nvSpPr>
          <p:cNvPr id="45" name="Text 37"/>
          <p:cNvSpPr/>
          <p:nvPr/>
        </p:nvSpPr>
        <p:spPr>
          <a:xfrm>
            <a:off x="3630168" y="491947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app (e.g. GitHub Pages).</a:t>
            </a:r>
            <a:endParaRPr lang="en-US" sz="1100" dirty="0"/>
          </a:p>
        </p:txBody>
      </p:sp>
      <p:sp>
        <p:nvSpPr>
          <p:cNvPr id="46" name="Shape 38"/>
          <p:cNvSpPr/>
          <p:nvPr/>
        </p:nvSpPr>
        <p:spPr>
          <a:xfrm>
            <a:off x="6199632" y="365760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21201C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7" name="Shape 39"/>
          <p:cNvSpPr/>
          <p:nvPr/>
        </p:nvSpPr>
        <p:spPr>
          <a:xfrm>
            <a:off x="6455664" y="391363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0"/>
          <p:cNvSpPr/>
          <p:nvPr/>
        </p:nvSpPr>
        <p:spPr>
          <a:xfrm>
            <a:off x="6455664" y="3913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49" name="Shape 41"/>
          <p:cNvSpPr/>
          <p:nvPr/>
        </p:nvSpPr>
        <p:spPr>
          <a:xfrm>
            <a:off x="8129016" y="393192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52460" y="4055364"/>
            <a:ext cx="256032" cy="256032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6455664" y="457200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</a:t>
            </a:r>
            <a:endParaRPr lang="en-US" sz="1450" dirty="0"/>
          </a:p>
        </p:txBody>
      </p:sp>
      <p:sp>
        <p:nvSpPr>
          <p:cNvPr id="52" name="Text 43"/>
          <p:cNvSpPr/>
          <p:nvPr/>
        </p:nvSpPr>
        <p:spPr>
          <a:xfrm>
            <a:off x="6455664" y="491947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build &amp; deploy with GitHub Actions.</a:t>
            </a:r>
            <a:endParaRPr lang="en-US" sz="1100" dirty="0"/>
          </a:p>
        </p:txBody>
      </p:sp>
      <p:sp>
        <p:nvSpPr>
          <p:cNvPr id="53" name="Text 44"/>
          <p:cNvSpPr/>
          <p:nvPr/>
        </p:nvSpPr>
        <p:spPr>
          <a:xfrm>
            <a:off x="548640" y="5623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do steps 1–3 now (Activity 1a), then context engineering, then steps 4–7 (Activity 1b).</a:t>
            </a:r>
            <a:endParaRPr lang="en-US" sz="1300" dirty="0"/>
          </a:p>
        </p:txBody>
      </p:sp>
      <p:sp>
        <p:nvSpPr>
          <p:cNvPr id="54" name="Text 4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55" name="Text 46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56" name="Text 4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 · GET SET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the Claude Code Extension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Step 1 — install the official Claude Code extension from the VS Code Marketplace.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13" name="Rectangle 12"/>
          <p:cNvSpPr/>
          <p:nvPr/>
        </p:nvSpPr>
        <p:spPr>
          <a:xfrm>
            <a:off x="548640" y="2121408"/>
            <a:ext cx="5446439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176272"/>
            <a:ext cx="5336711" cy="3749039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10174" y="3517120"/>
            <a:ext cx="193455" cy="213468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0206" y="3468407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364" y="2563183"/>
            <a:ext cx="1574329" cy="180114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329246" y="2407735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0352" y="2810006"/>
            <a:ext cx="1621026" cy="466962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34904" y="3121520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12201" y="2903398"/>
            <a:ext cx="1167405" cy="153430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464729" y="2824666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25543" y="3537133"/>
            <a:ext cx="1754443" cy="346886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670095" y="3728571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5" name="Oval 24"/>
          <p:cNvSpPr/>
          <p:nvPr/>
        </p:nvSpPr>
        <p:spPr>
          <a:xfrm>
            <a:off x="6675120" y="2194560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2176272"/>
            <a:ext cx="448056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Open Extensions</a:t>
            </a:r>
          </a:p>
          <a:p>
            <a:pPr algn="l"/>
            <a:r>
              <a:rPr sz="1200" b="0">
                <a:solidFill>
                  <a:srgbClr val="6B6862"/>
                </a:solidFill>
                <a:latin typeface="Calibri"/>
              </a:rPr>
              <a:t>Click the Extensions icon or press Ctrl+Shift+X (Cmd+Shift+X on Mac).</a:t>
            </a:r>
          </a:p>
        </p:txBody>
      </p:sp>
      <p:sp>
        <p:nvSpPr>
          <p:cNvPr id="27" name="Oval 26"/>
          <p:cNvSpPr/>
          <p:nvPr/>
        </p:nvSpPr>
        <p:spPr>
          <a:xfrm>
            <a:off x="6675120" y="2907791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2889503"/>
            <a:ext cx="448056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Search “claude”</a:t>
            </a:r>
          </a:p>
          <a:p>
            <a:pPr algn="l"/>
            <a:r>
              <a:rPr sz="1200" b="0">
                <a:solidFill>
                  <a:srgbClr val="6B6862"/>
                </a:solidFill>
                <a:latin typeface="Calibri"/>
              </a:rPr>
              <a:t>Type claude in the Marketplace search box.</a:t>
            </a:r>
          </a:p>
        </p:txBody>
      </p:sp>
      <p:sp>
        <p:nvSpPr>
          <p:cNvPr id="29" name="Oval 28"/>
          <p:cNvSpPr/>
          <p:nvPr/>
        </p:nvSpPr>
        <p:spPr>
          <a:xfrm>
            <a:off x="6675120" y="3621024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602736"/>
            <a:ext cx="448056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Pick “Claude Code for VS Code”</a:t>
            </a:r>
          </a:p>
          <a:p>
            <a:pPr algn="l"/>
            <a:r>
              <a:rPr sz="1200" b="0">
                <a:solidFill>
                  <a:srgbClr val="6B6862"/>
                </a:solidFill>
                <a:latin typeface="Calibri"/>
              </a:rPr>
              <a:t>Select the result published by Anthropic.</a:t>
            </a:r>
          </a:p>
        </p:txBody>
      </p:sp>
      <p:sp>
        <p:nvSpPr>
          <p:cNvPr id="31" name="Oval 30"/>
          <p:cNvSpPr/>
          <p:nvPr/>
        </p:nvSpPr>
        <p:spPr>
          <a:xfrm>
            <a:off x="6675120" y="4334256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4315968"/>
            <a:ext cx="448056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Check the publisher</a:t>
            </a:r>
          </a:p>
          <a:p>
            <a:pPr algn="l"/>
            <a:r>
              <a:rPr sz="1200" b="0">
                <a:solidFill>
                  <a:srgbClr val="6B6862"/>
                </a:solidFill>
                <a:latin typeface="Calibri"/>
              </a:rPr>
              <a:t>Look for the blue verified tick and anthropic.com — skip look-alike extensions.</a:t>
            </a:r>
          </a:p>
        </p:txBody>
      </p:sp>
      <p:sp>
        <p:nvSpPr>
          <p:cNvPr id="33" name="Oval 32"/>
          <p:cNvSpPr/>
          <p:nvPr/>
        </p:nvSpPr>
        <p:spPr>
          <a:xfrm>
            <a:off x="6675120" y="5047488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5029200"/>
            <a:ext cx="448056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Install &amp; keep it updated</a:t>
            </a:r>
          </a:p>
          <a:p>
            <a:pPr algn="l"/>
            <a:r>
              <a:rPr sz="1200" b="0">
                <a:solidFill>
                  <a:srgbClr val="6B6862"/>
                </a:solidFill>
                <a:latin typeface="Calibri"/>
              </a:rPr>
              <a:t>Click Install and leave Auto Update ticked to get new features.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D97757"/>
                </a:solidFill>
                <a:latin typeface="Calibri"/>
              </a:rPr>
              <a:t>TIP  An extension can read your whole codebase — install only the verified Anthropic one.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 · GET SET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Claude Code to the Secondary Side Bar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Next, dock Claude Code on the right, so files stay on the left and the editor stays in the middle.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13" name="Rectangle 12"/>
          <p:cNvSpPr/>
          <p:nvPr/>
        </p:nvSpPr>
        <p:spPr>
          <a:xfrm>
            <a:off x="5084064" y="2121408"/>
            <a:ext cx="6556248" cy="389302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2176272"/>
            <a:ext cx="6446520" cy="3783301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404846" y="2401900"/>
            <a:ext cx="942803" cy="161163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192202" y="2246452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77909" y="2200446"/>
            <a:ext cx="2691422" cy="3702719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530437" y="3896358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40796" y="2426074"/>
            <a:ext cx="636593" cy="201453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785348" y="2472080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6549" y="5286717"/>
            <a:ext cx="2530259" cy="515721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341360" y="5131269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2194560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2176272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Right-click the Claude icon</a:t>
            </a:r>
          </a:p>
          <a:p>
            <a:pPr algn="l"/>
            <a:r>
              <a:rPr sz="1200" b="0">
                <a:solidFill>
                  <a:srgbClr val="6B6862"/>
                </a:solidFill>
                <a:latin typeface="Calibri"/>
              </a:rPr>
              <a:t>Move To → Secondary Side Bar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6695" y="2734056"/>
            <a:ext cx="3904488" cy="557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788920"/>
            <a:ext cx="3794760" cy="448200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548640" y="3429000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410712"/>
            <a:ext cx="384048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Files on the left</a:t>
            </a:r>
          </a:p>
          <a:p>
            <a:pPr algn="l"/>
            <a:r>
              <a:rPr sz="1200" b="0">
                <a:solidFill>
                  <a:srgbClr val="6B6862"/>
                </a:solidFill>
                <a:latin typeface="Calibri"/>
              </a:rPr>
              <a:t>Explorer shows your project folder (kanban8).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4087368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069080"/>
            <a:ext cx="384048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Claude Code on the right</a:t>
            </a:r>
          </a:p>
          <a:p>
            <a:pPr algn="l"/>
            <a:r>
              <a:rPr sz="1200" b="0">
                <a:solidFill>
                  <a:srgbClr val="6B6862"/>
                </a:solidFill>
                <a:latin typeface="Calibri"/>
              </a:rPr>
              <a:t>Chat with Claude while files change in the editor.</a:t>
            </a:r>
          </a:p>
        </p:txBody>
      </p:sp>
      <p:sp>
        <p:nvSpPr>
          <p:cNvPr id="31" name="Oval 30"/>
          <p:cNvSpPr/>
          <p:nvPr/>
        </p:nvSpPr>
        <p:spPr>
          <a:xfrm>
            <a:off x="548640" y="4745736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727448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New session</a:t>
            </a:r>
          </a:p>
          <a:p>
            <a:pPr algn="l"/>
            <a:r>
              <a:rPr sz="1200" b="0">
                <a:solidFill>
                  <a:srgbClr val="6B6862"/>
                </a:solidFill>
                <a:latin typeface="Calibri"/>
              </a:rPr>
              <a:t>+ starts fresh; the clock reopens history.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36976" y="4672584"/>
            <a:ext cx="1664207" cy="967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4727448"/>
            <a:ext cx="1554480" cy="858248"/>
          </a:xfrm>
          <a:prstGeom prst="rect">
            <a:avLst/>
          </a:prstGeom>
        </p:spPr>
      </p:pic>
      <p:sp>
        <p:nvSpPr>
          <p:cNvPr id="35" name="Oval 34"/>
          <p:cNvSpPr/>
          <p:nvPr/>
        </p:nvSpPr>
        <p:spPr>
          <a:xfrm>
            <a:off x="548640" y="5468112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5449824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Prompt box</a:t>
            </a:r>
          </a:p>
          <a:p>
            <a:pPr algn="l"/>
            <a:r>
              <a:rPr sz="1200" b="0">
                <a:solidFill>
                  <a:srgbClr val="6B6862"/>
                </a:solidFill>
                <a:latin typeface="Calibri"/>
              </a:rPr>
              <a:t>Ctrl+Esc to focus · / for commands · pick Plan &amp; model.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 · GET SET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Use Claude Code in the Desktop App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a GUI? The Claude Desktop app runs the same Claude Code agent — open the Code tab and point it at a project folder.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13" name="Rectangle 12"/>
          <p:cNvSpPr/>
          <p:nvPr/>
        </p:nvSpPr>
        <p:spPr>
          <a:xfrm>
            <a:off x="548640" y="2121408"/>
            <a:ext cx="5752685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176272"/>
            <a:ext cx="5642957" cy="3749039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2176478" y="2190379"/>
            <a:ext cx="380899" cy="162235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021030" y="2197166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87217" y="3417722"/>
            <a:ext cx="1685833" cy="800594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31769" y="3262274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42022" y="5519724"/>
            <a:ext cx="3576224" cy="260986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486574" y="5364276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05505" y="5801872"/>
            <a:ext cx="3512741" cy="123439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254822" y="5708144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0557" y="3393034"/>
            <a:ext cx="1925659" cy="2197226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55109" y="3237586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5" name="Oval 24"/>
          <p:cNvSpPr/>
          <p:nvPr/>
        </p:nvSpPr>
        <p:spPr>
          <a:xfrm>
            <a:off x="6675120" y="2194560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2176272"/>
            <a:ext cx="448056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Open the Code tab</a:t>
            </a:r>
          </a:p>
          <a:p>
            <a:pPr algn="l"/>
            <a:r>
              <a:rPr sz="1200" b="0">
                <a:solidFill>
                  <a:srgbClr val="6B6862"/>
                </a:solidFill>
                <a:latin typeface="Calibri"/>
              </a:rPr>
              <a:t>Click the &lt;/&gt; icon at the top-left to switch from Chat to Claude Code.</a:t>
            </a:r>
          </a:p>
        </p:txBody>
      </p:sp>
      <p:sp>
        <p:nvSpPr>
          <p:cNvPr id="27" name="Oval 26"/>
          <p:cNvSpPr/>
          <p:nvPr/>
        </p:nvSpPr>
        <p:spPr>
          <a:xfrm>
            <a:off x="6675120" y="2907791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2889503"/>
            <a:ext cx="448056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Choose your project folder</a:t>
            </a:r>
          </a:p>
          <a:p>
            <a:pPr algn="l"/>
            <a:r>
              <a:rPr sz="1200" b="0">
                <a:solidFill>
                  <a:srgbClr val="6B6862"/>
                </a:solidFill>
                <a:latin typeface="Calibri"/>
              </a:rPr>
              <a:t>Pick a folder (here kanban8). Claude reads and edits files only inside it.</a:t>
            </a:r>
          </a:p>
        </p:txBody>
      </p:sp>
      <p:sp>
        <p:nvSpPr>
          <p:cNvPr id="29" name="Oval 28"/>
          <p:cNvSpPr/>
          <p:nvPr/>
        </p:nvSpPr>
        <p:spPr>
          <a:xfrm>
            <a:off x="6675120" y="3621024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602736"/>
            <a:ext cx="448056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Describe the task</a:t>
            </a:r>
          </a:p>
          <a:p>
            <a:pPr algn="l"/>
            <a:r>
              <a:rPr sz="1200" b="0">
                <a:solidFill>
                  <a:srgbClr val="6B6862"/>
                </a:solidFill>
                <a:latin typeface="Calibri"/>
              </a:rPr>
              <a:t>Type your goal in plain English and press Enter — the same agentic loop as the CLI.</a:t>
            </a:r>
          </a:p>
        </p:txBody>
      </p:sp>
      <p:sp>
        <p:nvSpPr>
          <p:cNvPr id="31" name="Oval 30"/>
          <p:cNvSpPr/>
          <p:nvPr/>
        </p:nvSpPr>
        <p:spPr>
          <a:xfrm>
            <a:off x="6675120" y="4334256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4315968"/>
            <a:ext cx="448056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Check folder, mode &amp; model</a:t>
            </a:r>
          </a:p>
          <a:p>
            <a:pPr algn="l"/>
            <a:r>
              <a:rPr sz="1200" b="0">
                <a:solidFill>
                  <a:srgbClr val="6B6862"/>
                </a:solidFill>
                <a:latin typeface="Calibri"/>
              </a:rPr>
              <a:t>The status bar shows the folder, permission mode (Plan) and model (Sonnet 5.5 · Medium).</a:t>
            </a:r>
          </a:p>
        </p:txBody>
      </p:sp>
      <p:sp>
        <p:nvSpPr>
          <p:cNvPr id="33" name="Oval 32"/>
          <p:cNvSpPr/>
          <p:nvPr/>
        </p:nvSpPr>
        <p:spPr>
          <a:xfrm>
            <a:off x="6675120" y="5047488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5029200"/>
            <a:ext cx="448056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Sessions grouped by project</a:t>
            </a:r>
          </a:p>
          <a:p>
            <a:pPr algn="l"/>
            <a:r>
              <a:rPr sz="1200" b="0">
                <a:solidFill>
                  <a:srgbClr val="6B6862"/>
                </a:solidFill>
                <a:latin typeface="Calibri"/>
              </a:rPr>
              <a:t>The sidebar lists past sessions under each project — click one to resume.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D97757"/>
                </a:solidFill>
                <a:latin typeface="Calibri"/>
              </a:rPr>
              <a:t>TIP  “Import Claude Code CLI sessions” brings your terminal history into the Desktop app.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GOAL &amp;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a Clear Prompt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goal &amp; features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clearer the brief, the better the build.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ChatGPT to draft it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ChatGPT to expand your idea into a detailed prompt, then paste it into Claude Code.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essentials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· sections · behaviour · styling · deliverable.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52160" y="1783080"/>
            <a:ext cx="5760720" cy="3931920"/>
          </a:xfrm>
          <a:prstGeom prst="roundRect">
            <a:avLst>
              <a:gd name="adj" fmla="val 1395"/>
            </a:avLst>
          </a:prstGeom>
          <a:solidFill>
            <a:srgbClr val="1B1A1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126480" y="19202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prompt (software-dev website)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26480" y="2240280"/>
            <a:ext cx="53035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a single-page, responsive website
for a software development company
(HTML, CSS, vanilla JS — no frameworks).
</a:t>
            </a: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</a:t>
            </a: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services + capture leads.
</a:t>
            </a: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Sections: </a:t>
            </a: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1) Hero + CTA  2) 3 testimonial
cards  3) Enquiry form (JS validation,
console.log, commented fetch()).
</a:t>
            </a: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Styling: </a:t>
            </a: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mobile-first, CSS variables,
Google Font, smooth scroll, accessible.
</a:t>
            </a: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Deliverable: </a:t>
            </a: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 by opening the file.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prompt is in your Learner Guide (Activity 1).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PERMISSIONS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Permission Modes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modes control how often Claude pauses to ask before editing files or running commands.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freely; asks before edits and shell commands.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acceptEdits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Auto-approves file edits and common filesystem commands.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and proposes a plan without editing source.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 background safety checks (research preview).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Shift+Tab to cycle modes; the current mode shows in the status bar.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023360" cy="4023360"/>
          </a:xfrm>
          <a:prstGeom prst="ellipse">
            <a:avLst/>
          </a:prstGeom>
          <a:solidFill>
            <a:srgbClr val="D97757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PERMISSIONS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Bypass Permissions — Handle with Care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731520" cy="731520"/>
          </a:xfrm>
          <a:prstGeom prst="ellipse">
            <a:avLst/>
          </a:prstGeom>
          <a:solidFill>
            <a:srgbClr val="C2603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20939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bypassPermissions  /  --dangerously-skip-permissions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788920"/>
            <a:ext cx="10789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all permission prompts and safety checks — tool calls run immediately.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NO protection against prompt injection or unintended actions.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in isolated containers / VMs without internet access.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to start as root/sudo; cannot be entered mid-session.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auto mode for fewer prompts WITH background safety checks.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EXECUTE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Bypass Permissions in VS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let Claude build hands-free, enable bypass-permissions mode — use it only in a trusted, sandboxed project.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5577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Open VS Code Settings → Extensions → Claude Code.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Enable “Allow dangerously skip permissions”.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the prompt box, open the mode selector.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Choose “Bypass permissions”.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Give your build prompt — Claude runs without per-action prompts.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377440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1B1A1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67512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 equivalent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28803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3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\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--dangerously-skip-permissions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443484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1300" i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safety checks or prompt-injection protection. Sandboxed / trusted projects only — prefer auto mode otherwise.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EXECUTE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Allow Bypass Permissions — VS Code &amp; Desktop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apps hide Bypass mode until you allow it in Settings. Turn it on only for trusted, sandboxed projects.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13" name="Rounded Rectangle 12"/>
          <p:cNvSpPr/>
          <p:nvPr/>
        </p:nvSpPr>
        <p:spPr>
          <a:xfrm>
            <a:off x="548640" y="210312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VS CODE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60320"/>
            <a:ext cx="2974485" cy="3355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615184"/>
            <a:ext cx="2864757" cy="324612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03504" y="5407301"/>
            <a:ext cx="190681" cy="258781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30761" y="5381244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345" y="3323428"/>
            <a:ext cx="2655916" cy="254241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64873" y="3295101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3611880" y="2633472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2615184"/>
            <a:ext cx="201168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1201C"/>
                </a:solidFill>
                <a:latin typeface="Cambria"/>
              </a:rPr>
              <a:t>Gear icon</a:t>
            </a:r>
          </a:p>
          <a:p>
            <a:pPr algn="l"/>
            <a:r>
              <a:rPr sz="1150" b="0">
                <a:solidFill>
                  <a:srgbClr val="6B6862"/>
                </a:solidFill>
                <a:latin typeface="Calibri"/>
              </a:rPr>
              <a:t>Bottom-left of VS Code.</a:t>
            </a:r>
          </a:p>
        </p:txBody>
      </p:sp>
      <p:sp>
        <p:nvSpPr>
          <p:cNvPr id="22" name="Oval 21"/>
          <p:cNvSpPr/>
          <p:nvPr/>
        </p:nvSpPr>
        <p:spPr>
          <a:xfrm>
            <a:off x="3611880" y="3438144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419856"/>
            <a:ext cx="201168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1201C"/>
                </a:solidFill>
                <a:latin typeface="Cambria"/>
              </a:rPr>
              <a:t>Settings</a:t>
            </a:r>
          </a:p>
          <a:p>
            <a:pPr algn="l"/>
            <a:r>
              <a:rPr sz="1150" b="0">
                <a:solidFill>
                  <a:srgbClr val="6B6862"/>
                </a:solidFill>
                <a:latin typeface="Calibri"/>
              </a:rPr>
              <a:t>Or press Ctrl+, (Cmd+, on Mac).</a:t>
            </a:r>
          </a:p>
        </p:txBody>
      </p:sp>
      <p:sp>
        <p:nvSpPr>
          <p:cNvPr id="24" name="Oval 23"/>
          <p:cNvSpPr/>
          <p:nvPr/>
        </p:nvSpPr>
        <p:spPr>
          <a:xfrm>
            <a:off x="3611880" y="4242816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224528"/>
            <a:ext cx="201168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1201C"/>
                </a:solidFill>
                <a:latin typeface="Cambria"/>
              </a:rPr>
              <a:t>Search “Claude Code”</a:t>
            </a:r>
          </a:p>
          <a:p>
            <a:pPr algn="l"/>
            <a:r>
              <a:rPr sz="1150" b="0">
                <a:solidFill>
                  <a:srgbClr val="6B6862"/>
                </a:solidFill>
                <a:latin typeface="Calibri"/>
              </a:rPr>
              <a:t>Tick “Allow dangerously skip permissions”.</a:t>
            </a:r>
          </a:p>
        </p:txBody>
      </p:sp>
      <p:sp>
        <p:nvSpPr>
          <p:cNvPr id="26" name="Oval 25"/>
          <p:cNvSpPr/>
          <p:nvPr/>
        </p:nvSpPr>
        <p:spPr>
          <a:xfrm>
            <a:off x="3611880" y="5047488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029200"/>
            <a:ext cx="201168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1201C"/>
                </a:solidFill>
                <a:latin typeface="Cambria"/>
              </a:rPr>
              <a:t>Pick the mode</a:t>
            </a:r>
          </a:p>
          <a:p>
            <a:pPr algn="l"/>
            <a:r>
              <a:rPr sz="1150" b="0">
                <a:solidFill>
                  <a:srgbClr val="6B6862"/>
                </a:solidFill>
                <a:latin typeface="Calibri"/>
              </a:rPr>
              <a:t>Prompt box mode menu → Bypass permissions.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210312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CLAUDE DESKTOP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2560320"/>
            <a:ext cx="5285232" cy="339225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2615184"/>
            <a:ext cx="5175504" cy="3282531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6465112" y="5049498"/>
            <a:ext cx="889593" cy="186194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117640" y="4987147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34004" y="4001294"/>
            <a:ext cx="4034203" cy="475829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1412759" y="3845846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34004" y="5277068"/>
            <a:ext cx="4034203" cy="344803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1412759" y="5121620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6016752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D97757"/>
                </a:solidFill>
                <a:latin typeface="Cambria"/>
              </a:rPr>
              <a:t>1 </a:t>
            </a:r>
            <a:r>
              <a:rPr sz="1200" b="0">
                <a:solidFill>
                  <a:srgbClr val="21201C"/>
                </a:solidFill>
                <a:latin typeface="Calibri"/>
              </a:rPr>
              <a:t>Settings → Claude Code   </a:t>
            </a:r>
            <a:r>
              <a:rPr sz="1200" b="1">
                <a:solidFill>
                  <a:srgbClr val="D97757"/>
                </a:solidFill>
                <a:latin typeface="Cambria"/>
              </a:rPr>
              <a:t>2 </a:t>
            </a:r>
            <a:r>
              <a:rPr sz="1200" b="0">
                <a:solidFill>
                  <a:srgbClr val="21201C"/>
                </a:solidFill>
                <a:latin typeface="Calibri"/>
              </a:rPr>
              <a:t>Allow bypass mode   </a:t>
            </a:r>
            <a:r>
              <a:rPr sz="1200" b="1">
                <a:solidFill>
                  <a:srgbClr val="D97757"/>
                </a:solidFill>
                <a:latin typeface="Cambria"/>
              </a:rPr>
              <a:t>3 </a:t>
            </a:r>
            <a:r>
              <a:rPr sz="1200" b="0">
                <a:solidFill>
                  <a:srgbClr val="21201C"/>
                </a:solidFill>
                <a:latin typeface="Calibri"/>
              </a:rPr>
              <a:t>Keep awake (optional)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016752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C2603F"/>
                </a:solidFill>
                <a:latin typeface="Calibri"/>
              </a:rPr>
              <a:t>⚠  No safety checks or prompt-injection protection — sandbox only.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Goal, Plan &amp; Build (Steps 1–3)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Goal &amp; Features: draft a detailed build prompt (use ChatGPT) for the software-dev website.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Plan Mode: have Claude plan the build (Shift+Tab) and review the plan.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Execute: approve the plan and build the site in Bypass Permissions mode.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index.html and check the hero, testimonials and enquiry form work.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website prompt is in your Learner Guide (Activity 1).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11368735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CONTEXT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is the practice of curating exactly what Claude sees — instructions, files and tools — so it has the right information and nothing that wastes its limited context window.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2461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memory loaded every session. Run /init to generate it.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3648456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32461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 mentions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48456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specific files or folders into context on demand.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6473952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112" y="32461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/compact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73952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the conversation to reclaim context space.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9299448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6608" y="32461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/clear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99448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 the slate for a fresh, unrelated task.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CONTEXT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Your Context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6692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CLAUDE.md tight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overview, conventions, commands to run. Short and high-signal.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only what's needed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@file mentions instead of pasting whole folders.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before it overflows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context meter; /compact at natural breakpoints.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between tasks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fresh so old context doesn't bleed into new work.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92240" y="1783080"/>
            <a:ext cx="5120640" cy="3931920"/>
          </a:xfrm>
          <a:prstGeom prst="roundRect">
            <a:avLst>
              <a:gd name="adj" fmla="val 1395"/>
            </a:avLst>
          </a:prstGeom>
          <a:solidFill>
            <a:srgbClr val="1B1A1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76656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66560" y="228600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My Web App
</a:t>
            </a: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Stack
</a:t>
            </a: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Vanilla HTML, CSS, JS. No frameworks.
</a:t>
            </a: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Conventions
</a:t>
            </a: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Single index.html, mobile-first
- Use CSS variables for colors
</a:t>
            </a: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Commands
</a:t>
            </a: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Deploy: push to main (GH Pages)
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CONTEXT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CLAUDE.md (/init)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/init to generate a CLAUDE.md so Claude remembers your project's structure and conventions every session.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1064240" cy="3291840"/>
          </a:xfrm>
          <a:prstGeom prst="roundRect">
            <a:avLst>
              <a:gd name="adj" fmla="val 1667"/>
            </a:avLst>
          </a:prstGeom>
          <a:solidFill>
            <a:srgbClr val="1B1A1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CLAUDE.md
</a:t>
            </a: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What this is
</a:t>
            </a: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Single-page marketing site. HTML + CSS + vanilla JS — no framework, no build step.
</a:t>
            </a: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Running
</a:t>
            </a: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index.html directly in a browser. No dev server.
</a:t>
            </a: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Architecture
</a:t>
            </a: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index.html  — sections: #home, #services, #testimonials, #contact
- styles.css  — design tokens in :root variables; mobile-first
- script.js   — enquiry-form validation (one DOMContentLoaded handler)
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CLAUDE.md short and high-signal — see github.com/alfredang/softwaredevleopment.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CONTEXT WINDOW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Context Window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Claude's context window holds everything it can see at once. As you work it fills up, so manage it deliberately.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fills it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prompt, CLAUDE.md, memory, conversation, file reads, tool output, skills.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/context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what's using space; run /mcp for per-server token cost.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Auto-compaction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the limit, old tool outputs clear first, then history is summarised.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lean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schemas load on demand; subagents keep their own context.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86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persistent rules in CLAUDE.md — conversation detail can be lost during compaction.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MEMORY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Files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session starts fresh. Two mechanisms carry knowledge across sessions.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864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25603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6974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6060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CLAUDE.md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333756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it — instructions &amp; rules.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with /init; keep under ~200 lines.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Scopes: project, user, or organisation.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in full every session.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09360" y="2286000"/>
            <a:ext cx="5303520" cy="3383280"/>
          </a:xfrm>
          <a:prstGeom prst="roundRect">
            <a:avLst>
              <a:gd name="adj" fmla="val 2162"/>
            </a:avLst>
          </a:prstGeom>
          <a:solidFill>
            <a:srgbClr val="21201C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6583680" y="25603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26974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606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 Memory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629400" y="333756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writes it — learnings &amp; patterns.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MEMORY.md per repository.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200 lines / 25KB load each session.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edit with /memory.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SESSIONS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Sessions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session is a saved conversation tied to a project directory. Resume, branch, name and switch between them.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--continue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the most recent session in this directory.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--resume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session picker to browse and search.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/rename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 session so it's findable later.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/branch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the conversation to try another approach.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are saved locally; use /clear and /compact to manage context within one.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SCHEDULED TASKS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Scheduled Tasks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tasks (Desktop Routines) start a new session automatically — for daily reviews, audits or briefings.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Routines → New routine → Local; set name &amp; instructions.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Hourly, daily, weekdays or weekly — or describe it.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locally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while the app is open and your machine is awake.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now, pause, edit, and review run history.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ask: “set up a daily code review that runs every morning at 9am.”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GOAL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Working Toward a Goal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/goal sets a completion condition. After each turn a fast model checks it, and Claude keeps working until it's met.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/goal &lt;cond&gt;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verifiable end state, e.g. “all tests pass”.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/goal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status: turns, tokens and the latest reason.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/goal clear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 active goal before it's met.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Haiku evaluator judges the condition each turn.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conditions Claude can prove in the transcript — e.g. “npm test exits 0”.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Context, Deploy &amp; CI/CD (Steps 4–7)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Context: run /init to generate CLAUDE.md for your project.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Commit to GitHub: create an empty repo on github.com, then have Claude push your code.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Deployment: deploy to GitHub Pages via GitHub Actions; add a README.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— CI/CD: confirm each push automatically rebuilds and redeploys the site.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live GitHub Pages link: https://&lt;username&gt;.github.io/software-dev-site/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deployed GitHub Pages URL with the class.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11368735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COMMIT TO GITHUB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GitHub Repository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Claude can push your code, create an empty repository on github.com to receive it.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  <p:sp>
        <p:nvSpPr>
          <p:cNvPr id="13" name="Oval 12"/>
          <p:cNvSpPr/>
          <p:nvPr/>
        </p:nvSpPr>
        <p:spPr>
          <a:xfrm>
            <a:off x="548640" y="2194560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176272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Click New</a:t>
            </a:r>
          </a:p>
          <a:p>
            <a:pPr algn="l"/>
            <a:r>
              <a:rPr sz="1200" b="0">
                <a:solidFill>
                  <a:srgbClr val="6B6862"/>
                </a:solidFill>
                <a:latin typeface="Calibri"/>
              </a:rPr>
              <a:t>github.com → Repositories → green New button.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6695" y="2734056"/>
            <a:ext cx="2487168" cy="1353669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788920"/>
            <a:ext cx="2377440" cy="1243941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548640" y="4206240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187952"/>
            <a:ext cx="37033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Owner</a:t>
            </a:r>
          </a:p>
          <a:p>
            <a:pPr algn="l"/>
            <a:r>
              <a:rPr sz="1150" b="0">
                <a:solidFill>
                  <a:srgbClr val="6B6862"/>
                </a:solidFill>
                <a:latin typeface="Calibri"/>
              </a:rPr>
              <a:t>Keep your own GitHub account.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828031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809744"/>
            <a:ext cx="37033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Name the repository</a:t>
            </a:r>
          </a:p>
          <a:p>
            <a:pPr algn="l"/>
            <a:r>
              <a:rPr sz="1150" b="0">
                <a:solidFill>
                  <a:srgbClr val="6B6862"/>
                </a:solidFill>
                <a:latin typeface="Calibri"/>
              </a:rPr>
              <a:t>e.g. software-dev-site — a green tick means it’s free.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5449824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431536"/>
            <a:ext cx="370332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Description (optional)</a:t>
            </a:r>
          </a:p>
          <a:p>
            <a:pPr algn="l"/>
            <a:r>
              <a:rPr sz="1150" b="0">
                <a:solidFill>
                  <a:srgbClr val="6B6862"/>
                </a:solidFill>
                <a:latin typeface="Calibri"/>
              </a:rPr>
              <a:t>One line about the project.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31536" y="2121408"/>
            <a:ext cx="6109794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176272"/>
            <a:ext cx="6000066" cy="3749039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5822852" y="3506059"/>
            <a:ext cx="1025378" cy="264355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475380" y="3482789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08446" y="3498048"/>
            <a:ext cx="4117535" cy="424570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970533" y="3342600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22852" y="4411276"/>
            <a:ext cx="5295118" cy="268360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475380" y="4390009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D97757"/>
                </a:solidFill>
                <a:latin typeface="Calibri"/>
              </a:rPr>
              <a:t>TIP  Use lowercase-with-hyphens — the repo name becomes part of your GitHub Pages URL.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COMMIT TO GITHUB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Configure &amp; Create the Repository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repository empty — your project already has its files, and Claude will push them in the next step.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  <p:sp>
        <p:nvSpPr>
          <p:cNvPr id="13" name="Rectangle 12"/>
          <p:cNvSpPr/>
          <p:nvPr/>
        </p:nvSpPr>
        <p:spPr>
          <a:xfrm>
            <a:off x="548640" y="2121408"/>
            <a:ext cx="5725509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176272"/>
            <a:ext cx="5615781" cy="3749039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897010" y="2604067"/>
            <a:ext cx="824477" cy="256677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549538" y="2576957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72560" y="3202980"/>
            <a:ext cx="948927" cy="256677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425088" y="3175870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45909" y="3825227"/>
            <a:ext cx="575578" cy="217786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798437" y="3778672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33670" y="4276356"/>
            <a:ext cx="987817" cy="746696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386198" y="4494257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19229" y="5287508"/>
            <a:ext cx="1018929" cy="264455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471757" y="5264288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5" name="Oval 24"/>
          <p:cNvSpPr/>
          <p:nvPr/>
        </p:nvSpPr>
        <p:spPr>
          <a:xfrm>
            <a:off x="6675120" y="2194560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2176272"/>
            <a:ext cx="448056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Visibility: Public</a:t>
            </a:r>
          </a:p>
          <a:p>
            <a:pPr algn="l"/>
            <a:r>
              <a:rPr sz="1200" b="0">
                <a:solidFill>
                  <a:srgbClr val="6B6862"/>
                </a:solidFill>
                <a:latin typeface="Calibri"/>
              </a:rPr>
              <a:t>Free GitHub Pages hosting needs a public repository.</a:t>
            </a:r>
          </a:p>
        </p:txBody>
      </p:sp>
      <p:sp>
        <p:nvSpPr>
          <p:cNvPr id="27" name="Oval 26"/>
          <p:cNvSpPr/>
          <p:nvPr/>
        </p:nvSpPr>
        <p:spPr>
          <a:xfrm>
            <a:off x="6675120" y="2907791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2889503"/>
            <a:ext cx="448056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No template</a:t>
            </a:r>
          </a:p>
          <a:p>
            <a:pPr algn="l"/>
            <a:r>
              <a:rPr sz="1200" b="0">
                <a:solidFill>
                  <a:srgbClr val="6B6862"/>
                </a:solidFill>
                <a:latin typeface="Calibri"/>
              </a:rPr>
              <a:t>Start from a blank repository.</a:t>
            </a:r>
          </a:p>
        </p:txBody>
      </p:sp>
      <p:sp>
        <p:nvSpPr>
          <p:cNvPr id="29" name="Oval 28"/>
          <p:cNvSpPr/>
          <p:nvPr/>
        </p:nvSpPr>
        <p:spPr>
          <a:xfrm>
            <a:off x="6675120" y="3621024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602736"/>
            <a:ext cx="448056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README: Off</a:t>
            </a:r>
          </a:p>
          <a:p>
            <a:pPr algn="l"/>
            <a:r>
              <a:rPr sz="1200" b="0">
                <a:solidFill>
                  <a:srgbClr val="6B6862"/>
                </a:solidFill>
                <a:latin typeface="Calibri"/>
              </a:rPr>
              <a:t>Leave it off — Claude writes the README in Step 6.</a:t>
            </a:r>
          </a:p>
        </p:txBody>
      </p:sp>
      <p:sp>
        <p:nvSpPr>
          <p:cNvPr id="31" name="Oval 30"/>
          <p:cNvSpPr/>
          <p:nvPr/>
        </p:nvSpPr>
        <p:spPr>
          <a:xfrm>
            <a:off x="6675120" y="4334256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4315968"/>
            <a:ext cx="448056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No .gitignore, no license</a:t>
            </a:r>
          </a:p>
          <a:p>
            <a:pPr algn="l"/>
            <a:r>
              <a:rPr sz="1200" b="0">
                <a:solidFill>
                  <a:srgbClr val="6B6862"/>
                </a:solidFill>
                <a:latin typeface="Calibri"/>
              </a:rPr>
              <a:t>Files created here would clash with your first push.</a:t>
            </a:r>
          </a:p>
        </p:txBody>
      </p:sp>
      <p:sp>
        <p:nvSpPr>
          <p:cNvPr id="33" name="Oval 32"/>
          <p:cNvSpPr/>
          <p:nvPr/>
        </p:nvSpPr>
        <p:spPr>
          <a:xfrm>
            <a:off x="6675120" y="5047488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5029200"/>
            <a:ext cx="448056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Create repository</a:t>
            </a:r>
          </a:p>
          <a:p>
            <a:pPr algn="l"/>
            <a:r>
              <a:rPr sz="1200" b="0">
                <a:solidFill>
                  <a:srgbClr val="6B6862"/>
                </a:solidFill>
                <a:latin typeface="Calibri"/>
              </a:rPr>
              <a:t>Click the green button to finish.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D97757"/>
                </a:solidFill>
                <a:latin typeface="Calibri"/>
              </a:rPr>
              <a:t>TIP  An empty repo avoids the “rejected — fetch first” error on your first git push.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COMMIT TO GITHUB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&amp; Push Your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shows your repository URL and the git commands — copy the URL and let Claude Code do the push.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  <p:sp>
        <p:nvSpPr>
          <p:cNvPr id="13" name="Rectangle 12"/>
          <p:cNvSpPr/>
          <p:nvPr/>
        </p:nvSpPr>
        <p:spPr>
          <a:xfrm>
            <a:off x="548640" y="2121408"/>
            <a:ext cx="6784848" cy="2483567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176272"/>
            <a:ext cx="6675120" cy="2373839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996935" y="2468308"/>
            <a:ext cx="5031371" cy="208597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872858" y="2312860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7006" y="3269322"/>
            <a:ext cx="6291300" cy="930344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81558" y="4044219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54880"/>
            <a:ext cx="6784848" cy="1143000"/>
          </a:xfrm>
          <a:prstGeom prst="rect">
            <a:avLst/>
          </a:prstGeom>
          <a:solidFill>
            <a:srgbClr val="1B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8463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A867D"/>
                </a:solidFill>
                <a:latin typeface="Courier New"/>
              </a:rPr>
              <a:t>Prompt to Claude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138928"/>
            <a:ext cx="6400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7FC4C1"/>
                </a:solidFill>
                <a:latin typeface="Courier New"/>
              </a:rPr>
              <a:t>Commit all files and push this project to https://github.com/&lt;username&gt;/software-dev-site.git on the main branch.</a:t>
            </a:r>
          </a:p>
        </p:txBody>
      </p:sp>
      <p:sp>
        <p:nvSpPr>
          <p:cNvPr id="22" name="Oval 21"/>
          <p:cNvSpPr/>
          <p:nvPr/>
        </p:nvSpPr>
        <p:spPr>
          <a:xfrm>
            <a:off x="7635240" y="2194560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176272"/>
            <a:ext cx="352044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Copy the HTTPS URL</a:t>
            </a:r>
          </a:p>
          <a:p>
            <a:pPr algn="l"/>
            <a:r>
              <a:rPr sz="1150" b="0">
                <a:solidFill>
                  <a:srgbClr val="6B6862"/>
                </a:solidFill>
                <a:latin typeface="Calibri"/>
              </a:rPr>
              <a:t>Click the copy icon beside https://github.com/&lt;you&gt;/&lt;repo&gt;.git.</a:t>
            </a:r>
          </a:p>
        </p:txBody>
      </p:sp>
      <p:sp>
        <p:nvSpPr>
          <p:cNvPr id="24" name="Oval 23"/>
          <p:cNvSpPr/>
          <p:nvPr/>
        </p:nvSpPr>
        <p:spPr>
          <a:xfrm>
            <a:off x="7635240" y="2926080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907792"/>
            <a:ext cx="352044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The git commands</a:t>
            </a:r>
          </a:p>
          <a:p>
            <a:pPr algn="l"/>
            <a:r>
              <a:rPr sz="1150" b="0">
                <a:solidFill>
                  <a:srgbClr val="6B6862"/>
                </a:solidFill>
                <a:latin typeface="Calibri"/>
              </a:rPr>
              <a:t>init → add → commit → branch -M main → remote add → push.</a:t>
            </a:r>
          </a:p>
        </p:txBody>
      </p:sp>
      <p:sp>
        <p:nvSpPr>
          <p:cNvPr id="26" name="Oval 25"/>
          <p:cNvSpPr/>
          <p:nvPr/>
        </p:nvSpPr>
        <p:spPr>
          <a:xfrm>
            <a:off x="7635240" y="3657600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3639312"/>
            <a:ext cx="352044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Let Claude run them</a:t>
            </a:r>
          </a:p>
          <a:p>
            <a:pPr algn="l"/>
            <a:r>
              <a:rPr sz="1150" b="0">
                <a:solidFill>
                  <a:srgbClr val="6B6862"/>
                </a:solidFill>
                <a:latin typeface="Calibri"/>
              </a:rPr>
              <a:t>Paste the prompt (left); Claude initialises git, commits and pushes.</a:t>
            </a:r>
          </a:p>
        </p:txBody>
      </p:sp>
      <p:sp>
        <p:nvSpPr>
          <p:cNvPr id="28" name="Oval 27"/>
          <p:cNvSpPr/>
          <p:nvPr/>
        </p:nvSpPr>
        <p:spPr>
          <a:xfrm>
            <a:off x="7635240" y="4389120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370832"/>
            <a:ext cx="352044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Sign in when asked</a:t>
            </a:r>
          </a:p>
          <a:p>
            <a:pPr algn="l"/>
            <a:r>
              <a:rPr sz="1150" b="0">
                <a:solidFill>
                  <a:srgbClr val="6B6862"/>
                </a:solidFill>
                <a:latin typeface="Calibri"/>
              </a:rPr>
              <a:t>Approve the GitHub sign-in (or run gh auth login) the first time.</a:t>
            </a:r>
          </a:p>
        </p:txBody>
      </p:sp>
      <p:sp>
        <p:nvSpPr>
          <p:cNvPr id="30" name="Oval 29"/>
          <p:cNvSpPr/>
          <p:nvPr/>
        </p:nvSpPr>
        <p:spPr>
          <a:xfrm>
            <a:off x="7635240" y="5120640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5102352"/>
            <a:ext cx="352044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Refresh the repo page</a:t>
            </a:r>
          </a:p>
          <a:p>
            <a:pPr algn="l"/>
            <a:r>
              <a:rPr sz="1150" b="0">
                <a:solidFill>
                  <a:srgbClr val="6B6862"/>
                </a:solidFill>
                <a:latin typeface="Calibri"/>
              </a:rPr>
              <a:t>Your files appear — ready for Step 6, GitHub Pages.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657600"/>
            <a:ext cx="4572000" cy="4572000"/>
          </a:xfrm>
          <a:prstGeom prst="ellipse">
            <a:avLst/>
          </a:prstGeom>
          <a:solidFill>
            <a:srgbClr val="D97757">
              <a:alpha val="1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Commands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321040" y="1463040"/>
            <a:ext cx="3200400" cy="2724912"/>
          </a:xfrm>
          <a:prstGeom prst="roundRect">
            <a:avLst>
              <a:gd name="adj" fmla="val 3356"/>
            </a:avLst>
          </a:prstGeom>
          <a:solidFill>
            <a:srgbClr val="2E2C2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549640" y="1755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5256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.claude directory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49640" y="23225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52560" y="23042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49640" y="28895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52560" y="2871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49640" y="34564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0" y="34381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MCP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CONFIGURATION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.claude Directory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keeps its configuration in two places: your user folder (applies everywhere) and the project folder (shared with your team via version control).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1B1A1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~/.claude/   (user — all projects)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settings.json</a:t>
            </a: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settings, hooks
</a:t>
            </a: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personal memory
</a:t>
            </a: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agents/  skills/  commands/
projects/&lt;p&gt;/</a:t>
            </a: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sessions + memory/
</a:t>
            </a: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plugins/
</a:t>
            </a: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~/.claude.json</a:t>
            </a: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MCP servers, config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246888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1B1A1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00800" y="2606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&lt;project&gt;/.claude/   (team — in git)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97180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settings.json</a:t>
            </a: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shared settings
</a:t>
            </a: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settings.local.json</a:t>
            </a: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personal
</a:t>
            </a: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  rules/</a:t>
            </a: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memory &amp; rules
</a:t>
            </a: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commands/</a:t>
            </a: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/slash commands
</a:t>
            </a: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skills/&lt;name&gt;/SKILL.md
agents/&lt;name&gt;.md</a:t>
            </a: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sub agents
</a:t>
            </a: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.mcp.json</a:t>
            </a: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project MCP servers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5623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scope applies to every project; project scope is committed so your whole team shares it.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CONFIGURATION</a:t>
            </a:r>
          </a:p>
        </p:txBody>
      </p:sp>
      <p:sp>
        <p:nvSpPr>
          <p:cNvPr id="102" name="Shape 102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Level vs Project Level</a:t>
            </a:r>
          </a:p>
        </p:txBody>
      </p:sp>
      <p:sp>
        <p:nvSpPr>
          <p:cNvPr id="103" name="Shape 103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customisation — commands, MCP tools, skills, CLAUDE.md and hooks — can be stored at two levels. User level applies to ALL your projects; project level applies only to that ONE project.</a:t>
            </a:r>
          </a:p>
        </p:txBody>
      </p:sp>
      <p:sp>
        <p:nvSpPr>
          <p:cNvPr id="104" name="Shape 104"/>
          <p:cNvSpPr/>
          <p:nvPr/>
        </p:nvSpPr>
        <p:spPr>
          <a:xfrm>
            <a:off x="548640" y="2377440"/>
            <a:ext cx="5425440" cy="31089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5" name="Shape 105"/>
          <p:cNvSpPr/>
          <p:nvPr/>
        </p:nvSpPr>
        <p:spPr>
          <a:xfrm>
            <a:off x="777240" y="2606040"/>
            <a:ext cx="1005840" cy="91440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6" name="Shape 106"/>
          <p:cNvSpPr/>
          <p:nvPr/>
        </p:nvSpPr>
        <p:spPr>
          <a:xfrm>
            <a:off x="777240" y="27432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Level  ·  ~/.claude/</a:t>
            </a:r>
          </a:p>
        </p:txBody>
      </p:sp>
      <p:sp>
        <p:nvSpPr>
          <p:cNvPr id="107" name="Shape 107"/>
          <p:cNvSpPr/>
          <p:nvPr/>
        </p:nvSpPr>
        <p:spPr>
          <a:xfrm>
            <a:off x="777240" y="3246120"/>
            <a:ext cx="2743200" cy="320040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8" name="Shape 108"/>
          <p:cNvSpPr/>
          <p:nvPr/>
        </p:nvSpPr>
        <p:spPr>
          <a:xfrm>
            <a:off x="77724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ALL PROJECTS</a:t>
            </a:r>
          </a:p>
        </p:txBody>
      </p:sp>
      <p:sp>
        <p:nvSpPr>
          <p:cNvPr id="109" name="Shape 109"/>
          <p:cNvSpPr/>
          <p:nvPr/>
        </p:nvSpPr>
        <p:spPr>
          <a:xfrm>
            <a:off x="822960" y="374916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0" name="Shape 110"/>
          <p:cNvSpPr/>
          <p:nvPr/>
        </p:nvSpPr>
        <p:spPr>
          <a:xfrm>
            <a:off x="1015365" y="36120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</a:p>
        </p:txBody>
      </p:sp>
      <p:sp>
        <p:nvSpPr>
          <p:cNvPr id="111" name="Shape 111"/>
          <p:cNvSpPr/>
          <p:nvPr/>
        </p:nvSpPr>
        <p:spPr>
          <a:xfrm>
            <a:off x="2238640" y="361200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~/.claude/commands/&lt;name&gt;.md</a:t>
            </a:r>
          </a:p>
        </p:txBody>
      </p:sp>
      <p:sp>
        <p:nvSpPr>
          <p:cNvPr id="112" name="Shape 112"/>
          <p:cNvSpPr/>
          <p:nvPr/>
        </p:nvSpPr>
        <p:spPr>
          <a:xfrm>
            <a:off x="822960" y="411492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3" name="Shape 113"/>
          <p:cNvSpPr/>
          <p:nvPr/>
        </p:nvSpPr>
        <p:spPr>
          <a:xfrm>
            <a:off x="1015365" y="39777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</a:p>
        </p:txBody>
      </p:sp>
      <p:sp>
        <p:nvSpPr>
          <p:cNvPr id="114" name="Shape 114"/>
          <p:cNvSpPr/>
          <p:nvPr/>
        </p:nvSpPr>
        <p:spPr>
          <a:xfrm>
            <a:off x="2238640" y="397776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~/.claude.json  ·  claude mcp add -s user …</a:t>
            </a:r>
          </a:p>
        </p:txBody>
      </p:sp>
      <p:sp>
        <p:nvSpPr>
          <p:cNvPr id="115" name="Shape 115"/>
          <p:cNvSpPr/>
          <p:nvPr/>
        </p:nvSpPr>
        <p:spPr>
          <a:xfrm>
            <a:off x="822960" y="448068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6" name="Shape 116"/>
          <p:cNvSpPr/>
          <p:nvPr/>
        </p:nvSpPr>
        <p:spPr>
          <a:xfrm>
            <a:off x="1015365" y="4343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</a:p>
        </p:txBody>
      </p:sp>
      <p:sp>
        <p:nvSpPr>
          <p:cNvPr id="117" name="Shape 117"/>
          <p:cNvSpPr/>
          <p:nvPr/>
        </p:nvSpPr>
        <p:spPr>
          <a:xfrm>
            <a:off x="2238640" y="434352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~/.claude/skills/&lt;name&gt;/SKILL.md</a:t>
            </a:r>
          </a:p>
        </p:txBody>
      </p:sp>
      <p:sp>
        <p:nvSpPr>
          <p:cNvPr id="118" name="Shape 118"/>
          <p:cNvSpPr/>
          <p:nvPr/>
        </p:nvSpPr>
        <p:spPr>
          <a:xfrm>
            <a:off x="822960" y="484644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9" name="Shape 119"/>
          <p:cNvSpPr/>
          <p:nvPr/>
        </p:nvSpPr>
        <p:spPr>
          <a:xfrm>
            <a:off x="1015365" y="4709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</a:p>
        </p:txBody>
      </p:sp>
      <p:sp>
        <p:nvSpPr>
          <p:cNvPr id="120" name="Shape 120"/>
          <p:cNvSpPr/>
          <p:nvPr/>
        </p:nvSpPr>
        <p:spPr>
          <a:xfrm>
            <a:off x="2238640" y="470928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~/.claude/CLAUDE.md  (your personal memory)</a:t>
            </a:r>
          </a:p>
        </p:txBody>
      </p:sp>
      <p:sp>
        <p:nvSpPr>
          <p:cNvPr id="121" name="Shape 121"/>
          <p:cNvSpPr/>
          <p:nvPr/>
        </p:nvSpPr>
        <p:spPr>
          <a:xfrm>
            <a:off x="822960" y="521220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2" name="Shape 122"/>
          <p:cNvSpPr/>
          <p:nvPr/>
        </p:nvSpPr>
        <p:spPr>
          <a:xfrm>
            <a:off x="1015365" y="5075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</a:p>
        </p:txBody>
      </p:sp>
      <p:sp>
        <p:nvSpPr>
          <p:cNvPr id="123" name="Shape 123"/>
          <p:cNvSpPr/>
          <p:nvPr/>
        </p:nvSpPr>
        <p:spPr>
          <a:xfrm>
            <a:off x="2238640" y="507504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~/.claude/settings.json  →  "hooks"</a:t>
            </a:r>
          </a:p>
        </p:txBody>
      </p:sp>
      <p:sp>
        <p:nvSpPr>
          <p:cNvPr id="124" name="Shape 124"/>
          <p:cNvSpPr/>
          <p:nvPr/>
        </p:nvSpPr>
        <p:spPr>
          <a:xfrm>
            <a:off x="6217920" y="2377440"/>
            <a:ext cx="5425440" cy="31089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5" name="Shape 125"/>
          <p:cNvSpPr/>
          <p:nvPr/>
        </p:nvSpPr>
        <p:spPr>
          <a:xfrm>
            <a:off x="6446520" y="2606040"/>
            <a:ext cx="1005840" cy="914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6" name="Shape 126"/>
          <p:cNvSpPr/>
          <p:nvPr/>
        </p:nvSpPr>
        <p:spPr>
          <a:xfrm>
            <a:off x="6446520" y="27432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Level  ·  &lt;project&gt;/</a:t>
            </a:r>
          </a:p>
        </p:txBody>
      </p:sp>
      <p:sp>
        <p:nvSpPr>
          <p:cNvPr id="127" name="Shape 127"/>
          <p:cNvSpPr/>
          <p:nvPr/>
        </p:nvSpPr>
        <p:spPr>
          <a:xfrm>
            <a:off x="6446520" y="3246120"/>
            <a:ext cx="274320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8" name="Shape 128"/>
          <p:cNvSpPr/>
          <p:nvPr/>
        </p:nvSpPr>
        <p:spPr>
          <a:xfrm>
            <a:off x="644652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ONLY</a:t>
            </a:r>
          </a:p>
        </p:txBody>
      </p:sp>
      <p:sp>
        <p:nvSpPr>
          <p:cNvPr id="129" name="Shape 129"/>
          <p:cNvSpPr/>
          <p:nvPr/>
        </p:nvSpPr>
        <p:spPr>
          <a:xfrm>
            <a:off x="6492240" y="374916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0" name="Shape 130"/>
          <p:cNvSpPr/>
          <p:nvPr/>
        </p:nvSpPr>
        <p:spPr>
          <a:xfrm>
            <a:off x="6684645" y="36120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</a:p>
        </p:txBody>
      </p:sp>
      <p:sp>
        <p:nvSpPr>
          <p:cNvPr id="131" name="Shape 131"/>
          <p:cNvSpPr/>
          <p:nvPr/>
        </p:nvSpPr>
        <p:spPr>
          <a:xfrm>
            <a:off x="7907920" y="361200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&lt;project&gt;/.claude/commands/&lt;name&gt;.md</a:t>
            </a:r>
          </a:p>
        </p:txBody>
      </p:sp>
      <p:sp>
        <p:nvSpPr>
          <p:cNvPr id="132" name="Shape 132"/>
          <p:cNvSpPr/>
          <p:nvPr/>
        </p:nvSpPr>
        <p:spPr>
          <a:xfrm>
            <a:off x="6492240" y="411492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3" name="Shape 133"/>
          <p:cNvSpPr/>
          <p:nvPr/>
        </p:nvSpPr>
        <p:spPr>
          <a:xfrm>
            <a:off x="6684645" y="39777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</a:p>
        </p:txBody>
      </p:sp>
      <p:sp>
        <p:nvSpPr>
          <p:cNvPr id="134" name="Shape 134"/>
          <p:cNvSpPr/>
          <p:nvPr/>
        </p:nvSpPr>
        <p:spPr>
          <a:xfrm>
            <a:off x="7907920" y="397776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&lt;project&gt;/.mcp.json  ·  claude mcp add -s project …</a:t>
            </a:r>
          </a:p>
        </p:txBody>
      </p:sp>
      <p:sp>
        <p:nvSpPr>
          <p:cNvPr id="135" name="Shape 135"/>
          <p:cNvSpPr/>
          <p:nvPr/>
        </p:nvSpPr>
        <p:spPr>
          <a:xfrm>
            <a:off x="6492240" y="448068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6" name="Shape 136"/>
          <p:cNvSpPr/>
          <p:nvPr/>
        </p:nvSpPr>
        <p:spPr>
          <a:xfrm>
            <a:off x="6684645" y="4343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</a:p>
        </p:txBody>
      </p:sp>
      <p:sp>
        <p:nvSpPr>
          <p:cNvPr id="137" name="Shape 137"/>
          <p:cNvSpPr/>
          <p:nvPr/>
        </p:nvSpPr>
        <p:spPr>
          <a:xfrm>
            <a:off x="7907920" y="434352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&lt;project&gt;/.claude/skills/&lt;name&gt;/SKILL.md</a:t>
            </a:r>
          </a:p>
        </p:txBody>
      </p:sp>
      <p:sp>
        <p:nvSpPr>
          <p:cNvPr id="138" name="Shape 138"/>
          <p:cNvSpPr/>
          <p:nvPr/>
        </p:nvSpPr>
        <p:spPr>
          <a:xfrm>
            <a:off x="6492240" y="484644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9" name="Shape 139"/>
          <p:cNvSpPr/>
          <p:nvPr/>
        </p:nvSpPr>
        <p:spPr>
          <a:xfrm>
            <a:off x="6684645" y="4709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</a:p>
        </p:txBody>
      </p:sp>
      <p:sp>
        <p:nvSpPr>
          <p:cNvPr id="140" name="Shape 140"/>
          <p:cNvSpPr/>
          <p:nvPr/>
        </p:nvSpPr>
        <p:spPr>
          <a:xfrm>
            <a:off x="7907920" y="470928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&lt;project&gt;/CLAUDE.md  (shared with the team)</a:t>
            </a:r>
          </a:p>
        </p:txBody>
      </p:sp>
      <p:sp>
        <p:nvSpPr>
          <p:cNvPr id="141" name="Shape 141"/>
          <p:cNvSpPr/>
          <p:nvPr/>
        </p:nvSpPr>
        <p:spPr>
          <a:xfrm>
            <a:off x="6492240" y="521220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2" name="Shape 142"/>
          <p:cNvSpPr/>
          <p:nvPr/>
        </p:nvSpPr>
        <p:spPr>
          <a:xfrm>
            <a:off x="6684645" y="5075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</a:p>
        </p:txBody>
      </p:sp>
      <p:sp>
        <p:nvSpPr>
          <p:cNvPr id="143" name="Shape 143"/>
          <p:cNvSpPr/>
          <p:nvPr/>
        </p:nvSpPr>
        <p:spPr>
          <a:xfrm>
            <a:off x="7907920" y="507504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&lt;project&gt;/.claude/settings.json  →  "hooks"</a:t>
            </a:r>
          </a:p>
        </p:txBody>
      </p:sp>
      <p:sp>
        <p:nvSpPr>
          <p:cNvPr id="144" name="Shape 144"/>
          <p:cNvSpPr/>
          <p:nvPr/>
        </p:nvSpPr>
        <p:spPr>
          <a:xfrm>
            <a:off x="548640" y="56388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00" i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personal preferences at user level; commit team-shared rules, commands, skills and hooks at project level. Both levels load together — where they conflict, project settings take precedence.</a:t>
            </a:r>
          </a:p>
        </p:txBody>
      </p:sp>
      <p:sp>
        <p:nvSpPr>
          <p:cNvPr id="145" name="Shape 14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</a:p>
        </p:txBody>
      </p:sp>
      <p:sp>
        <p:nvSpPr>
          <p:cNvPr id="146" name="Shape 146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</a:p>
        </p:txBody>
      </p:sp>
      <p:sp>
        <p:nvSpPr>
          <p:cNvPr id="147" name="Shape 14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CUSTOM COMMANDS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Slash Commands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 are reusable prompts saved as Markdown files. Type a slash command to run a multi-step workflow the same way every time.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live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.claude/commands/ in your project (or ~/.claude for personal).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make one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name.md — the filename becomes /name.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Claude Code to pick up new commands.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$ARGUMENTS to pass input into the command.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560320"/>
            <a:ext cx="5212080" cy="3017520"/>
          </a:xfrm>
          <a:prstGeom prst="roundRect">
            <a:avLst>
              <a:gd name="adj" fmla="val 1818"/>
            </a:avLst>
          </a:prstGeom>
          <a:solidFill>
            <a:srgbClr val="1B1A1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675120" y="2697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.claude/commands/gitpush.md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310896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 all code to GitHub, then:
1. Create a README
2. Enable GitHub Pages
3. Update repo About + Pages link
4. Scan for secrets before publishing
</a:t>
            </a:r>
            <a:r>
              <a:rPr lang="en-US" sz="13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 $ARGUMENTS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/gitpush Command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.claude/commands/gitpush.md in your project.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7767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40080" y="27767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127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push/update all code to GitHub.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3863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40080" y="33863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223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generate a README for the repository.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39959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640080" y="3995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39319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create a GitHub Page via GitHub Actions.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6055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640080" y="4605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5415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update the repo About section and add the GitHub Pages link.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215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640080" y="5215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261872" y="5151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security scan so no sensitive data is published.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Claude Code, then run /gitpush to execute the whole workflow.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sp>
        <p:nvSpPr>
          <p:cNvPr id="29" name="Text 21"/>
          <p:cNvSpPr/>
          <p:nvPr/>
        </p:nvSpPr>
        <p:spPr>
          <a:xfrm>
            <a:off x="11368735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MCP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MCP?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Context Protocol (MCP) is an open standard that lets Claude Code connect to external tools and data sources through a common interface — like a USB-C port for AI.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1546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Server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tools/data (e.g. Playwright, GitHub, databases).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3648456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31546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Client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8456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connects to servers and calls their tools.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6473952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112" y="31546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73952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or HTTP/SSE — transport-agnostic communication.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9299448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6608" y="31546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99448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server publishes callable actions Claude can use.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MCP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an MCP Server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server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mcp add — register an HTTP or local stdio server.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scope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(this project), project (.mcp.json, shared), or user (all projects).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use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mcp list to check status; /mcp to manage in-session.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828800"/>
            <a:ext cx="5212080" cy="3200400"/>
          </a:xfrm>
          <a:prstGeom prst="roundRect">
            <a:avLst>
              <a:gd name="adj" fmla="val 1714"/>
            </a:avLst>
          </a:prstGeom>
          <a:solidFill>
            <a:srgbClr val="1B1A1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675120" y="1965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0" y="233172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hosted server
</a:t>
            </a: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 mcp add --transport \
   http docs &lt;url&gt;
</a:t>
            </a: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local stdio server (project)
</a:t>
            </a: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 mcp add playwright \
   -s project -- npx -y \
   @playwright/mcp@latest
</a:t>
            </a: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 mcp list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53492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Project-scoped servers live in .mcp.json — commit it so teammates get the same tools.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MCP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Playwright MCP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Playwright MCP server lets Claude Code drive a real browser — open pages, click, fill forms and capture screenshots — perfect for testing the website you just built.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5486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at project level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server to your project's MCP config.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permissions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Claude to launch and control the browser.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tools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open your site and take a screenshot.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606040"/>
            <a:ext cx="5212080" cy="2743200"/>
          </a:xfrm>
          <a:prstGeom prst="roundRect">
            <a:avLst>
              <a:gd name="adj" fmla="val 2000"/>
            </a:avLst>
          </a:prstGeom>
          <a:solidFill>
            <a:srgbClr val="1B1A1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67512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315468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mcp add playwright \
    npx @playwright/mcp@latest
</a:t>
            </a: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my site and take a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screenshot, then add it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 the README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&amp; Use Playwright MCP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Playwright MCP tool at the project level.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browser permissions for Claude Code.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open your deployed website in the browser.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 screenshot of the site using the Playwright MCP tool.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screenshot to your README and push to GitHub.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screenshot renders correctly in your GitHub README.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11368735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3B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the Enquiry Form (Playwright)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enquiry form to send submissions to angch@tertiaryinfotech.com (e.g. Formspree or a fetch to your endpoint).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use the Playwright MCP tool to open your deployed site.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form with test data (name, email, message) and submit it.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success message appears and the data is captured in the console.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the enquiry email actually arrives in the inbox.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after each change so every enquiry reliably reaches your email.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11368735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657600"/>
            <a:ext cx="4572000" cy="4572000"/>
          </a:xfrm>
          <a:prstGeom prst="ellipse">
            <a:avLst/>
          </a:prstGeom>
          <a:solidFill>
            <a:srgbClr val="D97757">
              <a:alpha val="1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Skills, Agents &amp; Hooks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321040" y="1463040"/>
            <a:ext cx="3200400" cy="2724912"/>
          </a:xfrm>
          <a:prstGeom prst="roundRect">
            <a:avLst>
              <a:gd name="adj" fmla="val 3356"/>
            </a:avLst>
          </a:prstGeom>
          <a:solidFill>
            <a:srgbClr val="2E2C2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549640" y="1755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5256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49640" y="23225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52560" y="23042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49640" y="28895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52560" y="2871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49640" y="34564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0" y="34381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Summary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AGENT SKILLS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Skills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reusable folders of instructions (SKILL.md) plus optional scripts and resources that teach Claude how to do a specialised task. Claude loads a skill only when it's relevant.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1546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SKILL.md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description + instructions Claude follows on demand.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3648456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31546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skills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8456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.claude/skills/ — shared with your repo &amp; team.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6473952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112" y="31546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73952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skills add &lt;repo&gt; --skill &lt;name&gt;.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9299448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6608" y="31546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Customise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99448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skill to fit your project's needs.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AGENT SKILLS</a:t>
            </a:r>
          </a:p>
        </p:txBody>
      </p:sp>
      <p:sp>
        <p:nvSpPr>
          <p:cNvPr id="4" name="Text 4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SKILL.md vs CLAUDE.md</a:t>
            </a:r>
          </a:p>
        </p:txBody>
      </p:sp>
      <p:sp>
        <p:nvSpPr>
          <p:cNvPr id="5" name="Text 5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Markdown instruction files — the difference is WHEN Claude loads them.</a:t>
            </a:r>
          </a:p>
        </p:txBody>
      </p:sp>
      <p:sp>
        <p:nvSpPr>
          <p:cNvPr id="6" name="Shape 6"/>
          <p:cNvSpPr/>
          <p:nvPr/>
        </p:nvSpPr>
        <p:spPr>
          <a:xfrm>
            <a:off x="548640" y="2468880"/>
            <a:ext cx="5425440" cy="292608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7"/>
          <p:cNvSpPr/>
          <p:nvPr/>
        </p:nvSpPr>
        <p:spPr>
          <a:xfrm>
            <a:off x="777240" y="2697480"/>
            <a:ext cx="1005840" cy="91440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8"/>
          <p:cNvSpPr/>
          <p:nvPr/>
        </p:nvSpPr>
        <p:spPr>
          <a:xfrm>
            <a:off x="77724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SKILL.md</a:t>
            </a:r>
          </a:p>
        </p:txBody>
      </p:sp>
      <p:sp>
        <p:nvSpPr>
          <p:cNvPr id="9" name="Shape 9"/>
          <p:cNvSpPr/>
          <p:nvPr/>
        </p:nvSpPr>
        <p:spPr>
          <a:xfrm>
            <a:off x="777240" y="3337560"/>
            <a:ext cx="2377440" cy="320040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10"/>
          <p:cNvSpPr/>
          <p:nvPr/>
        </p:nvSpPr>
        <p:spPr>
          <a:xfrm>
            <a:off x="777240" y="3337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ON DEMAND</a:t>
            </a:r>
          </a:p>
        </p:txBody>
      </p:sp>
      <p:sp>
        <p:nvSpPr>
          <p:cNvPr id="11" name="Shape 11"/>
          <p:cNvSpPr/>
          <p:nvPr/>
        </p:nvSpPr>
        <p:spPr>
          <a:xfrm>
            <a:off x="822960" y="393192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2"/>
          <p:cNvSpPr/>
          <p:nvPr/>
        </p:nvSpPr>
        <p:spPr>
          <a:xfrm>
            <a:off x="1015365" y="3749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</a:p>
        </p:txBody>
      </p:sp>
      <p:sp>
        <p:nvSpPr>
          <p:cNvPr id="13" name="Text 13"/>
          <p:cNvSpPr/>
          <p:nvPr/>
        </p:nvSpPr>
        <p:spPr>
          <a:xfrm>
            <a:off x="2057400" y="374904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the name + description, and loads it only when the task matches.</a:t>
            </a:r>
          </a:p>
        </p:txBody>
      </p:sp>
      <p:sp>
        <p:nvSpPr>
          <p:cNvPr id="14" name="Shape 14"/>
          <p:cNvSpPr/>
          <p:nvPr/>
        </p:nvSpPr>
        <p:spPr>
          <a:xfrm>
            <a:off x="822960" y="433197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5"/>
          <p:cNvSpPr/>
          <p:nvPr/>
        </p:nvSpPr>
        <p:spPr>
          <a:xfrm>
            <a:off x="1015365" y="414909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</a:p>
        </p:txBody>
      </p:sp>
      <p:sp>
        <p:nvSpPr>
          <p:cNvPr id="16" name="Text 16"/>
          <p:cNvSpPr/>
          <p:nvPr/>
        </p:nvSpPr>
        <p:spPr>
          <a:xfrm>
            <a:off x="2057400" y="414909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specialised capability — a workflow, a format, a house standard.</a:t>
            </a:r>
          </a:p>
        </p:txBody>
      </p:sp>
      <p:sp>
        <p:nvSpPr>
          <p:cNvPr id="17" name="Shape 17"/>
          <p:cNvSpPr/>
          <p:nvPr/>
        </p:nvSpPr>
        <p:spPr>
          <a:xfrm>
            <a:off x="822960" y="473202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8"/>
          <p:cNvSpPr/>
          <p:nvPr/>
        </p:nvSpPr>
        <p:spPr>
          <a:xfrm>
            <a:off x="1015365" y="45491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</a:p>
        </p:txBody>
      </p:sp>
      <p:sp>
        <p:nvSpPr>
          <p:cNvPr id="19" name="Text 19"/>
          <p:cNvSpPr/>
          <p:nvPr/>
        </p:nvSpPr>
        <p:spPr>
          <a:xfrm>
            <a:off x="2057400" y="454914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no context until it fires; you can keep dozens installed.</a:t>
            </a:r>
          </a:p>
        </p:txBody>
      </p:sp>
      <p:sp>
        <p:nvSpPr>
          <p:cNvPr id="20" name="Shape 20"/>
          <p:cNvSpPr/>
          <p:nvPr/>
        </p:nvSpPr>
        <p:spPr>
          <a:xfrm>
            <a:off x="822960" y="513207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21"/>
          <p:cNvSpPr/>
          <p:nvPr/>
        </p:nvSpPr>
        <p:spPr>
          <a:xfrm>
            <a:off x="1015365" y="494919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</a:t>
            </a:r>
          </a:p>
        </p:txBody>
      </p:sp>
      <p:sp>
        <p:nvSpPr>
          <p:cNvPr id="22" name="Text 22"/>
          <p:cNvSpPr/>
          <p:nvPr/>
        </p:nvSpPr>
        <p:spPr>
          <a:xfrm>
            <a:off x="2057400" y="494919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.claude/skills/&lt;name&gt;/SKILL.md</a:t>
            </a:r>
          </a:p>
        </p:txBody>
      </p:sp>
      <p:sp>
        <p:nvSpPr>
          <p:cNvPr id="23" name="Shape 23"/>
          <p:cNvSpPr/>
          <p:nvPr/>
        </p:nvSpPr>
        <p:spPr>
          <a:xfrm>
            <a:off x="6217920" y="2468880"/>
            <a:ext cx="5425440" cy="292608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4"/>
          <p:cNvSpPr/>
          <p:nvPr/>
        </p:nvSpPr>
        <p:spPr>
          <a:xfrm>
            <a:off x="6446520" y="2697480"/>
            <a:ext cx="1005840" cy="914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5"/>
          <p:cNvSpPr/>
          <p:nvPr/>
        </p:nvSpPr>
        <p:spPr>
          <a:xfrm>
            <a:off x="644652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CLAUDE.md</a:t>
            </a:r>
          </a:p>
        </p:txBody>
      </p:sp>
      <p:sp>
        <p:nvSpPr>
          <p:cNvPr id="26" name="Shape 26"/>
          <p:cNvSpPr/>
          <p:nvPr/>
        </p:nvSpPr>
        <p:spPr>
          <a:xfrm>
            <a:off x="6446520" y="3337560"/>
            <a:ext cx="237744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7"/>
          <p:cNvSpPr/>
          <p:nvPr/>
        </p:nvSpPr>
        <p:spPr>
          <a:xfrm>
            <a:off x="6446520" y="3337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EVERY SESSION</a:t>
            </a:r>
          </a:p>
        </p:txBody>
      </p:sp>
      <p:sp>
        <p:nvSpPr>
          <p:cNvPr id="28" name="Shape 28"/>
          <p:cNvSpPr/>
          <p:nvPr/>
        </p:nvSpPr>
        <p:spPr>
          <a:xfrm>
            <a:off x="6492240" y="393192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9"/>
          <p:cNvSpPr/>
          <p:nvPr/>
        </p:nvSpPr>
        <p:spPr>
          <a:xfrm>
            <a:off x="6684645" y="3749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</a:p>
        </p:txBody>
      </p:sp>
      <p:sp>
        <p:nvSpPr>
          <p:cNvPr id="30" name="Text 30"/>
          <p:cNvSpPr/>
          <p:nvPr/>
        </p:nvSpPr>
        <p:spPr>
          <a:xfrm>
            <a:off x="7726680" y="374904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automatically at the start of every session — always in context.</a:t>
            </a:r>
          </a:p>
        </p:txBody>
      </p:sp>
      <p:sp>
        <p:nvSpPr>
          <p:cNvPr id="31" name="Shape 31"/>
          <p:cNvSpPr/>
          <p:nvPr/>
        </p:nvSpPr>
        <p:spPr>
          <a:xfrm>
            <a:off x="6492240" y="433197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2"/>
          <p:cNvSpPr/>
          <p:nvPr/>
        </p:nvSpPr>
        <p:spPr>
          <a:xfrm>
            <a:off x="6684645" y="414909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</a:p>
        </p:txBody>
      </p:sp>
      <p:sp>
        <p:nvSpPr>
          <p:cNvPr id="33" name="Text 33"/>
          <p:cNvSpPr/>
          <p:nvPr/>
        </p:nvSpPr>
        <p:spPr>
          <a:xfrm>
            <a:off x="7726680" y="414909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Project-wide facts: stack, conventions, commands, do-nots.</a:t>
            </a:r>
          </a:p>
        </p:txBody>
      </p:sp>
      <p:sp>
        <p:nvSpPr>
          <p:cNvPr id="34" name="Shape 34"/>
          <p:cNvSpPr/>
          <p:nvPr/>
        </p:nvSpPr>
        <p:spPr>
          <a:xfrm>
            <a:off x="6492240" y="473202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5"/>
          <p:cNvSpPr/>
          <p:nvPr/>
        </p:nvSpPr>
        <p:spPr>
          <a:xfrm>
            <a:off x="6684645" y="45491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</a:p>
        </p:txBody>
      </p:sp>
      <p:sp>
        <p:nvSpPr>
          <p:cNvPr id="36" name="Text 36"/>
          <p:cNvSpPr/>
          <p:nvPr/>
        </p:nvSpPr>
        <p:spPr>
          <a:xfrm>
            <a:off x="7726680" y="454914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 context on every turn, so keep it tight and high-value.</a:t>
            </a:r>
          </a:p>
        </p:txBody>
      </p:sp>
      <p:sp>
        <p:nvSpPr>
          <p:cNvPr id="37" name="Shape 37"/>
          <p:cNvSpPr/>
          <p:nvPr/>
        </p:nvSpPr>
        <p:spPr>
          <a:xfrm>
            <a:off x="6492240" y="513207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8"/>
          <p:cNvSpPr/>
          <p:nvPr/>
        </p:nvSpPr>
        <p:spPr>
          <a:xfrm>
            <a:off x="6684645" y="494919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</a:t>
            </a:r>
          </a:p>
        </p:txBody>
      </p:sp>
      <p:sp>
        <p:nvSpPr>
          <p:cNvPr id="39" name="Text 39"/>
          <p:cNvSpPr/>
          <p:nvPr/>
        </p:nvSpPr>
        <p:spPr>
          <a:xfrm>
            <a:off x="7726680" y="494919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at the project root (or ~/.claude/CLAUDE.md)</a:t>
            </a:r>
          </a:p>
        </p:txBody>
      </p:sp>
      <p:sp>
        <p:nvSpPr>
          <p:cNvPr id="40" name="Text 40"/>
          <p:cNvSpPr/>
          <p:nvPr/>
        </p:nvSpPr>
        <p:spPr>
          <a:xfrm>
            <a:off x="548640" y="56388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00" i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stable project facts in CLAUDE.md; put specialised, occasional procedures in a skill.</a:t>
            </a:r>
          </a:p>
        </p:txBody>
      </p:sp>
      <p:sp>
        <p:nvSpPr>
          <p:cNvPr id="41" name="Text 4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</a:p>
        </p:txBody>
      </p:sp>
      <p:sp>
        <p:nvSpPr>
          <p:cNvPr id="42" name="Text 42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</a:p>
        </p:txBody>
      </p:sp>
      <p:sp>
        <p:nvSpPr>
          <p:cNvPr id="43" name="Text 4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&amp; Run Skills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frontend-design: npx skills add https://github.com/anthropics/skills --skill frontend-design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Customise the frontend design to appeal to software-dev clients.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seo-audit: npx skills add https://github.com/coreyhaines31/marketingskills --skill seo-audit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seo-audit skill to optimise the website's SEO.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the improvements and push to GitHub.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skills install into .claude/skills/ at the project level.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11368735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SUB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 Agents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 are specialised assistants with their own prompt, tools and context window. Delegate focused jobs — like security review or UX critique — to keep the main thread clean.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5486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with /agents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Project to save under .claude/agents/.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clear role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purpose, tools and when to invoke it.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context</a:t>
            </a:r>
            <a:endParaRPr lang="en-US" sz="15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 agent runs in its own context window.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606040"/>
            <a:ext cx="5212080" cy="2743200"/>
          </a:xfrm>
          <a:prstGeom prst="roundRect">
            <a:avLst>
              <a:gd name="adj" fmla="val 2000"/>
            </a:avLst>
          </a:prstGeom>
          <a:solidFill>
            <a:srgbClr val="1B1A1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67512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.claude/agents/security-scan.md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315468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
</a:t>
            </a: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</a:t>
            </a: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security-scan
</a:t>
            </a: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</a:t>
            </a: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for vulns
  &amp; hardening
</a:t>
            </a: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
</a:t>
            </a: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security reviewer...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SUB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Use Sub Agents?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a sub agent when a side task would flood your main conversation with output you won't reference again.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Preserve context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&amp; logs stay in the agent's own window — only the summary returns.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 constraints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exactly which tools the sub agent is allowed to use.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 &amp; specialise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configs across projects; focused prompts for each domain.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costs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narrow tasks to a faster, cheaper model.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custom sub agent when you keep spawning the same kind of worker with the same instructions.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SUB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 Agents vs Agent Teams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8E5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 Agents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355080" y="146304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8E5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Teams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6D2E4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4709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Agent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554480" y="2468880"/>
            <a:ext cx="0" cy="64008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14400" y="31089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C2603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Subagent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554480" y="3566160"/>
            <a:ext cx="0" cy="5029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271016" y="4242816"/>
            <a:ext cx="566928" cy="566928"/>
          </a:xfrm>
          <a:prstGeom prst="ellipse">
            <a:avLst/>
          </a:prstGeom>
          <a:solidFill>
            <a:srgbClr val="2E2C26"/>
          </a:solidFill>
          <a:ln w="12700">
            <a:solidFill>
              <a:srgbClr val="8A867D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271016" y="4242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68980" y="2468880"/>
            <a:ext cx="0" cy="64008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2628900" y="31089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C2603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262890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Subagent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68980" y="3566160"/>
            <a:ext cx="0" cy="5029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2985516" y="4242816"/>
            <a:ext cx="566928" cy="566928"/>
          </a:xfrm>
          <a:prstGeom prst="ellipse">
            <a:avLst/>
          </a:prstGeom>
          <a:solidFill>
            <a:srgbClr val="2E2C26"/>
          </a:solidFill>
          <a:ln w="12700">
            <a:solidFill>
              <a:srgbClr val="8A867D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2985516" y="4242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83480" y="2468880"/>
            <a:ext cx="0" cy="64008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343400" y="31089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C2603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34340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Subagent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83480" y="3566160"/>
            <a:ext cx="0" cy="5029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700016" y="4242816"/>
            <a:ext cx="566928" cy="566928"/>
          </a:xfrm>
          <a:prstGeom prst="ellipse">
            <a:avLst/>
          </a:prstGeom>
          <a:solidFill>
            <a:srgbClr val="2E2C26"/>
          </a:solidFill>
          <a:ln w="12700">
            <a:solidFill>
              <a:srgbClr val="8A867D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700016" y="4242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83080" y="25420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520440" y="36393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85800" y="2240280"/>
            <a:ext cx="0" cy="22860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685800" y="4526280"/>
            <a:ext cx="502920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85800" y="2240280"/>
            <a:ext cx="228600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502920" y="4617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675120" y="2011680"/>
            <a:ext cx="4617720" cy="457200"/>
          </a:xfrm>
          <a:prstGeom prst="roundRect">
            <a:avLst>
              <a:gd name="adj" fmla="val 12000"/>
            </a:avLst>
          </a:prstGeom>
          <a:solidFill>
            <a:srgbClr val="6D2E4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675120" y="2011680"/>
            <a:ext cx="461772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Agent (Team Lead)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983980" y="2468880"/>
            <a:ext cx="0" cy="54864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9052560" y="25054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&amp; assign tasks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675120" y="3017520"/>
            <a:ext cx="4617720" cy="457200"/>
          </a:xfrm>
          <a:prstGeom prst="roundRect">
            <a:avLst>
              <a:gd name="adj" fmla="val 12000"/>
            </a:avLst>
          </a:prstGeom>
          <a:solidFill>
            <a:srgbClr val="26405A"/>
          </a:solidFill>
          <a:ln w="19050">
            <a:solidFill>
              <a:srgbClr val="4F86C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675120" y="3017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Task List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315200" y="3474720"/>
            <a:ext cx="0" cy="6858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6656832" y="4160520"/>
            <a:ext cx="1316736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6656832" y="4160520"/>
            <a:ext cx="1316736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Teammate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315200" y="5074920"/>
            <a:ext cx="0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6766560" y="5029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983980" y="3474720"/>
            <a:ext cx="0" cy="6858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8325612" y="4160520"/>
            <a:ext cx="1316736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8325612" y="4160520"/>
            <a:ext cx="1316736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Teammate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983980" y="5074920"/>
            <a:ext cx="0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8435340" y="5029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0652760" y="3474720"/>
            <a:ext cx="0" cy="6858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9994392" y="4160520"/>
            <a:ext cx="1316736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9994392" y="4160520"/>
            <a:ext cx="1316736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Teammate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0652760" y="5074920"/>
            <a:ext cx="0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10104120" y="5029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498080" y="35844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tasks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973568" y="4389120"/>
            <a:ext cx="347472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9646920" y="4389120"/>
            <a:ext cx="347472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8321040" y="4480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B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 report back to one main agent · agent teams coordinate via a shared task list.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sp>
        <p:nvSpPr>
          <p:cNvPr id="59" name="Text 21"/>
          <p:cNvSpPr/>
          <p:nvPr/>
        </p:nvSpPr>
        <p:spPr>
          <a:xfrm>
            <a:off x="11368735" y="6565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Custom Sub Agents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security-scan sub agent in .claude/agents/ to find vulnerabilities and harden the site.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and apply the recommended fixes.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lead-magnets: npx skills add https://github.com/coreyhaines31/marketingskills --skill lead-magnets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UI/UX review sub agent that uses lead-magnets to optimise for lead capture.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improvements and push to GitHub.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agents live in .claude/agents/ at the project level.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11368735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HOOKS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are shell commands that run automatically at defined points in Claude Code's lifecycle — letting you enforce rules, format code, or trigger actions without asking.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1546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PreToolUse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before a tool — validate or block an action.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3648456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31546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PostToolUse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48456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after a tool — auto-format or test.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6473952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112" y="31546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73952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when Claude needs input or finishes.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9299448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6608" y="31546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99448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cleanup or checks when a task ends.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8640" y="56235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in .claude/settings.json under "hooks".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HOOKS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Automating with Hooks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not optional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always run at their event — they don't rely on the model deciding to.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uses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Auto-format after edits, run tests, block risky commands, send notifications.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"hooks" block to .claude/settings.json (matchers + commands).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828800"/>
            <a:ext cx="5212080" cy="3291840"/>
          </a:xfrm>
          <a:prstGeom prst="roundRect">
            <a:avLst>
              <a:gd name="adj" fmla="val 1667"/>
            </a:avLst>
          </a:prstGeom>
          <a:solidFill>
            <a:srgbClr val="1B1A1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675120" y="1965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.claude/settings.json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0" y="233172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  "hooks": {
</a:t>
            </a: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"PostToolUse": [{
</a:t>
            </a: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"matcher": "Edit|Write",
      "hooks": [{
        "type": "command",
</a:t>
            </a: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"command":
          "npx prettier --write ."
</a:t>
            </a: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receive event context on stdin as JSON — perfect for lint, format and guardrail scripts.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Hooks — Floating WhatsApp Widget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floating WhatsApp widget to the bottom-right of the website from Activity 1.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7767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40080" y="27767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127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it as a round WhatsApp button that expands into a chat panel on click.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3863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40080" y="33863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223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Claude Code hook that fires 10 seconds after page load to auto-open the widget.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39959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640080" y="3995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39319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auto-open, prompt the user “Hi! How can I help you?” with suggested queries as quick-reply chips.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6055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640080" y="4605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5415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voice activation — let the visitor speak their question using the Web Speech API.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215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640080" y="5215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261872" y="5151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Playwright MCP to test the 10-second auto-open, the suggested queries and the voice prompt.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4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live in .claude/hooks + .claude/settings.json; the widget behaviour lives in script.js.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sp>
        <p:nvSpPr>
          <p:cNvPr id="29" name="Text 21"/>
          <p:cNvSpPr/>
          <p:nvPr/>
        </p:nvSpPr>
        <p:spPr>
          <a:xfrm>
            <a:off x="11368735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Test, Optimise &amp; Deploy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Playwright MCP to test the enquiry form end-to-end.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all enquiries are sent to angch@tertiaryinfotech.com.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WhatsApp floating widget (bottom-right) with suggestive queries, linked to +65 9698 3731.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final security scan and lead-magnet UX review.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final version and verify the live site end-to-end.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Record the live URL and the tests completed for your final verification.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11368735" y="658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 ·  SUMMARY</a:t>
            </a:r>
          </a:p>
        </p:txBody>
      </p:sp>
      <p:sp>
        <p:nvSpPr>
          <p:cNvPr id="12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Triggers What</a:t>
            </a:r>
          </a:p>
        </p:txBody>
      </p:sp>
      <p:sp>
        <p:nvSpPr>
          <p:cNvPr id="14" name="Text 2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ways to extend Claude Code — each one is loaded by a different trigger. Knowing which fires when is how you choose the right mechanism.</a:t>
            </a:r>
          </a:p>
        </p:txBody>
      </p:sp>
      <p:sp>
        <p:nvSpPr>
          <p:cNvPr id="16" name="Card 0"/>
          <p:cNvSpPr/>
          <p:nvPr/>
        </p:nvSpPr>
        <p:spPr>
          <a:xfrm>
            <a:off x="548640" y="1901952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>
            <a:endParaRPr/>
          </a:p>
        </p:txBody>
      </p:sp>
      <p:sp>
        <p:nvSpPr>
          <p:cNvPr id="18" name="Tab 0"/>
          <p:cNvSpPr/>
          <p:nvPr/>
        </p:nvSpPr>
        <p:spPr>
          <a:xfrm>
            <a:off x="749808" y="2075688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20" name="Name 0"/>
          <p:cNvSpPr/>
          <p:nvPr/>
        </p:nvSpPr>
        <p:spPr>
          <a:xfrm>
            <a:off x="960120" y="1901952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</a:p>
        </p:txBody>
      </p:sp>
      <p:sp>
        <p:nvSpPr>
          <p:cNvPr id="22" name="Pill 0"/>
          <p:cNvSpPr/>
          <p:nvPr/>
        </p:nvSpPr>
        <p:spPr>
          <a:xfrm>
            <a:off x="3154680" y="2116836"/>
            <a:ext cx="169164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24" name="Badge 0"/>
          <p:cNvSpPr/>
          <p:nvPr/>
        </p:nvSpPr>
        <p:spPr>
          <a:xfrm>
            <a:off x="3154680" y="2116836"/>
            <a:ext cx="1691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</a:t>
            </a:r>
          </a:p>
        </p:txBody>
      </p:sp>
      <p:sp>
        <p:nvSpPr>
          <p:cNvPr id="26" name="Desc 0"/>
          <p:cNvSpPr/>
          <p:nvPr/>
        </p:nvSpPr>
        <p:spPr>
          <a:xfrm>
            <a:off x="5074920" y="1901952"/>
            <a:ext cx="6858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memory — read automatically at the start of every session, so it is always in context.</a:t>
            </a:r>
          </a:p>
        </p:txBody>
      </p:sp>
      <p:sp>
        <p:nvSpPr>
          <p:cNvPr id="28" name="Card 1"/>
          <p:cNvSpPr/>
          <p:nvPr/>
        </p:nvSpPr>
        <p:spPr>
          <a:xfrm>
            <a:off x="548640" y="2606040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>
            <a:endParaRPr/>
          </a:p>
        </p:txBody>
      </p:sp>
      <p:sp>
        <p:nvSpPr>
          <p:cNvPr id="30" name="Tab 1"/>
          <p:cNvSpPr/>
          <p:nvPr/>
        </p:nvSpPr>
        <p:spPr>
          <a:xfrm>
            <a:off x="749808" y="2779776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32" name="Name 1"/>
          <p:cNvSpPr/>
          <p:nvPr/>
        </p:nvSpPr>
        <p:spPr>
          <a:xfrm>
            <a:off x="960120" y="2606040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</a:p>
        </p:txBody>
      </p:sp>
      <p:sp>
        <p:nvSpPr>
          <p:cNvPr id="34" name="Pill 1"/>
          <p:cNvSpPr/>
          <p:nvPr/>
        </p:nvSpPr>
        <p:spPr>
          <a:xfrm>
            <a:off x="3154680" y="2820924"/>
            <a:ext cx="169164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36" name="Badge 1"/>
          <p:cNvSpPr/>
          <p:nvPr/>
        </p:nvSpPr>
        <p:spPr>
          <a:xfrm>
            <a:off x="3154680" y="2820924"/>
            <a:ext cx="1691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DEMAND</a:t>
            </a:r>
          </a:p>
        </p:txBody>
      </p:sp>
      <p:sp>
        <p:nvSpPr>
          <p:cNvPr id="38" name="Desc 1"/>
          <p:cNvSpPr/>
          <p:nvPr/>
        </p:nvSpPr>
        <p:spPr>
          <a:xfrm>
            <a:off x="5074920" y="2606040"/>
            <a:ext cx="6858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folders — Claude reads the name + description, and loads one when the task matches.</a:t>
            </a:r>
          </a:p>
        </p:txBody>
      </p:sp>
      <p:sp>
        <p:nvSpPr>
          <p:cNvPr id="40" name="Card 2"/>
          <p:cNvSpPr/>
          <p:nvPr/>
        </p:nvSpPr>
        <p:spPr>
          <a:xfrm>
            <a:off x="548640" y="3310128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>
            <a:endParaRPr/>
          </a:p>
        </p:txBody>
      </p:sp>
      <p:sp>
        <p:nvSpPr>
          <p:cNvPr id="42" name="Tab 2"/>
          <p:cNvSpPr/>
          <p:nvPr/>
        </p:nvSpPr>
        <p:spPr>
          <a:xfrm>
            <a:off x="749808" y="3483864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44" name="Name 2"/>
          <p:cNvSpPr/>
          <p:nvPr/>
        </p:nvSpPr>
        <p:spPr>
          <a:xfrm>
            <a:off x="960120" y="3310128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MCP</a:t>
            </a:r>
          </a:p>
        </p:txBody>
      </p:sp>
      <p:sp>
        <p:nvSpPr>
          <p:cNvPr id="46" name="Pill 2"/>
          <p:cNvSpPr/>
          <p:nvPr/>
        </p:nvSpPr>
        <p:spPr>
          <a:xfrm>
            <a:off x="3154680" y="3525012"/>
            <a:ext cx="169164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48" name="Badge 2"/>
          <p:cNvSpPr/>
          <p:nvPr/>
        </p:nvSpPr>
        <p:spPr>
          <a:xfrm>
            <a:off x="3154680" y="3525012"/>
            <a:ext cx="1691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DEMAND</a:t>
            </a:r>
          </a:p>
        </p:txBody>
      </p:sp>
      <p:sp>
        <p:nvSpPr>
          <p:cNvPr id="50" name="Desc 2"/>
          <p:cNvSpPr/>
          <p:nvPr/>
        </p:nvSpPr>
        <p:spPr>
          <a:xfrm>
            <a:off x="5074920" y="3310128"/>
            <a:ext cx="6858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and MCP tools — invoked by Claude during the agentic loop whenever the job needs them.</a:t>
            </a:r>
          </a:p>
        </p:txBody>
      </p:sp>
      <p:sp>
        <p:nvSpPr>
          <p:cNvPr id="52" name="Card 3"/>
          <p:cNvSpPr/>
          <p:nvPr/>
        </p:nvSpPr>
        <p:spPr>
          <a:xfrm>
            <a:off x="548640" y="4014216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>
            <a:endParaRPr/>
          </a:p>
        </p:txBody>
      </p:sp>
      <p:sp>
        <p:nvSpPr>
          <p:cNvPr id="54" name="Tab 3"/>
          <p:cNvSpPr/>
          <p:nvPr/>
        </p:nvSpPr>
        <p:spPr>
          <a:xfrm>
            <a:off x="749808" y="4187952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56" name="Name 3"/>
          <p:cNvSpPr/>
          <p:nvPr/>
        </p:nvSpPr>
        <p:spPr>
          <a:xfrm>
            <a:off x="960120" y="4014216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Commands</a:t>
            </a:r>
          </a:p>
        </p:txBody>
      </p:sp>
      <p:sp>
        <p:nvSpPr>
          <p:cNvPr id="58" name="Pill 3"/>
          <p:cNvSpPr/>
          <p:nvPr/>
        </p:nvSpPr>
        <p:spPr>
          <a:xfrm>
            <a:off x="3154680" y="4229100"/>
            <a:ext cx="169164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60" name="Badge 3"/>
          <p:cNvSpPr/>
          <p:nvPr/>
        </p:nvSpPr>
        <p:spPr>
          <a:xfrm>
            <a:off x="3154680" y="4229100"/>
            <a:ext cx="1691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</a:t>
            </a:r>
          </a:p>
        </p:txBody>
      </p:sp>
      <p:sp>
        <p:nvSpPr>
          <p:cNvPr id="62" name="Desc 3"/>
          <p:cNvSpPr/>
          <p:nvPr/>
        </p:nvSpPr>
        <p:spPr>
          <a:xfrm>
            <a:off x="5074920" y="4014216"/>
            <a:ext cx="6858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prompts in .claude/commands/ — they run only when you type /&lt;name&gt; yourself.</a:t>
            </a:r>
          </a:p>
        </p:txBody>
      </p:sp>
      <p:sp>
        <p:nvSpPr>
          <p:cNvPr id="64" name="Card 4"/>
          <p:cNvSpPr/>
          <p:nvPr/>
        </p:nvSpPr>
        <p:spPr>
          <a:xfrm>
            <a:off x="548640" y="4718304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>
            <a:endParaRPr/>
          </a:p>
        </p:txBody>
      </p:sp>
      <p:sp>
        <p:nvSpPr>
          <p:cNvPr id="66" name="Tab 4"/>
          <p:cNvSpPr/>
          <p:nvPr/>
        </p:nvSpPr>
        <p:spPr>
          <a:xfrm>
            <a:off x="749808" y="4892040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68" name="Name 4"/>
          <p:cNvSpPr/>
          <p:nvPr/>
        </p:nvSpPr>
        <p:spPr>
          <a:xfrm>
            <a:off x="960120" y="4718304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</a:p>
        </p:txBody>
      </p:sp>
      <p:sp>
        <p:nvSpPr>
          <p:cNvPr id="70" name="Pill 4"/>
          <p:cNvSpPr/>
          <p:nvPr/>
        </p:nvSpPr>
        <p:spPr>
          <a:xfrm>
            <a:off x="3154680" y="4933188"/>
            <a:ext cx="169164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72" name="Badge 4"/>
          <p:cNvSpPr/>
          <p:nvPr/>
        </p:nvSpPr>
        <p:spPr>
          <a:xfrm>
            <a:off x="3154680" y="4933188"/>
            <a:ext cx="1691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EVENT</a:t>
            </a:r>
          </a:p>
        </p:txBody>
      </p:sp>
      <p:sp>
        <p:nvSpPr>
          <p:cNvPr id="74" name="Desc 4"/>
          <p:cNvSpPr/>
          <p:nvPr/>
        </p:nvSpPr>
        <p:spPr>
          <a:xfrm>
            <a:off x="5074920" y="4718304"/>
            <a:ext cx="6858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commands in settings.json — fired deterministically by a lifecycle event, not by the model.</a:t>
            </a:r>
          </a:p>
        </p:txBody>
      </p:sp>
      <p:sp>
        <p:nvSpPr>
          <p:cNvPr id="76" name="Card 5"/>
          <p:cNvSpPr/>
          <p:nvPr/>
        </p:nvSpPr>
        <p:spPr>
          <a:xfrm>
            <a:off x="548640" y="5422392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>
            <a:endParaRPr/>
          </a:p>
        </p:txBody>
      </p:sp>
      <p:sp>
        <p:nvSpPr>
          <p:cNvPr id="78" name="Tab 5"/>
          <p:cNvSpPr/>
          <p:nvPr/>
        </p:nvSpPr>
        <p:spPr>
          <a:xfrm>
            <a:off x="749808" y="5596128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80" name="Name 5"/>
          <p:cNvSpPr/>
          <p:nvPr/>
        </p:nvSpPr>
        <p:spPr>
          <a:xfrm>
            <a:off x="960120" y="5422392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</a:t>
            </a:r>
          </a:p>
        </p:txBody>
      </p:sp>
      <p:sp>
        <p:nvSpPr>
          <p:cNvPr id="82" name="Pill 5"/>
          <p:cNvSpPr/>
          <p:nvPr/>
        </p:nvSpPr>
        <p:spPr>
          <a:xfrm>
            <a:off x="3154680" y="5637276"/>
            <a:ext cx="169164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84" name="Badge 5"/>
          <p:cNvSpPr/>
          <p:nvPr/>
        </p:nvSpPr>
        <p:spPr>
          <a:xfrm>
            <a:off x="3154680" y="5637276"/>
            <a:ext cx="1691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DELEGATION</a:t>
            </a:r>
          </a:p>
        </p:txBody>
      </p:sp>
      <p:sp>
        <p:nvSpPr>
          <p:cNvPr id="86" name="Desc 5"/>
          <p:cNvSpPr/>
          <p:nvPr/>
        </p:nvSpPr>
        <p:spPr>
          <a:xfrm>
            <a:off x="5074920" y="5422392"/>
            <a:ext cx="6858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assistants with their own context — spawned when the main agent delegates a job.</a:t>
            </a:r>
          </a:p>
        </p:txBody>
      </p:sp>
      <p:sp>
        <p:nvSpPr>
          <p:cNvPr id="88" name="Tip"/>
          <p:cNvSpPr/>
          <p:nvPr/>
        </p:nvSpPr>
        <p:spPr>
          <a:xfrm>
            <a:off x="548640" y="62179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0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context is expensive — keep CLAUDE.md tight and push specialised, occasional procedures into skills, commands and sub agents.</a:t>
            </a:r>
          </a:p>
        </p:txBody>
      </p:sp>
      <p:sp>
        <p:nvSpPr>
          <p:cNvPr id="90" name="Foot L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</a:p>
        </p:txBody>
      </p:sp>
      <p:sp>
        <p:nvSpPr>
          <p:cNvPr id="92" name="Foot C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</a:p>
        </p:txBody>
      </p:sp>
      <p:sp>
        <p:nvSpPr>
          <p:cNvPr id="94" name="Foot N"/>
          <p:cNvSpPr/>
          <p:nvPr/>
        </p:nvSpPr>
        <p:spPr>
          <a:xfrm>
            <a:off x="11373427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SECURITY</a:t>
            </a:r>
          </a:p>
        </p:txBody>
      </p:sp>
      <p:sp>
        <p:nvSpPr>
          <p:cNvPr id="12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Principles of AI Security</a:t>
            </a:r>
          </a:p>
        </p:txBody>
      </p:sp>
      <p:sp>
        <p:nvSpPr>
          <p:cNvPr id="14" name="Text 2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act on your behalf. These five controls keep what they can see and do safe, reviewable and accountable.</a:t>
            </a:r>
          </a:p>
        </p:txBody>
      </p:sp>
      <p:sp>
        <p:nvSpPr>
          <p:cNvPr id="16" name="Card 0"/>
          <p:cNvSpPr/>
          <p:nvPr/>
        </p:nvSpPr>
        <p:spPr>
          <a:xfrm>
            <a:off x="548640" y="196596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>
            <a:endParaRPr/>
          </a:p>
        </p:txBody>
      </p:sp>
      <p:sp>
        <p:nvSpPr>
          <p:cNvPr id="18" name="Tab 0"/>
          <p:cNvSpPr/>
          <p:nvPr/>
        </p:nvSpPr>
        <p:spPr>
          <a:xfrm>
            <a:off x="749808" y="2171700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20" name="Name 0"/>
          <p:cNvSpPr/>
          <p:nvPr/>
        </p:nvSpPr>
        <p:spPr>
          <a:xfrm>
            <a:off x="960120" y="196596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Control</a:t>
            </a:r>
          </a:p>
        </p:txBody>
      </p:sp>
      <p:sp>
        <p:nvSpPr>
          <p:cNvPr id="22" name="Pill 0"/>
          <p:cNvSpPr/>
          <p:nvPr/>
        </p:nvSpPr>
        <p:spPr>
          <a:xfrm>
            <a:off x="3063240" y="2212848"/>
            <a:ext cx="210312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24" name="Badge 0"/>
          <p:cNvSpPr/>
          <p:nvPr/>
        </p:nvSpPr>
        <p:spPr>
          <a:xfrm>
            <a:off x="3063240" y="2212848"/>
            <a:ext cx="21031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CAN SEE</a:t>
            </a:r>
          </a:p>
        </p:txBody>
      </p:sp>
      <p:sp>
        <p:nvSpPr>
          <p:cNvPr id="26" name="Desc 0"/>
          <p:cNvSpPr/>
          <p:nvPr/>
        </p:nvSpPr>
        <p:spPr>
          <a:xfrm>
            <a:off x="5394960" y="196596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your data (public, internal, confidential) and decide exactly which data the AI may access.</a:t>
            </a:r>
          </a:p>
        </p:txBody>
      </p:sp>
      <p:sp>
        <p:nvSpPr>
          <p:cNvPr id="28" name="Card 1"/>
          <p:cNvSpPr/>
          <p:nvPr/>
        </p:nvSpPr>
        <p:spPr>
          <a:xfrm>
            <a:off x="548640" y="278892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>
            <a:endParaRPr/>
          </a:p>
        </p:txBody>
      </p:sp>
      <p:sp>
        <p:nvSpPr>
          <p:cNvPr id="30" name="Tab 1"/>
          <p:cNvSpPr/>
          <p:nvPr/>
        </p:nvSpPr>
        <p:spPr>
          <a:xfrm>
            <a:off x="749808" y="2994660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32" name="Name 1"/>
          <p:cNvSpPr/>
          <p:nvPr/>
        </p:nvSpPr>
        <p:spPr>
          <a:xfrm>
            <a:off x="960120" y="278892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Control</a:t>
            </a:r>
          </a:p>
        </p:txBody>
      </p:sp>
      <p:sp>
        <p:nvSpPr>
          <p:cNvPr id="34" name="Pill 1"/>
          <p:cNvSpPr/>
          <p:nvPr/>
        </p:nvSpPr>
        <p:spPr>
          <a:xfrm>
            <a:off x="3063240" y="3035808"/>
            <a:ext cx="210312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36" name="Badge 1"/>
          <p:cNvSpPr/>
          <p:nvPr/>
        </p:nvSpPr>
        <p:spPr>
          <a:xfrm>
            <a:off x="3063240" y="3035808"/>
            <a:ext cx="21031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CAN DO</a:t>
            </a:r>
          </a:p>
        </p:txBody>
      </p:sp>
      <p:sp>
        <p:nvSpPr>
          <p:cNvPr id="38" name="Desc 1"/>
          <p:cNvSpPr/>
          <p:nvPr/>
        </p:nvSpPr>
        <p:spPr>
          <a:xfrm>
            <a:off x="5394960" y="278892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only the rights needed — read, write, edit, delete. Ask before anything destructive.</a:t>
            </a:r>
          </a:p>
        </p:txBody>
      </p:sp>
      <p:sp>
        <p:nvSpPr>
          <p:cNvPr id="40" name="Card 2"/>
          <p:cNvSpPr/>
          <p:nvPr/>
        </p:nvSpPr>
        <p:spPr>
          <a:xfrm>
            <a:off x="548640" y="361188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>
            <a:endParaRPr/>
          </a:p>
        </p:txBody>
      </p:sp>
      <p:sp>
        <p:nvSpPr>
          <p:cNvPr id="42" name="Tab 2"/>
          <p:cNvSpPr/>
          <p:nvPr/>
        </p:nvSpPr>
        <p:spPr>
          <a:xfrm>
            <a:off x="749808" y="3817620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44" name="Name 2"/>
          <p:cNvSpPr/>
          <p:nvPr/>
        </p:nvSpPr>
        <p:spPr>
          <a:xfrm>
            <a:off x="960120" y="361188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</a:t>
            </a:r>
          </a:p>
        </p:txBody>
      </p:sp>
      <p:sp>
        <p:nvSpPr>
          <p:cNvPr id="46" name="Pill 2"/>
          <p:cNvSpPr/>
          <p:nvPr/>
        </p:nvSpPr>
        <p:spPr>
          <a:xfrm>
            <a:off x="3063240" y="3858768"/>
            <a:ext cx="210312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48" name="Badge 2"/>
          <p:cNvSpPr/>
          <p:nvPr/>
        </p:nvSpPr>
        <p:spPr>
          <a:xfrm>
            <a:off x="3063240" y="3858768"/>
            <a:ext cx="21031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APPROVES</a:t>
            </a:r>
          </a:p>
        </p:txBody>
      </p:sp>
      <p:sp>
        <p:nvSpPr>
          <p:cNvPr id="50" name="Desc 2"/>
          <p:cNvSpPr/>
          <p:nvPr/>
        </p:nvSpPr>
        <p:spPr>
          <a:xfrm>
            <a:off x="5394960" y="361188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reviews and approves high-impact actions — deploys, deletions, payments, emails.</a:t>
            </a:r>
          </a:p>
        </p:txBody>
      </p:sp>
      <p:sp>
        <p:nvSpPr>
          <p:cNvPr id="52" name="Card 3"/>
          <p:cNvSpPr/>
          <p:nvPr/>
        </p:nvSpPr>
        <p:spPr>
          <a:xfrm>
            <a:off x="548640" y="443484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>
            <a:endParaRPr/>
          </a:p>
        </p:txBody>
      </p:sp>
      <p:sp>
        <p:nvSpPr>
          <p:cNvPr id="54" name="Tab 3"/>
          <p:cNvSpPr/>
          <p:nvPr/>
        </p:nvSpPr>
        <p:spPr>
          <a:xfrm>
            <a:off x="749808" y="4640580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56" name="Name 3"/>
          <p:cNvSpPr/>
          <p:nvPr/>
        </p:nvSpPr>
        <p:spPr>
          <a:xfrm>
            <a:off x="960120" y="443484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</a:p>
        </p:txBody>
      </p:sp>
      <p:sp>
        <p:nvSpPr>
          <p:cNvPr id="58" name="Pill 3"/>
          <p:cNvSpPr/>
          <p:nvPr/>
        </p:nvSpPr>
        <p:spPr>
          <a:xfrm>
            <a:off x="3063240" y="4681728"/>
            <a:ext cx="210312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60" name="Badge 3"/>
          <p:cNvSpPr/>
          <p:nvPr/>
        </p:nvSpPr>
        <p:spPr>
          <a:xfrm>
            <a:off x="3063240" y="4681728"/>
            <a:ext cx="21031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</a:p>
        </p:txBody>
      </p:sp>
      <p:sp>
        <p:nvSpPr>
          <p:cNvPr id="62" name="Desc 3"/>
          <p:cNvSpPr/>
          <p:nvPr/>
        </p:nvSpPr>
        <p:spPr>
          <a:xfrm>
            <a:off x="5394960" y="443484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prompt, tool call and change so actions can be audited, explained and rolled back.</a:t>
            </a:r>
          </a:p>
        </p:txBody>
      </p:sp>
      <p:sp>
        <p:nvSpPr>
          <p:cNvPr id="64" name="Card 4"/>
          <p:cNvSpPr/>
          <p:nvPr/>
        </p:nvSpPr>
        <p:spPr>
          <a:xfrm>
            <a:off x="548640" y="525780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>
            <a:endParaRPr/>
          </a:p>
        </p:txBody>
      </p:sp>
      <p:sp>
        <p:nvSpPr>
          <p:cNvPr id="66" name="Tab 4"/>
          <p:cNvSpPr/>
          <p:nvPr/>
        </p:nvSpPr>
        <p:spPr>
          <a:xfrm>
            <a:off x="749808" y="5463540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68" name="Name 4"/>
          <p:cNvSpPr/>
          <p:nvPr/>
        </p:nvSpPr>
        <p:spPr>
          <a:xfrm>
            <a:off x="960120" y="525780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 Models</a:t>
            </a:r>
          </a:p>
        </p:txBody>
      </p:sp>
      <p:sp>
        <p:nvSpPr>
          <p:cNvPr id="70" name="Pill 4"/>
          <p:cNvSpPr/>
          <p:nvPr/>
        </p:nvSpPr>
        <p:spPr>
          <a:xfrm>
            <a:off x="3063240" y="5504688"/>
            <a:ext cx="210312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72" name="Badge 4"/>
          <p:cNvSpPr/>
          <p:nvPr/>
        </p:nvSpPr>
        <p:spPr>
          <a:xfrm>
            <a:off x="3063240" y="5504688"/>
            <a:ext cx="21031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MOST POWERFUL</a:t>
            </a:r>
          </a:p>
        </p:txBody>
      </p:sp>
      <p:sp>
        <p:nvSpPr>
          <p:cNvPr id="74" name="Desc 4"/>
          <p:cNvSpPr/>
          <p:nvPr/>
        </p:nvSpPr>
        <p:spPr>
          <a:xfrm>
            <a:off x="5394960" y="525780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use the most powerful models by default — the smallest model that does the job has less autonomy and risk.</a:t>
            </a:r>
          </a:p>
        </p:txBody>
      </p:sp>
      <p:sp>
        <p:nvSpPr>
          <p:cNvPr id="88" name="Tip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0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Claude Code: permission modes &amp; allow/deny rules, hooks for guardrails &amp; logs, plan mode for human review.</a:t>
            </a:r>
          </a:p>
        </p:txBody>
      </p:sp>
      <p:sp>
        <p:nvSpPr>
          <p:cNvPr id="90" name="Foot L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</a:p>
        </p:txBody>
      </p:sp>
      <p:sp>
        <p:nvSpPr>
          <p:cNvPr id="92" name="Foot C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</a:p>
        </p:txBody>
      </p:sp>
      <p:sp>
        <p:nvSpPr>
          <p:cNvPr id="94" name="Foot N"/>
          <p:cNvSpPr/>
          <p:nvPr/>
        </p:nvSpPr>
        <p:spPr>
          <a:xfrm>
            <a:off x="11373427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Q&amp;A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031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20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383280" y="19202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loop and context engineering power everything Claude Code does.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80720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777240" y="2990088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12724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94436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2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383280" y="29443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 and MCP tools automate and extend your workflow.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83133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777240" y="4014216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15137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968496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3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3383280" y="396849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sub agents and hooks make Claude a specialised teammate.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485546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777240" y="5038344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17550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99262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 Build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3383280" y="4992624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built, deployed, tested, secured and optimised a real website.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assessment stage, follow these five steps in order.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04672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87121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04672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TRAQOM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TRAQOM QR code on the LMS and complete the survey.</a:t>
            </a:r>
            <a:endParaRPr lang="en-US" sz="11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6896" y="3813048"/>
            <a:ext cx="146304" cy="14630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98064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21201C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9"/>
          <p:cNvSpPr/>
          <p:nvPr/>
        </p:nvSpPr>
        <p:spPr>
          <a:xfrm>
            <a:off x="3054096" y="2743200"/>
            <a:ext cx="512064" cy="512064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2112" y="2871216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054096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3054096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054096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assessment digital attendance.</a:t>
            </a:r>
            <a:endParaRPr lang="en-US" sz="11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813048"/>
            <a:ext cx="146304" cy="14630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047488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4"/>
          <p:cNvSpPr/>
          <p:nvPr/>
        </p:nvSpPr>
        <p:spPr>
          <a:xfrm>
            <a:off x="5303520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1536" y="2871216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03520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303520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5303520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WA &amp; PP.</a:t>
            </a:r>
            <a:endParaRPr lang="en-US" sz="11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744" y="3813048"/>
            <a:ext cx="146304" cy="146304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7296912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21201C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19"/>
          <p:cNvSpPr/>
          <p:nvPr/>
        </p:nvSpPr>
        <p:spPr>
          <a:xfrm>
            <a:off x="7552944" y="2743200"/>
            <a:ext cx="512064" cy="512064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2871216"/>
            <a:ext cx="256032" cy="25603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552944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30" name="Text 21"/>
          <p:cNvSpPr/>
          <p:nvPr/>
        </p:nvSpPr>
        <p:spPr>
          <a:xfrm>
            <a:off x="7552944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 Answers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7552944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assessment answers on the LMS.</a:t>
            </a:r>
            <a:endParaRPr lang="en-US" sz="110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5168" y="3813048"/>
            <a:ext cx="146304" cy="146304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9546336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4" name="Shape 24"/>
          <p:cNvSpPr/>
          <p:nvPr/>
        </p:nvSpPr>
        <p:spPr>
          <a:xfrm>
            <a:off x="9802368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30384" y="2871216"/>
            <a:ext cx="256032" cy="25603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802368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37" name="Text 26"/>
          <p:cNvSpPr/>
          <p:nvPr/>
        </p:nvSpPr>
        <p:spPr>
          <a:xfrm>
            <a:off x="9802368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the Record</a:t>
            </a:r>
            <a:endParaRPr lang="en-US" sz="1400" dirty="0"/>
          </a:p>
        </p:txBody>
      </p:sp>
      <p:sp>
        <p:nvSpPr>
          <p:cNvPr id="38" name="Text 27"/>
          <p:cNvSpPr/>
          <p:nvPr/>
        </p:nvSpPr>
        <p:spPr>
          <a:xfrm>
            <a:off x="9802368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your Assessment Summary Record.</a:t>
            </a:r>
            <a:endParaRPr lang="en-US" sz="1100" dirty="0"/>
          </a:p>
        </p:txBody>
      </p:sp>
      <p:sp>
        <p:nvSpPr>
          <p:cNvPr id="39" name="Text 28"/>
          <p:cNvSpPr/>
          <p:nvPr/>
        </p:nvSpPr>
        <p:spPr>
          <a:xfrm>
            <a:off x="548640" y="55778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Courseware and the assessment are on the LMS: https://lms-tms.tertiaryinfotech.com/</a:t>
            </a:r>
            <a:endParaRPr lang="en-US" sz="1300" dirty="0"/>
          </a:p>
        </p:txBody>
      </p:sp>
      <p:sp>
        <p:nvSpPr>
          <p:cNvPr id="40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41" name="Text 3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42" name="Text 3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&amp; TRAQOM Survey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6868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3317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TRAQOM Survey (Mandatory)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certification &amp; TRAQOM survey to receive your certificate.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ai-lms-tms.tertiaryinfo.tech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21201C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653796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33172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Attendance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3796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to take AM, PM and Assessment digital attendance — required for your funding.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D97757">
              <a:alpha val="1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058400" y="4023360"/>
            <a:ext cx="3657600" cy="3657600"/>
          </a:xfrm>
          <a:prstGeom prst="ellipse">
            <a:avLst/>
          </a:prstGeom>
          <a:solidFill>
            <a:srgbClr val="3A7D7B">
              <a:alpha val="1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We're here to help — during and after class.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enquiry@tertiaryinfotech.com   |   +65 6100 0613</a:t>
            </a:r>
            <a:endParaRPr lang="en-US" sz="15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HOOKS IN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 1 · Pop-up After 10 Seconds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timed page hook: stay on the page for 10 seconds and a dialog pops up with a key message — no click needed.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900" dirty="0"/>
          </a:p>
        </p:txBody>
      </p:sp>
      <p:sp>
        <p:nvSpPr>
          <p:cNvPr id="13" name="Rectangle 12"/>
          <p:cNvSpPr/>
          <p:nvPr/>
        </p:nvSpPr>
        <p:spPr>
          <a:xfrm>
            <a:off x="548640" y="2121408"/>
            <a:ext cx="6269449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176272"/>
            <a:ext cx="6159721" cy="3749039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2576252" y="2331799"/>
            <a:ext cx="2251061" cy="1600299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20804" y="2176351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9037" y="3195388"/>
            <a:ext cx="2005490" cy="368355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49080" y="3039940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8451" y="3625136"/>
            <a:ext cx="356076" cy="184177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000979" y="3561777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Oval 20"/>
          <p:cNvSpPr/>
          <p:nvPr/>
        </p:nvSpPr>
        <p:spPr>
          <a:xfrm>
            <a:off x="7086600" y="2194560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2176272"/>
            <a:ext cx="406908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The 10-second pop-up</a:t>
            </a:r>
          </a:p>
          <a:p>
            <a:pPr algn="l"/>
            <a:r>
              <a:rPr sz="1150" b="0">
                <a:solidFill>
                  <a:srgbClr val="6B6862"/>
                </a:solidFill>
                <a:latin typeface="Calibri"/>
              </a:rPr>
              <a:t>A timer starts on page load; after 10 s the dialog opens and the page behind is dimmed.</a:t>
            </a:r>
          </a:p>
        </p:txBody>
      </p:sp>
      <p:sp>
        <p:nvSpPr>
          <p:cNvPr id="23" name="Oval 22"/>
          <p:cNvSpPr/>
          <p:nvPr/>
        </p:nvSpPr>
        <p:spPr>
          <a:xfrm>
            <a:off x="7086600" y="2926080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907792"/>
            <a:ext cx="406908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One clear message</a:t>
            </a:r>
          </a:p>
          <a:p>
            <a:pPr algn="l"/>
            <a:r>
              <a:rPr sz="1150" b="0">
                <a:solidFill>
                  <a:srgbClr val="6B6862"/>
                </a:solidFill>
                <a:latin typeface="Calibri"/>
              </a:rPr>
              <a:t>Headline, a short sentence and the key facts (When / Where) at a glance.</a:t>
            </a:r>
          </a:p>
        </p:txBody>
      </p:sp>
      <p:sp>
        <p:nvSpPr>
          <p:cNvPr id="25" name="Oval 24"/>
          <p:cNvSpPr/>
          <p:nvPr/>
        </p:nvSpPr>
        <p:spPr>
          <a:xfrm>
            <a:off x="7086600" y="3657600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3639312"/>
            <a:ext cx="406908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Easy to dismiss</a:t>
            </a:r>
          </a:p>
          <a:p>
            <a:pPr algn="l"/>
            <a:r>
              <a:rPr sz="1150" b="0">
                <a:solidFill>
                  <a:srgbClr val="6B6862"/>
                </a:solidFill>
                <a:latin typeface="Calibri"/>
              </a:rPr>
              <a:t>Got it closes the dialog and remembers it, so it shows once per visitor.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4526280"/>
            <a:ext cx="4572000" cy="1371600"/>
          </a:xfrm>
          <a:prstGeom prst="rect">
            <a:avLst/>
          </a:prstGeom>
          <a:solidFill>
            <a:srgbClr val="1B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87768" y="461772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A867D"/>
                </a:solidFill>
                <a:latin typeface="Courier New"/>
              </a:rPr>
              <a:t>script.js — runs in the visitor's browser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87768" y="4892040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7FC4C1"/>
                </a:solidFill>
                <a:latin typeface="Courier New"/>
              </a:rPr>
              <a:t>setTimeout(() =&gt; {</a:t>
            </a:r>
          </a:p>
          <a:p>
            <a:pPr algn="l"/>
            <a:r>
              <a:rPr sz="1050" b="0">
                <a:solidFill>
                  <a:srgbClr val="7FC4C1"/>
                </a:solidFill>
                <a:latin typeface="Courier New"/>
              </a:rPr>
              <a:t>  if (!localStorage.getItem('briefingSeen'))</a:t>
            </a:r>
          </a:p>
          <a:p>
            <a:pPr algn="l"/>
            <a:r>
              <a:rPr sz="1050" b="0">
                <a:solidFill>
                  <a:srgbClr val="7FC4C1"/>
                </a:solidFill>
                <a:latin typeface="Courier New"/>
              </a:rPr>
              <a:t>    showBriefing();      // open the dialog</a:t>
            </a:r>
          </a:p>
          <a:p>
            <a:pPr algn="l"/>
            <a:r>
              <a:rPr sz="1050" b="0">
                <a:solidFill>
                  <a:srgbClr val="7FC4C1"/>
                </a:solidFill>
                <a:latin typeface="Courier New"/>
              </a:rPr>
              <a:t>}, 10000);               // 10 s after load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97757"/>
                </a:solidFill>
                <a:latin typeface="Calibri"/>
              </a:rPr>
              <a:t>TIP  </a:t>
            </a:r>
            <a:r>
              <a:rPr sz="1300" b="1">
                <a:solidFill>
                  <a:srgbClr val="D97757"/>
                </a:solidFill>
                <a:latin typeface="Calibri"/>
              </a:rPr>
              <a:t>Ask Claude Code for it in plain English — e.g. “show this announcement 10 seconds after the page loads, once per visitor.”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HOOKS IN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 2 · Voice Greeting on Chat Click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event hook: click the chat icon and the assistant speaks a greeting, then offers one-tap topics that open WhatsApp.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900" dirty="0"/>
          </a:p>
        </p:txBody>
      </p:sp>
      <p:sp>
        <p:nvSpPr>
          <p:cNvPr id="13" name="Rectangle 12"/>
          <p:cNvSpPr/>
          <p:nvPr/>
        </p:nvSpPr>
        <p:spPr>
          <a:xfrm>
            <a:off x="548640" y="2121408"/>
            <a:ext cx="3803363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1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176272"/>
            <a:ext cx="3693635" cy="3749039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858520" y="5583650"/>
            <a:ext cx="281639" cy="258554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11048" y="5557479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05726" y="2942701"/>
            <a:ext cx="1546709" cy="434002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58254" y="3004254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05726" y="3441342"/>
            <a:ext cx="1546709" cy="1805264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58254" y="4188526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27236" y="5329713"/>
            <a:ext cx="1708306" cy="161596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79764" y="5255063"/>
            <a:ext cx="310896" cy="310896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3" name="Oval 22"/>
          <p:cNvSpPr/>
          <p:nvPr/>
        </p:nvSpPr>
        <p:spPr>
          <a:xfrm>
            <a:off x="4846320" y="2194560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176272"/>
            <a:ext cx="6309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Click the chat icon</a:t>
            </a:r>
          </a:p>
          <a:p>
            <a:pPr algn="l"/>
            <a:r>
              <a:rPr sz="1150" b="0">
                <a:solidFill>
                  <a:srgbClr val="6B6862"/>
                </a:solidFill>
                <a:latin typeface="Calibri"/>
              </a:rPr>
              <a:t>The round WhatsApp button (bottom-right) is the trigger — the click event fires the hook.</a:t>
            </a:r>
          </a:p>
        </p:txBody>
      </p:sp>
      <p:sp>
        <p:nvSpPr>
          <p:cNvPr id="25" name="Oval 24"/>
          <p:cNvSpPr/>
          <p:nvPr/>
        </p:nvSpPr>
        <p:spPr>
          <a:xfrm>
            <a:off x="4846320" y="2798064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2779776"/>
            <a:ext cx="6309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Voice greeting + welcome</a:t>
            </a:r>
          </a:p>
          <a:p>
            <a:pPr algn="l"/>
            <a:r>
              <a:rPr sz="1150" b="0">
                <a:solidFill>
                  <a:srgbClr val="6B6862"/>
                </a:solidFill>
                <a:latin typeface="Calibri"/>
              </a:rPr>
              <a:t>The assistant says “Hi, I am your assistant. How can I help you today?” as the panel opens.</a:t>
            </a:r>
          </a:p>
        </p:txBody>
      </p:sp>
      <p:sp>
        <p:nvSpPr>
          <p:cNvPr id="27" name="Oval 26"/>
          <p:cNvSpPr/>
          <p:nvPr/>
        </p:nvSpPr>
        <p:spPr>
          <a:xfrm>
            <a:off x="4846320" y="3401568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3383279"/>
            <a:ext cx="6309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Quick-reply topics</a:t>
            </a:r>
          </a:p>
          <a:p>
            <a:pPr algn="l"/>
            <a:r>
              <a:rPr sz="1150" b="0">
                <a:solidFill>
                  <a:srgbClr val="6B6862"/>
                </a:solidFill>
                <a:latin typeface="Calibri"/>
              </a:rPr>
              <a:t>One-tap buttons for the most common questions — no typing needed.</a:t>
            </a:r>
          </a:p>
        </p:txBody>
      </p:sp>
      <p:sp>
        <p:nvSpPr>
          <p:cNvPr id="29" name="Oval 28"/>
          <p:cNvSpPr/>
          <p:nvPr/>
        </p:nvSpPr>
        <p:spPr>
          <a:xfrm>
            <a:off x="4846320" y="4005072"/>
            <a:ext cx="365760" cy="36576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3986784"/>
            <a:ext cx="6309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1201C"/>
                </a:solidFill>
                <a:latin typeface="Cambria"/>
              </a:rPr>
              <a:t>Hand-off to WhatsApp</a:t>
            </a:r>
          </a:p>
          <a:p>
            <a:pPr algn="l"/>
            <a:r>
              <a:rPr sz="1150" b="0">
                <a:solidFill>
                  <a:srgbClr val="6B6862"/>
                </a:solidFill>
                <a:latin typeface="Calibri"/>
              </a:rPr>
              <a:t>Picking a topic opens WhatsApp with the question ready to send.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0" y="4572000"/>
            <a:ext cx="6812280" cy="1371600"/>
          </a:xfrm>
          <a:prstGeom prst="rect">
            <a:avLst/>
          </a:prstGeom>
          <a:solidFill>
            <a:srgbClr val="1B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4663440"/>
            <a:ext cx="6446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A867D"/>
                </a:solidFill>
                <a:latin typeface="Courier New"/>
              </a:rPr>
              <a:t>script.js — Web Speech API (speech synthesis)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4937760"/>
            <a:ext cx="6446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FC4C1"/>
                </a:solidFill>
                <a:latin typeface="Courier New"/>
              </a:rPr>
              <a:t>chatIcon.addEventListener('click', () =&gt; {</a:t>
            </a:r>
          </a:p>
          <a:p>
            <a:pPr algn="l"/>
            <a:r>
              <a:rPr sz="1000" b="0">
                <a:solidFill>
                  <a:srgbClr val="7FC4C1"/>
                </a:solidFill>
                <a:latin typeface="Courier New"/>
              </a:rPr>
              <a:t>  openPanel();</a:t>
            </a:r>
          </a:p>
          <a:p>
            <a:pPr algn="l"/>
            <a:r>
              <a:rPr sz="1000" b="0">
                <a:solidFill>
                  <a:srgbClr val="7FC4C1"/>
                </a:solidFill>
                <a:latin typeface="Courier New"/>
              </a:rPr>
              <a:t>  speechSynthesis.speak(new SpeechSynthesisUtterance(</a:t>
            </a:r>
          </a:p>
          <a:p>
            <a:pPr algn="l"/>
            <a:r>
              <a:rPr sz="1000" b="0">
                <a:solidFill>
                  <a:srgbClr val="7FC4C1"/>
                </a:solidFill>
                <a:latin typeface="Courier New"/>
              </a:rPr>
              <a:t>    'Hi, I am your assistant. How can I help you today?'));</a:t>
            </a:r>
          </a:p>
          <a:p>
            <a:pPr algn="l"/>
            <a:r>
              <a:rPr sz="1000" b="0">
                <a:solidFill>
                  <a:srgbClr val="7FC4C1"/>
                </a:solidFill>
                <a:latin typeface="Courier New"/>
              </a:rPr>
              <a:t>});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97757"/>
                </a:solidFill>
                <a:latin typeface="Calibri"/>
              </a:rPr>
              <a:t>TIP  </a:t>
            </a:r>
            <a:r>
              <a:rPr sz="1300" b="1">
                <a:solidFill>
                  <a:srgbClr val="D97757"/>
                </a:solidFill>
                <a:latin typeface="Calibri"/>
              </a:rPr>
              <a:t>Browsers block sound until the visitor interacts — so the voice plays on click, not on page load.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9011</Words>
  <Application>Microsoft Macintosh PowerPoint</Application>
  <PresentationFormat>Widescreen</PresentationFormat>
  <Paragraphs>1357</Paragraphs>
  <Slides>79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6" baseType="lpstr">
      <vt:lpstr>Aptos</vt:lpstr>
      <vt:lpstr>Arial</vt:lpstr>
      <vt:lpstr>Calibri</vt:lpstr>
      <vt:lpstr>Cambria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Applications with Claude Code</dc:title>
  <dc:subject>PptxGenJS Presentation</dc:subject>
  <dc:creator>Dr. Alfred Ang</dc:creator>
  <cp:lastModifiedBy>TIA Training 1</cp:lastModifiedBy>
  <cp:revision>4</cp:revision>
  <dcterms:created xsi:type="dcterms:W3CDTF">2026-06-27T18:49:35Z</dcterms:created>
  <dcterms:modified xsi:type="dcterms:W3CDTF">2026-10-29T02:55:30Z</dcterms:modified>
</cp:coreProperties>
</file>