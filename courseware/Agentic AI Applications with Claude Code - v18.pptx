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325" r:id="rId76"/>
    <p:sldId id="263" r:id="rId9"/>
    <p:sldId id="264" r:id="rId10"/>
    <p:sldId id="265" r:id="rId11"/>
    <p:sldId id="328" r:id="rId73"/>
    <p:sldId id="266" r:id="rId12"/>
    <p:sldId id="267" r:id="rId13"/>
    <p:sldId id="268" r:id="rId14"/>
    <p:sldId id="326" r:id="rId77"/>
    <p:sldId id="269" r:id="rId15"/>
    <p:sldId id="270" r:id="rId16"/>
    <p:sldId id="271" r:id="rId17"/>
    <p:sldId id="272" r:id="rId18"/>
    <p:sldId id="273" r:id="rId19"/>
    <p:sldId id="320" r:id="rId71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323" r:id="rId74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21" r:id="rId72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5" r:id="rId61"/>
    <p:sldId id="324" r:id="rId75"/>
    <p:sldId id="327" r:id="rId78"/>
    <p:sldId id="316" r:id="rId62"/>
    <p:sldId id="317" r:id="rId63"/>
    <p:sldId id="318" r:id="rId64"/>
    <p:sldId id="319" r:id="rId65"/>
  </p:sldIdLst>
  <p:notesMasterIdLst>
    <p:notesMasterId r:id="rId6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slide" Target="slides/slide16.xml"/><Relationship Id="rId16" Type="http://schemas.openxmlformats.org/officeDocument/2006/relationships/slide" Target="slides/slide17.xml"/><Relationship Id="rId17" Type="http://schemas.openxmlformats.org/officeDocument/2006/relationships/slide" Target="slides/slide18.xml"/><Relationship Id="rId18" Type="http://schemas.openxmlformats.org/officeDocument/2006/relationships/slide" Target="slides/slide19.xml"/><Relationship Id="rId19" Type="http://schemas.openxmlformats.org/officeDocument/2006/relationships/slide" Target="slides/slide20.xml"/><Relationship Id="rId20" Type="http://schemas.openxmlformats.org/officeDocument/2006/relationships/slide" Target="slides/slide22.xml"/><Relationship Id="rId21" Type="http://schemas.openxmlformats.org/officeDocument/2006/relationships/slide" Target="slides/slide23.xml"/><Relationship Id="rId22" Type="http://schemas.openxmlformats.org/officeDocument/2006/relationships/slide" Target="slides/slide24.xml"/><Relationship Id="rId23" Type="http://schemas.openxmlformats.org/officeDocument/2006/relationships/slide" Target="slides/slide25.xml"/><Relationship Id="rId24" Type="http://schemas.openxmlformats.org/officeDocument/2006/relationships/slide" Target="slides/slide26.xml"/><Relationship Id="rId25" Type="http://schemas.openxmlformats.org/officeDocument/2006/relationships/slide" Target="slides/slide27.xml"/><Relationship Id="rId26" Type="http://schemas.openxmlformats.org/officeDocument/2006/relationships/slide" Target="slides/slide28.xml"/><Relationship Id="rId27" Type="http://schemas.openxmlformats.org/officeDocument/2006/relationships/slide" Target="slides/slide29.xml"/><Relationship Id="rId28" Type="http://schemas.openxmlformats.org/officeDocument/2006/relationships/slide" Target="slides/slide30.xml"/><Relationship Id="rId29" Type="http://schemas.openxmlformats.org/officeDocument/2006/relationships/slide" Target="slides/slide31.xml"/><Relationship Id="rId30" Type="http://schemas.openxmlformats.org/officeDocument/2006/relationships/slide" Target="slides/slide32.xml"/><Relationship Id="rId31" Type="http://schemas.openxmlformats.org/officeDocument/2006/relationships/slide" Target="slides/slide33.xml"/><Relationship Id="rId32" Type="http://schemas.openxmlformats.org/officeDocument/2006/relationships/slide" Target="slides/slide34.xml"/><Relationship Id="rId33" Type="http://schemas.openxmlformats.org/officeDocument/2006/relationships/slide" Target="slides/slide35.xml"/><Relationship Id="rId34" Type="http://schemas.openxmlformats.org/officeDocument/2006/relationships/slide" Target="slides/slide36.xml"/><Relationship Id="rId35" Type="http://schemas.openxmlformats.org/officeDocument/2006/relationships/slide" Target="slides/slide37.xml"/><Relationship Id="rId36" Type="http://schemas.openxmlformats.org/officeDocument/2006/relationships/slide" Target="slides/slide38.xml"/><Relationship Id="rId37" Type="http://schemas.openxmlformats.org/officeDocument/2006/relationships/slide" Target="slides/slide39.xml"/><Relationship Id="rId38" Type="http://schemas.openxmlformats.org/officeDocument/2006/relationships/slide" Target="slides/slide40.xml"/><Relationship Id="rId39" Type="http://schemas.openxmlformats.org/officeDocument/2006/relationships/slide" Target="slides/slide41.xml"/><Relationship Id="rId40" Type="http://schemas.openxmlformats.org/officeDocument/2006/relationships/slide" Target="slides/slide42.xml"/><Relationship Id="rId41" Type="http://schemas.openxmlformats.org/officeDocument/2006/relationships/slide" Target="slides/slide43.xml"/><Relationship Id="rId42" Type="http://schemas.openxmlformats.org/officeDocument/2006/relationships/slide" Target="slides/slide45.xml"/><Relationship Id="rId43" Type="http://schemas.openxmlformats.org/officeDocument/2006/relationships/slide" Target="slides/slide46.xml"/><Relationship Id="rId44" Type="http://schemas.openxmlformats.org/officeDocument/2006/relationships/slide" Target="slides/slide47.xml"/><Relationship Id="rId45" Type="http://schemas.openxmlformats.org/officeDocument/2006/relationships/slide" Target="slides/slide48.xml"/><Relationship Id="rId46" Type="http://schemas.openxmlformats.org/officeDocument/2006/relationships/slide" Target="slides/slide49.xml"/><Relationship Id="rId47" Type="http://schemas.openxmlformats.org/officeDocument/2006/relationships/slide" Target="slides/slide50.xml"/><Relationship Id="rId48" Type="http://schemas.openxmlformats.org/officeDocument/2006/relationships/slide" Target="slides/slide51.xml"/><Relationship Id="rId49" Type="http://schemas.openxmlformats.org/officeDocument/2006/relationships/slide" Target="slides/slide52.xml"/><Relationship Id="rId50" Type="http://schemas.openxmlformats.org/officeDocument/2006/relationships/slide" Target="slides/slide53.xml"/><Relationship Id="rId51" Type="http://schemas.openxmlformats.org/officeDocument/2006/relationships/slide" Target="slides/slide55.xml"/><Relationship Id="rId52" Type="http://schemas.openxmlformats.org/officeDocument/2006/relationships/slide" Target="slides/slide56.xml"/><Relationship Id="rId53" Type="http://schemas.openxmlformats.org/officeDocument/2006/relationships/slide" Target="slides/slide57.xml"/><Relationship Id="rId54" Type="http://schemas.openxmlformats.org/officeDocument/2006/relationships/slide" Target="slides/slide58.xml"/><Relationship Id="rId55" Type="http://schemas.openxmlformats.org/officeDocument/2006/relationships/slide" Target="slides/slide59.xml"/><Relationship Id="rId56" Type="http://schemas.openxmlformats.org/officeDocument/2006/relationships/slide" Target="slides/slide60.xml"/><Relationship Id="rId57" Type="http://schemas.openxmlformats.org/officeDocument/2006/relationships/slide" Target="slides/slide61.xml"/><Relationship Id="rId58" Type="http://schemas.openxmlformats.org/officeDocument/2006/relationships/slide" Target="slides/slide62.xml"/><Relationship Id="rId61" Type="http://schemas.openxmlformats.org/officeDocument/2006/relationships/slide" Target="slides/slide63.xml"/><Relationship Id="rId62" Type="http://schemas.openxmlformats.org/officeDocument/2006/relationships/slide" Target="slides/slide66.xml"/><Relationship Id="rId63" Type="http://schemas.openxmlformats.org/officeDocument/2006/relationships/slide" Target="slides/slide67.xml"/><Relationship Id="rId64" Type="http://schemas.openxmlformats.org/officeDocument/2006/relationships/slide" Target="slides/slide68.xml"/><Relationship Id="rId65" Type="http://schemas.openxmlformats.org/officeDocument/2006/relationships/slide" Target="slides/slide69.xml"/><Relationship Id="rId66" Type="http://schemas.openxmlformats.org/officeDocument/2006/relationships/notesMaster" Target="notesMasters/notesMaster1.xml"/><Relationship Id="rId67" Type="http://schemas.openxmlformats.org/officeDocument/2006/relationships/presProps" Target="presProps.xml"/><Relationship Id="rId68" Type="http://schemas.openxmlformats.org/officeDocument/2006/relationships/viewProps" Target="viewProps.xml"/><Relationship Id="rId69" Type="http://schemas.openxmlformats.org/officeDocument/2006/relationships/theme" Target="theme/theme1.xml"/><Relationship Id="rId70" Type="http://schemas.openxmlformats.org/officeDocument/2006/relationships/tableStyles" Target="tableStyles.xml"/><Relationship Id="rId71" Type="http://schemas.openxmlformats.org/officeDocument/2006/relationships/slide" Target="slides/slide21.xml"/><Relationship Id="rId72" Type="http://schemas.openxmlformats.org/officeDocument/2006/relationships/slide" Target="slides/slide54.xml"/><Relationship Id="rId73" Type="http://schemas.openxmlformats.org/officeDocument/2006/relationships/slide" Target="slides/slide70.xml"/><Relationship Id="rId74" Type="http://schemas.openxmlformats.org/officeDocument/2006/relationships/slide" Target="slides/slide44.xml"/><Relationship Id="rId75" Type="http://schemas.openxmlformats.org/officeDocument/2006/relationships/slide" Target="slides/slide64.xml"/><Relationship Id="rId76" Type="http://schemas.openxmlformats.org/officeDocument/2006/relationships/slide" Target="slides/slide8.xml"/><Relationship Id="rId77" Type="http://schemas.openxmlformats.org/officeDocument/2006/relationships/slide" Target="slides/slide15.xml"/><Relationship Id="rId78" Type="http://schemas.openxmlformats.org/officeDocument/2006/relationships/slide" Target="slides/slide6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hyperlink" Target="https://www.linkedin.com/in/angchewhoe/" TargetMode="External"/><Relationship Id="rId8" Type="http://schemas.openxmlformats.org/officeDocument/2006/relationships/image" Target="../media/image-4-7.png"/><Relationship Id="rId9" Type="http://schemas.openxmlformats.org/officeDocument/2006/relationships/hyperlink" Target="https://github.com/alfredang" TargetMode="External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Relationship Id="rId6" Type="http://schemas.openxmlformats.org/officeDocument/2006/relationships/image" Target="../media/image-11-4.png"/><Relationship Id="rId7" Type="http://schemas.openxmlformats.org/officeDocument/2006/relationships/hyperlink" Target="https://lms-tms.tertiaryinfotech.com/" TargetMode="External"/><Relationship Id="rId8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<Relationship Id="rId8" Type="http://schemas.openxmlformats.org/officeDocument/2006/relationships/image" Target="../media/image-13-6.png"/><Relationship Id="rId9" Type="http://schemas.openxmlformats.org/officeDocument/2006/relationships/image" Target="../media/image-13-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3.xml"/><Relationship Id="rId7" Type="http://schemas.openxmlformats.org/officeDocument/2006/relationships/image" Target="../media/image-23-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image" Target="../media/image-24-6.png"/><Relationship Id="rId7" Type="http://schemas.openxmlformats.org/officeDocument/2006/relationships/image" Target="../media/image-2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30-3.png"/><Relationship Id="rId4" Type="http://schemas.openxmlformats.org/officeDocument/2006/relationships/image" Target="../media/image-3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0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image" Target="../media/image-33-3.png"/><Relationship Id="rId4" Type="http://schemas.openxmlformats.org/officeDocument/2006/relationships/image" Target="../media/image-3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3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image" Target="../media/image-35-3.png"/><Relationship Id="rId4" Type="http://schemas.openxmlformats.org/officeDocument/2006/relationships/image" Target="../media/image-3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5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image" Target="../media/image-36-3.png"/><Relationship Id="rId4" Type="http://schemas.openxmlformats.org/officeDocument/2006/relationships/image" Target="../media/image-3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6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image" Target="../media/image-37-3.png"/><Relationship Id="rId4" Type="http://schemas.openxmlformats.org/officeDocument/2006/relationships/image" Target="../media/image-3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image" Target="../media/image-43-2.png"/><Relationship Id="rId3" Type="http://schemas.openxmlformats.org/officeDocument/2006/relationships/image" Target="../media/image-43-3.png"/><Relationship Id="rId4" Type="http://schemas.openxmlformats.org/officeDocument/2006/relationships/image" Target="../media/image-4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3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image" Target="../media/image-49-2.png"/><Relationship Id="rId3" Type="http://schemas.openxmlformats.org/officeDocument/2006/relationships/image" Target="../media/image-49-3.png"/><Relationship Id="rId4" Type="http://schemas.openxmlformats.org/officeDocument/2006/relationships/image" Target="../media/image-4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9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image" Target="../media/image-52-2.png"/><Relationship Id="rId3" Type="http://schemas.openxmlformats.org/officeDocument/2006/relationships/image" Target="../media/image-52-3.png"/><Relationship Id="rId4" Type="http://schemas.openxmlformats.org/officeDocument/2006/relationships/image" Target="../media/image-5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2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image" Target="../media/image-55-2.png"/><Relationship Id="rId3" Type="http://schemas.openxmlformats.org/officeDocument/2006/relationships/image" Target="../media/image-55-3.png"/><Relationship Id="rId4" Type="http://schemas.openxmlformats.org/officeDocument/2006/relationships/image" Target="../media/image-5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5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0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image" Target="../media/image-61-2.png"/><Relationship Id="rId3" Type="http://schemas.openxmlformats.org/officeDocument/2006/relationships/image" Target="../media/image-61-3.png"/><Relationship Id="rId4" Type="http://schemas.openxmlformats.org/officeDocument/2006/relationships/image" Target="../media/image-6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1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image" Target="../media/image-62-2.png"/><Relationship Id="rId3" Type="http://schemas.openxmlformats.org/officeDocument/2006/relationships/image" Target="../media/image-62-3.png"/><Relationship Id="rId4" Type="http://schemas.openxmlformats.org/officeDocument/2006/relationships/image" Target="../media/image-62-4.png"/><Relationship Id="rId5" Type="http://schemas.openxmlformats.org/officeDocument/2006/relationships/image" Target="../media/image-62-5.png"/><Relationship Id="rId6" Type="http://schemas.openxmlformats.org/officeDocument/2006/relationships/image" Target="../media/image-62-6.png"/><Relationship Id="rId7" Type="http://schemas.openxmlformats.org/officeDocument/2006/relationships/image" Target="../media/image-62-7.png"/><Relationship Id="rId8" Type="http://schemas.openxmlformats.org/officeDocument/2006/relationships/image" Target="../media/image-62-8.png"/><Relationship Id="rId9" Type="http://schemas.openxmlformats.org/officeDocument/2006/relationships/image" Target="../media/image-62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62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image" Target="../media/image-63-1.png"/><Relationship Id="rId2" Type="http://schemas.openxmlformats.org/officeDocument/2006/relationships/image" Target="../media/image-6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3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11-1.png"/><Relationship Id="rId3" Type="http://schemas.openxmlformats.org/officeDocument/2006/relationships/image" Target="../media/image-11-2.png"/><Relationship Id="rId4" Type="http://schemas.openxmlformats.org/officeDocument/2006/relationships/image" Target="../media/image-11-3.png"/><Relationship Id="rId5" Type="http://schemas.openxmlformats.org/officeDocument/2006/relationships/image" Target="../media/image-11-4.png"/><Relationship Id="rId6" Type="http://schemas.openxmlformats.org/officeDocument/2006/relationships/hyperlink" Target="https://lms-tms.tertiaryinfotech.com/" TargetMode="External"/><Relationship Id="rId7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0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463040"/>
            <a:ext cx="4206240" cy="4206240"/>
          </a:xfrm>
          <a:prstGeom prst="ellipse">
            <a:avLst/>
          </a:prstGeom>
          <a:solidFill>
            <a:srgbClr val="D97757">
              <a:alpha val="18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607040" y="4023360"/>
            <a:ext cx="3108960" cy="3108960"/>
          </a:xfrm>
          <a:prstGeom prst="ellipse">
            <a:avLst/>
          </a:prstGeom>
          <a:solidFill>
            <a:srgbClr val="3A7D7B">
              <a:alpha val="15000"/>
            </a:srgbClr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822960" y="13716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WSQ COURSE  •  TGS-2025052468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77240" y="1828800"/>
            <a:ext cx="1024128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Agentic AI Applications</a:t>
            </a:r>
            <a:endParaRPr lang="en-US" sz="5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with Claude Code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822960" y="521208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Tertiary Infotech Academy Pte Ltd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B9B4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UEN: 201200696W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2960" y="617220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B4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www.tertiarycourses.com.sg   |   enquiry@tertiaryinfotech.com   |   +65 6100 0613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778875" y="1371600"/>
            <a:ext cx="28641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B9B4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18.0  ·  14 Oct 2026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162495" y="63550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6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HOUSEKEEPING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Digital Attendance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66928" cy="566928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965960"/>
            <a:ext cx="292608" cy="29260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371600" y="1874520"/>
            <a:ext cx="65836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1000"/>
              </a:spcAft>
              <a:buNone/>
            </a:pPr>
            <a:r>
              <a:rPr lang="en-US" sz="1700" b="1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is mandatory for SSG funding.</a:t>
            </a:r>
            <a:endParaRPr lang="en-US" sz="17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AM, PM and Assessment digital attendance for every session.</a:t>
            </a:r>
            <a:endParaRPr lang="en-US" sz="17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SSG / TMS QR code provided by your trainer.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8229600" y="1828800"/>
            <a:ext cx="3383280" cy="2926080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8229600" y="2377440"/>
            <a:ext cx="33832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D977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Minimum</a:t>
            </a:r>
            <a:endParaRPr lang="en-US" sz="3000" dirty="0"/>
          </a:p>
          <a:p>
            <a:pPr algn="ctr" indent="0" marL="0">
              <a:buNone/>
            </a:pPr>
            <a:r>
              <a:rPr lang="en-US" sz="3000" b="1" dirty="0">
                <a:solidFill>
                  <a:srgbClr val="D977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75%</a:t>
            </a:r>
            <a:endParaRPr lang="en-US" sz="3000" dirty="0"/>
          </a:p>
          <a:p>
            <a:pPr algn="ctr" indent="0" marL="0">
              <a:buNone/>
            </a:pPr>
            <a:r>
              <a:rPr lang="en-US" sz="3000" b="1" dirty="0">
                <a:solidFill>
                  <a:srgbClr val="D977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attendance required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Applications with Claude Code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About the Trainer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291840" cy="3291840"/>
          </a:xfrm>
          <a:prstGeom prst="roundRect">
            <a:avLst>
              <a:gd name="adj" fmla="val 3333"/>
            </a:avLst>
          </a:prstGeom>
          <a:solidFill>
            <a:srgbClr val="21201C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1874520" y="2103120"/>
            <a:ext cx="640080" cy="640080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29968" y="2258568"/>
            <a:ext cx="329184" cy="32918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292608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 Trainer Name ]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548640" y="342900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Title / Role ]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206240" y="1828800"/>
            <a:ext cx="502920" cy="502920"/>
          </a:xfrm>
          <a:prstGeom prst="ellipse">
            <a:avLst/>
          </a:prstGeom>
          <a:solidFill>
            <a:srgbClr val="3A7D7B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9684" y="1952244"/>
            <a:ext cx="256032" cy="25603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892040" y="1783080"/>
            <a:ext cx="6766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Qualifications:  ____________________________________________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4206240" y="2670048"/>
            <a:ext cx="502920" cy="502920"/>
          </a:xfrm>
          <a:prstGeom prst="ellipse">
            <a:avLst/>
          </a:prstGeom>
          <a:solidFill>
            <a:srgbClr val="3A7D7B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9684" y="2793492"/>
            <a:ext cx="256032" cy="25603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892040" y="2624328"/>
            <a:ext cx="6766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Expertise:  _________________________________________________</a:t>
            </a:r>
            <a:endParaRPr lang="en-US" sz="1400" dirty="0"/>
          </a:p>
        </p:txBody>
      </p:sp>
      <p:sp>
        <p:nvSpPr>
          <p:cNvPr id="15" name="Shape 10"/>
          <p:cNvSpPr/>
          <p:nvPr/>
        </p:nvSpPr>
        <p:spPr>
          <a:xfrm>
            <a:off x="4206240" y="3511296"/>
            <a:ext cx="502920" cy="502920"/>
          </a:xfrm>
          <a:prstGeom prst="ellipse">
            <a:avLst/>
          </a:prstGeom>
          <a:solidFill>
            <a:srgbClr val="3A7D7B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9684" y="3634740"/>
            <a:ext cx="256032" cy="256032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892040" y="3465576"/>
            <a:ext cx="6766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Experience:  ________________________________________________</a:t>
            </a:r>
            <a:endParaRPr lang="en-US" sz="1400" dirty="0"/>
          </a:p>
        </p:txBody>
      </p:sp>
      <p:sp>
        <p:nvSpPr>
          <p:cNvPr id="18" name="Shape 12"/>
          <p:cNvSpPr/>
          <p:nvPr/>
        </p:nvSpPr>
        <p:spPr>
          <a:xfrm>
            <a:off x="4206240" y="4352544"/>
            <a:ext cx="502920" cy="502920"/>
          </a:xfrm>
          <a:prstGeom prst="ellipse">
            <a:avLst/>
          </a:prstGeom>
          <a:solidFill>
            <a:srgbClr val="3A7D7B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19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29684" y="4475988"/>
            <a:ext cx="256032" cy="256032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4892040" y="4306824"/>
            <a:ext cx="6766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 / Profile:  __________________________________________</a:t>
            </a:r>
            <a:endParaRPr lang="en-US" sz="1400" dirty="0"/>
          </a:p>
        </p:txBody>
      </p:sp>
      <p:sp>
        <p:nvSpPr>
          <p:cNvPr id="21" name="Text 14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900" dirty="0"/>
          </a:p>
        </p:txBody>
      </p:sp>
      <p:sp>
        <p:nvSpPr>
          <p:cNvPr id="22" name="Text 15"/>
          <p:cNvSpPr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Applications with Claude Code</a:t>
            </a:r>
            <a:endParaRPr lang="en-US" sz="900" dirty="0"/>
          </a:p>
        </p:txBody>
      </p:sp>
      <p:sp>
        <p:nvSpPr>
          <p:cNvPr id="23" name="Text 16"/>
          <p:cNvSpPr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About the Trainer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291840" cy="3291840"/>
          </a:xfrm>
          <a:prstGeom prst="roundRect">
            <a:avLst>
              <a:gd name="adj" fmla="val 3333"/>
            </a:avLst>
          </a:prstGeom>
          <a:solidFill>
            <a:srgbClr val="21201C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1874520" y="2103120"/>
            <a:ext cx="640080" cy="640080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29968" y="2258568"/>
            <a:ext cx="329184" cy="32918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292608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Dr. Alfred Ang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548640" y="342900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Trainer &amp; Engineer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206240" y="1828800"/>
            <a:ext cx="502920" cy="502920"/>
          </a:xfrm>
          <a:prstGeom prst="ellipse">
            <a:avLst/>
          </a:prstGeom>
          <a:solidFill>
            <a:srgbClr val="3A7D7B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9684" y="1952244"/>
            <a:ext cx="256032" cy="25603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892040" y="1783080"/>
            <a:ext cx="6766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PhD-qualified trainer specialising in AI, software engineering and developer tooling.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4206240" y="2633472"/>
            <a:ext cx="502920" cy="502920"/>
          </a:xfrm>
          <a:prstGeom prst="ellipse">
            <a:avLst/>
          </a:prstGeom>
          <a:solidFill>
            <a:srgbClr val="3A7D7B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9684" y="2756916"/>
            <a:ext cx="256032" cy="25603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892040" y="2587752"/>
            <a:ext cx="6766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 experience building agentic AI applications with Claude Code.</a:t>
            </a:r>
            <a:endParaRPr lang="en-US" sz="1500" dirty="0"/>
          </a:p>
        </p:txBody>
      </p:sp>
      <p:sp>
        <p:nvSpPr>
          <p:cNvPr id="15" name="Shape 10"/>
          <p:cNvSpPr/>
          <p:nvPr/>
        </p:nvSpPr>
        <p:spPr>
          <a:xfrm>
            <a:off x="4206240" y="3438144"/>
            <a:ext cx="502920" cy="502920"/>
          </a:xfrm>
          <a:prstGeom prst="ellipse">
            <a:avLst/>
          </a:prstGeom>
          <a:solidFill>
            <a:srgbClr val="3A7D7B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9684" y="3561588"/>
            <a:ext cx="256032" cy="256032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892040" y="3392424"/>
            <a:ext cx="6766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Trains professionals across Singapore on practical, project-based AI skills.</a:t>
            </a:r>
            <a:endParaRPr lang="en-US" sz="1500" dirty="0"/>
          </a:p>
        </p:txBody>
      </p:sp>
      <p:sp>
        <p:nvSpPr>
          <p:cNvPr id="18" name="Shape 12"/>
          <p:cNvSpPr/>
          <p:nvPr/>
        </p:nvSpPr>
        <p:spPr>
          <a:xfrm>
            <a:off x="4206240" y="4242816"/>
            <a:ext cx="502920" cy="502920"/>
          </a:xfrm>
          <a:prstGeom prst="ellipse">
            <a:avLst/>
          </a:prstGeom>
          <a:solidFill>
            <a:srgbClr val="3A7D7B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19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29684" y="4366260"/>
            <a:ext cx="256032" cy="256032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4892040" y="4197096"/>
            <a:ext cx="6766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Certifications: PMP, AWS, Microsoft, CompTIA, CKA, CKAD.</a:t>
            </a:r>
            <a:endParaRPr lang="en-US" sz="1500" dirty="0"/>
          </a:p>
        </p:txBody>
      </p:sp>
      <p:sp>
        <p:nvSpPr>
          <p:cNvPr id="21" name="Shape 14"/>
          <p:cNvSpPr/>
          <p:nvPr/>
        </p:nvSpPr>
        <p:spPr>
          <a:xfrm>
            <a:off x="4206240" y="5093208"/>
            <a:ext cx="502920" cy="502920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22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20540" y="5207508"/>
            <a:ext cx="274320" cy="274320"/>
          </a:xfrm>
          <a:prstGeom prst="rect">
            <a:avLst/>
          </a:prstGeom>
        </p:spPr>
      </p:pic>
      <p:sp>
        <p:nvSpPr>
          <p:cNvPr id="23" name="Text 15">
            <a:hlinkClick r:id="rId7" tooltip=""/>
          </p:cNvPr>
          <p:cNvSpPr/>
          <p:nvPr/>
        </p:nvSpPr>
        <p:spPr>
          <a:xfrm>
            <a:off x="4892040" y="5047488"/>
            <a:ext cx="6766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u="sng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linkedin.com/in/angchewhoe</a:t>
            </a:r>
            <a:endParaRPr lang="en-US" sz="1500" dirty="0"/>
          </a:p>
        </p:txBody>
      </p:sp>
      <p:sp>
        <p:nvSpPr>
          <p:cNvPr id="24" name="Shape 16"/>
          <p:cNvSpPr/>
          <p:nvPr/>
        </p:nvSpPr>
        <p:spPr>
          <a:xfrm>
            <a:off x="8229600" y="5093208"/>
            <a:ext cx="502920" cy="502920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25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43900" y="5207508"/>
            <a:ext cx="274320" cy="274320"/>
          </a:xfrm>
          <a:prstGeom prst="rect">
            <a:avLst/>
          </a:prstGeom>
        </p:spPr>
      </p:pic>
      <p:sp>
        <p:nvSpPr>
          <p:cNvPr id="26" name="Text 17">
            <a:hlinkClick r:id="rId9" tooltip=""/>
          </p:cNvPr>
          <p:cNvSpPr/>
          <p:nvPr/>
        </p:nvSpPr>
        <p:spPr>
          <a:xfrm>
            <a:off x="8915400" y="5047488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u="sng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github.com/alfredang</a:t>
            </a:r>
            <a:endParaRPr lang="en-US" sz="1500" dirty="0"/>
          </a:p>
        </p:txBody>
      </p:sp>
      <p:sp>
        <p:nvSpPr>
          <p:cNvPr id="27" name="Text 18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900" dirty="0"/>
          </a:p>
        </p:txBody>
      </p:sp>
      <p:sp>
        <p:nvSpPr>
          <p:cNvPr id="28" name="Text 19"/>
          <p:cNvSpPr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Applications with Claude Code</a:t>
            </a:r>
            <a:endParaRPr lang="en-US" sz="900" dirty="0"/>
          </a:p>
        </p:txBody>
      </p:sp>
      <p:sp>
        <p:nvSpPr>
          <p:cNvPr id="29" name="Text 20"/>
          <p:cNvSpPr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120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280160"/>
            <a:ext cx="4206240" cy="4206240"/>
          </a:xfrm>
          <a:prstGeom prst="ellipse">
            <a:avLst/>
          </a:prstGeom>
          <a:solidFill>
            <a:srgbClr val="D97757">
              <a:alpha val="17000"/>
            </a:srgbClr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822960" y="1463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77240" y="187452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Let's Know Each Other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822960" y="29260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9C4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a minute to introduce yourself to the class: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822960" y="3657600"/>
            <a:ext cx="2606040" cy="1554480"/>
          </a:xfrm>
          <a:prstGeom prst="roundRect">
            <a:avLst>
              <a:gd name="adj" fmla="val 5882"/>
            </a:avLst>
          </a:prstGeom>
          <a:solidFill>
            <a:srgbClr val="2E2C26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1851660" y="3886200"/>
            <a:ext cx="548640" cy="548640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88820" y="4023360"/>
            <a:ext cx="274320" cy="2743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960120" y="4572000"/>
            <a:ext cx="2331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name &amp; role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3593592" y="3657600"/>
            <a:ext cx="2606040" cy="1554480"/>
          </a:xfrm>
          <a:prstGeom prst="roundRect">
            <a:avLst>
              <a:gd name="adj" fmla="val 5882"/>
            </a:avLst>
          </a:prstGeom>
          <a:solidFill>
            <a:srgbClr val="2E2C26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4622292" y="3886200"/>
            <a:ext cx="548640" cy="548640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9452" y="4023360"/>
            <a:ext cx="274320" cy="27432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730752" y="4572000"/>
            <a:ext cx="2331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do day to day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6364224" y="3657600"/>
            <a:ext cx="2606040" cy="1554480"/>
          </a:xfrm>
          <a:prstGeom prst="roundRect">
            <a:avLst>
              <a:gd name="adj" fmla="val 5882"/>
            </a:avLst>
          </a:prstGeom>
          <a:solidFill>
            <a:srgbClr val="2E2C26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5" name="Shape 11"/>
          <p:cNvSpPr/>
          <p:nvPr/>
        </p:nvSpPr>
        <p:spPr>
          <a:xfrm>
            <a:off x="7392924" y="3886200"/>
            <a:ext cx="548640" cy="548640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0084" y="4023360"/>
            <a:ext cx="274320" cy="27432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501384" y="4572000"/>
            <a:ext cx="2331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coding experience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9134856" y="3657600"/>
            <a:ext cx="2606040" cy="1554480"/>
          </a:xfrm>
          <a:prstGeom prst="roundRect">
            <a:avLst>
              <a:gd name="adj" fmla="val 5882"/>
            </a:avLst>
          </a:prstGeom>
          <a:solidFill>
            <a:srgbClr val="2E2C26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9" name="Shape 14"/>
          <p:cNvSpPr/>
          <p:nvPr/>
        </p:nvSpPr>
        <p:spPr>
          <a:xfrm>
            <a:off x="10163556" y="3886200"/>
            <a:ext cx="548640" cy="548640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00716" y="4023360"/>
            <a:ext cx="274320" cy="27432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9272016" y="4572000"/>
            <a:ext cx="2331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want from this course</a:t>
            </a:r>
            <a:endParaRPr lang="en-US" sz="1400" dirty="0"/>
          </a:p>
        </p:txBody>
      </p:sp>
      <p:sp>
        <p:nvSpPr>
          <p:cNvPr id="22" name="Text 16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6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900" dirty="0"/>
          </a:p>
        </p:txBody>
      </p:sp>
      <p:sp>
        <p:nvSpPr>
          <p:cNvPr id="23" name="Text 17"/>
          <p:cNvSpPr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6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Applications with Claude Code</a:t>
            </a:r>
            <a:endParaRPr lang="en-US" sz="900" dirty="0"/>
          </a:p>
        </p:txBody>
      </p:sp>
      <p:sp>
        <p:nvSpPr>
          <p:cNvPr id="24" name="Text 18"/>
          <p:cNvSpPr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6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HOUSEKEEPING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Ground Rules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3593592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77240" y="2057400"/>
            <a:ext cx="502920" cy="502920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0684" y="2180844"/>
            <a:ext cx="256032" cy="25603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17320" y="2029968"/>
            <a:ext cx="25877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Phones on silent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777240" y="2542032"/>
            <a:ext cx="31363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out quietly for calls or breaks.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325112" y="1828800"/>
            <a:ext cx="3593592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4553712" y="2057400"/>
            <a:ext cx="502920" cy="502920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7156" y="2180844"/>
            <a:ext cx="256032" cy="25603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193792" y="2029968"/>
            <a:ext cx="25877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Participate actively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4553712" y="2542032"/>
            <a:ext cx="31363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question is stupid — ask freely.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8101584" y="1828800"/>
            <a:ext cx="3593592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5" name="Shape 11"/>
          <p:cNvSpPr/>
          <p:nvPr/>
        </p:nvSpPr>
        <p:spPr>
          <a:xfrm>
            <a:off x="8330184" y="2057400"/>
            <a:ext cx="502920" cy="502920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3628" y="2180844"/>
            <a:ext cx="256032" cy="25603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970264" y="2029968"/>
            <a:ext cx="25877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Mutual respect</a:t>
            </a:r>
            <a:endParaRPr lang="en-US" sz="1500" dirty="0"/>
          </a:p>
        </p:txBody>
      </p:sp>
      <p:sp>
        <p:nvSpPr>
          <p:cNvPr id="18" name="Text 13"/>
          <p:cNvSpPr/>
          <p:nvPr/>
        </p:nvSpPr>
        <p:spPr>
          <a:xfrm>
            <a:off x="8330184" y="2542032"/>
            <a:ext cx="31363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 to disagree; one conversation at a time.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548640" y="3429000"/>
            <a:ext cx="3593592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20" name="Shape 15"/>
          <p:cNvSpPr/>
          <p:nvPr/>
        </p:nvSpPr>
        <p:spPr>
          <a:xfrm>
            <a:off x="777240" y="3657600"/>
            <a:ext cx="502920" cy="502920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0684" y="3781044"/>
            <a:ext cx="256032" cy="25603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417320" y="3630168"/>
            <a:ext cx="25877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 punctual</a:t>
            </a:r>
            <a:endParaRPr lang="en-US" sz="1500" dirty="0"/>
          </a:p>
        </p:txBody>
      </p:sp>
      <p:sp>
        <p:nvSpPr>
          <p:cNvPr id="23" name="Text 17"/>
          <p:cNvSpPr/>
          <p:nvPr/>
        </p:nvSpPr>
        <p:spPr>
          <a:xfrm>
            <a:off x="777240" y="4142232"/>
            <a:ext cx="31363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from breaks on time.</a:t>
            </a:r>
            <a:endParaRPr lang="en-US" sz="1200" dirty="0"/>
          </a:p>
        </p:txBody>
      </p:sp>
      <p:sp>
        <p:nvSpPr>
          <p:cNvPr id="24" name="Shape 18"/>
          <p:cNvSpPr/>
          <p:nvPr/>
        </p:nvSpPr>
        <p:spPr>
          <a:xfrm>
            <a:off x="4325112" y="3429000"/>
            <a:ext cx="3593592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25" name="Shape 19"/>
          <p:cNvSpPr/>
          <p:nvPr/>
        </p:nvSpPr>
        <p:spPr>
          <a:xfrm>
            <a:off x="4553712" y="3657600"/>
            <a:ext cx="502920" cy="502920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77156" y="3781044"/>
            <a:ext cx="256032" cy="256032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5193792" y="3630168"/>
            <a:ext cx="25877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75% attendance</a:t>
            </a:r>
            <a:endParaRPr lang="en-US" sz="1500" dirty="0"/>
          </a:p>
        </p:txBody>
      </p:sp>
      <p:sp>
        <p:nvSpPr>
          <p:cNvPr id="28" name="Text 21"/>
          <p:cNvSpPr/>
          <p:nvPr/>
        </p:nvSpPr>
        <p:spPr>
          <a:xfrm>
            <a:off x="4553712" y="4142232"/>
            <a:ext cx="31363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for funding eligibility.</a:t>
            </a:r>
            <a:endParaRPr lang="en-US" sz="1200" dirty="0"/>
          </a:p>
        </p:txBody>
      </p:sp>
      <p:sp>
        <p:nvSpPr>
          <p:cNvPr id="29" name="Shape 22"/>
          <p:cNvSpPr/>
          <p:nvPr/>
        </p:nvSpPr>
        <p:spPr>
          <a:xfrm>
            <a:off x="8101584" y="3429000"/>
            <a:ext cx="3593592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30" name="Shape 23"/>
          <p:cNvSpPr/>
          <p:nvPr/>
        </p:nvSpPr>
        <p:spPr>
          <a:xfrm>
            <a:off x="8330184" y="3657600"/>
            <a:ext cx="502920" cy="502920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31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53628" y="3781044"/>
            <a:ext cx="256032" cy="256032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8970264" y="3630168"/>
            <a:ext cx="25877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Stay hands-on</a:t>
            </a:r>
            <a:endParaRPr lang="en-US" sz="1500" dirty="0"/>
          </a:p>
        </p:txBody>
      </p:sp>
      <p:sp>
        <p:nvSpPr>
          <p:cNvPr id="33" name="Text 25"/>
          <p:cNvSpPr/>
          <p:nvPr/>
        </p:nvSpPr>
        <p:spPr>
          <a:xfrm>
            <a:off x="8330184" y="4142232"/>
            <a:ext cx="31363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along with every activity.</a:t>
            </a:r>
            <a:endParaRPr lang="en-US" sz="1200" dirty="0"/>
          </a:p>
        </p:txBody>
      </p:sp>
      <p:sp>
        <p:nvSpPr>
          <p:cNvPr id="34" name="Text 26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900" dirty="0"/>
          </a:p>
        </p:txBody>
      </p:sp>
      <p:sp>
        <p:nvSpPr>
          <p:cNvPr id="35" name="Text 27"/>
          <p:cNvSpPr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Applications with Claude Code</a:t>
            </a:r>
            <a:endParaRPr lang="en-US" sz="900" dirty="0"/>
          </a:p>
        </p:txBody>
      </p:sp>
      <p:sp>
        <p:nvSpPr>
          <p:cNvPr id="36" name="Text 28"/>
          <p:cNvSpPr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Course Outline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593592" cy="4206240"/>
          </a:xfrm>
          <a:prstGeom prst="roundRect">
            <a:avLst>
              <a:gd name="adj" fmla="val 203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22960" y="2011680"/>
            <a:ext cx="731520" cy="73152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22960" y="201168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822960" y="2880360"/>
            <a:ext cx="30449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Claude Code Fundamentals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68680" y="3657600"/>
            <a:ext cx="2999232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&amp; the Agentic Loop</a:t>
            </a:r>
            <a:endParaRPr lang="en-US" sz="13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Context, Memory &amp; Sessions</a:t>
            </a:r>
            <a:endParaRPr lang="en-US" sz="13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Permissions &amp; Scheduled Tasks</a:t>
            </a:r>
            <a:endParaRPr lang="en-US" sz="13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C26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Activity: Build &amp; deploy a website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25112" y="1737360"/>
            <a:ext cx="3593592" cy="4206240"/>
          </a:xfrm>
          <a:prstGeom prst="roundRect">
            <a:avLst>
              <a:gd name="adj" fmla="val 203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4599432" y="2011680"/>
            <a:ext cx="731520" cy="73152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4599432" y="201168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4599432" y="2880360"/>
            <a:ext cx="30449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Tools and Commands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645152" y="3657600"/>
            <a:ext cx="2999232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Commands</a:t>
            </a:r>
            <a:endParaRPr lang="en-US" sz="13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Tools</a:t>
            </a:r>
            <a:endParaRPr lang="en-US" sz="13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Playwright MCP</a:t>
            </a:r>
            <a:endParaRPr lang="en-US" sz="13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C26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Activities: /gitpush + MCP screenshot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101584" y="1737360"/>
            <a:ext cx="3593592" cy="4206240"/>
          </a:xfrm>
          <a:prstGeom prst="roundRect">
            <a:avLst>
              <a:gd name="adj" fmla="val 203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8375904" y="2011680"/>
            <a:ext cx="731520" cy="73152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375904" y="201168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8375904" y="2880360"/>
            <a:ext cx="30449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Skills, Agents &amp; Hooks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421624" y="3657600"/>
            <a:ext cx="2999232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Skills</a:t>
            </a:r>
            <a:endParaRPr lang="en-US" sz="13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 Agents</a:t>
            </a:r>
            <a:endParaRPr lang="en-US" sz="13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Hooks</a:t>
            </a:r>
            <a:endParaRPr lang="en-US" sz="13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C26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Concepts Summary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Applications with Claude Code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  ·  HANDS-ON</a:t>
            </a:r>
          </a:p>
        </p:txBody>
      </p:sp>
      <p:sp>
        <p:nvSpPr>
          <p:cNvPr id="12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kern="0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 Materials</a:t>
            </a:r>
          </a:p>
        </p:txBody>
      </p:sp>
      <p:sp>
        <p:nvSpPr>
          <p:cNvPr id="14" name="Text 2"/>
          <p:cNvSpPr/>
          <p:nvPr/>
        </p:nvSpPr>
        <p:spPr>
          <a:xfrm>
            <a:off x="548640" y="1389888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0" kern="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labs, each in its own folder. They build on one another — Lab 1 creates the website that every later lab extends.</a:t>
            </a:r>
          </a:p>
        </p:txBody>
      </p:sp>
      <p:sp>
        <p:nvSpPr>
          <p:cNvPr id="16" name="Card0"/>
          <p:cNvSpPr/>
          <p:nvPr/>
        </p:nvSpPr>
        <p:spPr>
          <a:xfrm>
            <a:off x="548640" y="1965960"/>
            <a:ext cx="11064240" cy="9326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 wrap="square" rtlCol="0" anchor="ctr"/>
          <a:lstStyle/>
          <a:p/>
        </p:txBody>
      </p:sp>
      <p:sp>
        <p:nvSpPr>
          <p:cNvPr id="18" name="Tab0"/>
          <p:cNvSpPr/>
          <p:nvPr/>
        </p:nvSpPr>
        <p:spPr>
          <a:xfrm>
            <a:off x="749808" y="2167128"/>
            <a:ext cx="68580" cy="53035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/>
        </p:spPr>
        <p:txBody>
          <a:bodyPr wrap="square" rtlCol="0" anchor="ctr"/>
          <a:lstStyle/>
          <a:p/>
        </p:txBody>
      </p:sp>
      <p:sp>
        <p:nvSpPr>
          <p:cNvPr id="20" name="Lab0"/>
          <p:cNvSpPr/>
          <p:nvPr/>
        </p:nvSpPr>
        <p:spPr>
          <a:xfrm>
            <a:off x="960120" y="2075688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kern="0" dirty="0">
                <a:solidFill>
                  <a:srgbClr val="C26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1</a:t>
            </a:r>
          </a:p>
        </p:txBody>
      </p:sp>
      <p:sp>
        <p:nvSpPr>
          <p:cNvPr id="22" name="Pill0"/>
          <p:cNvSpPr/>
          <p:nvPr/>
        </p:nvSpPr>
        <p:spPr>
          <a:xfrm>
            <a:off x="960120" y="2478024"/>
            <a:ext cx="1051560" cy="265176"/>
          </a:xfrm>
          <a:prstGeom prst="roundRect">
            <a:avLst>
              <a:gd name="adj" fmla="val 50000"/>
            </a:avLst>
          </a:prstGeom>
          <a:solidFill>
            <a:srgbClr val="21201C"/>
          </a:solidFill>
          <a:ln/>
        </p:spPr>
        <p:txBody>
          <a:bodyPr wrap="square" rtlCol="0" anchor="ctr"/>
          <a:lstStyle/>
          <a:p/>
        </p:txBody>
      </p:sp>
      <p:sp>
        <p:nvSpPr>
          <p:cNvPr id="24" name="Topic0"/>
          <p:cNvSpPr/>
          <p:nvPr/>
        </p:nvSpPr>
        <p:spPr>
          <a:xfrm>
            <a:off x="960120" y="2478024"/>
            <a:ext cx="1051560" cy="265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algn="ctr">
              <a:buNone/>
            </a:pPr>
            <a:r>
              <a:rPr lang="en-US" sz="90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1</a:t>
            </a:r>
          </a:p>
        </p:txBody>
      </p:sp>
      <p:sp>
        <p:nvSpPr>
          <p:cNvPr id="26" name="Desc0"/>
          <p:cNvSpPr/>
          <p:nvPr/>
        </p:nvSpPr>
        <p:spPr>
          <a:xfrm>
            <a:off x="2331720" y="2057400"/>
            <a:ext cx="6766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0" kern="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7-step build workflow — goal, plan, execute, /init, GitHub, Pages, CI/CD.</a:t>
            </a:r>
          </a:p>
        </p:txBody>
      </p:sp>
      <p:sp>
        <p:nvSpPr>
          <p:cNvPr id="28" name="Fold0"/>
          <p:cNvSpPr/>
          <p:nvPr/>
        </p:nvSpPr>
        <p:spPr>
          <a:xfrm>
            <a:off x="2331720" y="2459736"/>
            <a:ext cx="67665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0" kern="0" dirty="0">
                <a:solidFill>
                  <a:srgbClr val="6B686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labs/lab1-seven-steps/</a:t>
            </a:r>
          </a:p>
        </p:txBody>
      </p:sp>
      <p:sp>
        <p:nvSpPr>
          <p:cNvPr id="30" name="Card1"/>
          <p:cNvSpPr/>
          <p:nvPr/>
        </p:nvSpPr>
        <p:spPr>
          <a:xfrm>
            <a:off x="548640" y="2980944"/>
            <a:ext cx="11064240" cy="9326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 wrap="square" rtlCol="0" anchor="ctr"/>
          <a:lstStyle/>
          <a:p/>
        </p:txBody>
      </p:sp>
      <p:sp>
        <p:nvSpPr>
          <p:cNvPr id="32" name="Tab1"/>
          <p:cNvSpPr/>
          <p:nvPr/>
        </p:nvSpPr>
        <p:spPr>
          <a:xfrm>
            <a:off x="749808" y="3182112"/>
            <a:ext cx="68580" cy="53035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/>
        </p:spPr>
        <p:txBody>
          <a:bodyPr wrap="square" rtlCol="0" anchor="ctr"/>
          <a:lstStyle/>
          <a:p/>
        </p:txBody>
      </p:sp>
      <p:sp>
        <p:nvSpPr>
          <p:cNvPr id="34" name="Lab1"/>
          <p:cNvSpPr/>
          <p:nvPr/>
        </p:nvSpPr>
        <p:spPr>
          <a:xfrm>
            <a:off x="960120" y="3090672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kern="0" dirty="0">
                <a:solidFill>
                  <a:srgbClr val="C26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1b</a:t>
            </a:r>
          </a:p>
        </p:txBody>
      </p:sp>
      <p:sp>
        <p:nvSpPr>
          <p:cNvPr id="36" name="Pill1"/>
          <p:cNvSpPr/>
          <p:nvPr/>
        </p:nvSpPr>
        <p:spPr>
          <a:xfrm>
            <a:off x="960120" y="3493008"/>
            <a:ext cx="1051560" cy="265176"/>
          </a:xfrm>
          <a:prstGeom prst="roundRect">
            <a:avLst>
              <a:gd name="adj" fmla="val 50000"/>
            </a:avLst>
          </a:prstGeom>
          <a:solidFill>
            <a:srgbClr val="21201C"/>
          </a:solidFill>
          <a:ln/>
        </p:spPr>
        <p:txBody>
          <a:bodyPr wrap="square" rtlCol="0" anchor="ctr"/>
          <a:lstStyle/>
          <a:p/>
        </p:txBody>
      </p:sp>
      <p:sp>
        <p:nvSpPr>
          <p:cNvPr id="38" name="Topic1"/>
          <p:cNvSpPr/>
          <p:nvPr/>
        </p:nvSpPr>
        <p:spPr>
          <a:xfrm>
            <a:off x="960120" y="3493008"/>
            <a:ext cx="1051560" cy="265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algn="ctr">
              <a:buNone/>
            </a:pPr>
            <a:r>
              <a:rPr lang="en-US" sz="90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2</a:t>
            </a:r>
          </a:p>
        </p:txBody>
      </p:sp>
      <p:sp>
        <p:nvSpPr>
          <p:cNvPr id="40" name="Desc1"/>
          <p:cNvSpPr/>
          <p:nvPr/>
        </p:nvSpPr>
        <p:spPr>
          <a:xfrm>
            <a:off x="2331720" y="3072384"/>
            <a:ext cx="6766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0" kern="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/publish custom command + Playwright MCP screenshots into the README.</a:t>
            </a:r>
          </a:p>
        </p:txBody>
      </p:sp>
      <p:sp>
        <p:nvSpPr>
          <p:cNvPr id="42" name="Fold1"/>
          <p:cNvSpPr/>
          <p:nvPr/>
        </p:nvSpPr>
        <p:spPr>
          <a:xfrm>
            <a:off x="2331720" y="3474720"/>
            <a:ext cx="67665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0" kern="0" dirty="0">
                <a:solidFill>
                  <a:srgbClr val="6B686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labs/lab1b-commands-mcp/</a:t>
            </a:r>
          </a:p>
        </p:txBody>
      </p:sp>
      <p:sp>
        <p:nvSpPr>
          <p:cNvPr id="44" name="Card2"/>
          <p:cNvSpPr/>
          <p:nvPr/>
        </p:nvSpPr>
        <p:spPr>
          <a:xfrm>
            <a:off x="548640" y="3995928"/>
            <a:ext cx="11064240" cy="9326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 wrap="square" rtlCol="0" anchor="ctr"/>
          <a:lstStyle/>
          <a:p/>
        </p:txBody>
      </p:sp>
      <p:sp>
        <p:nvSpPr>
          <p:cNvPr id="46" name="Tab2"/>
          <p:cNvSpPr/>
          <p:nvPr/>
        </p:nvSpPr>
        <p:spPr>
          <a:xfrm>
            <a:off x="749808" y="4197096"/>
            <a:ext cx="68580" cy="53035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/>
        </p:spPr>
        <p:txBody>
          <a:bodyPr wrap="square" rtlCol="0" anchor="ctr"/>
          <a:lstStyle/>
          <a:p/>
        </p:txBody>
      </p:sp>
      <p:sp>
        <p:nvSpPr>
          <p:cNvPr id="48" name="Lab2"/>
          <p:cNvSpPr/>
          <p:nvPr/>
        </p:nvSpPr>
        <p:spPr>
          <a:xfrm>
            <a:off x="960120" y="4105656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kern="0" dirty="0">
                <a:solidFill>
                  <a:srgbClr val="C26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2</a:t>
            </a:r>
          </a:p>
        </p:txBody>
      </p:sp>
      <p:sp>
        <p:nvSpPr>
          <p:cNvPr id="50" name="Pill2"/>
          <p:cNvSpPr/>
          <p:nvPr/>
        </p:nvSpPr>
        <p:spPr>
          <a:xfrm>
            <a:off x="960120" y="4507992"/>
            <a:ext cx="1051560" cy="265176"/>
          </a:xfrm>
          <a:prstGeom prst="roundRect">
            <a:avLst>
              <a:gd name="adj" fmla="val 50000"/>
            </a:avLst>
          </a:prstGeom>
          <a:solidFill>
            <a:srgbClr val="21201C"/>
          </a:solidFill>
          <a:ln/>
        </p:spPr>
        <p:txBody>
          <a:bodyPr wrap="square" rtlCol="0" anchor="ctr"/>
          <a:lstStyle/>
          <a:p/>
        </p:txBody>
      </p:sp>
      <p:sp>
        <p:nvSpPr>
          <p:cNvPr id="52" name="Topic2"/>
          <p:cNvSpPr/>
          <p:nvPr/>
        </p:nvSpPr>
        <p:spPr>
          <a:xfrm>
            <a:off x="960120" y="4507992"/>
            <a:ext cx="1051560" cy="265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algn="ctr">
              <a:buNone/>
            </a:pPr>
            <a:r>
              <a:rPr lang="en-US" sz="90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3</a:t>
            </a:r>
          </a:p>
        </p:txBody>
      </p:sp>
      <p:sp>
        <p:nvSpPr>
          <p:cNvPr id="54" name="Desc2"/>
          <p:cNvSpPr/>
          <p:nvPr/>
        </p:nvSpPr>
        <p:spPr>
          <a:xfrm>
            <a:off x="2331720" y="4087368"/>
            <a:ext cx="6766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0" kern="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3 skills — cybersecurity, kanban, UI/UX — and revamp the site.</a:t>
            </a:r>
          </a:p>
        </p:txBody>
      </p:sp>
      <p:sp>
        <p:nvSpPr>
          <p:cNvPr id="56" name="Fold2"/>
          <p:cNvSpPr/>
          <p:nvPr/>
        </p:nvSpPr>
        <p:spPr>
          <a:xfrm>
            <a:off x="2331720" y="4489704"/>
            <a:ext cx="67665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0" kern="0" dirty="0">
                <a:solidFill>
                  <a:srgbClr val="6B686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labs/lab2-skills/</a:t>
            </a:r>
          </a:p>
        </p:txBody>
      </p:sp>
      <p:sp>
        <p:nvSpPr>
          <p:cNvPr id="58" name="Card3"/>
          <p:cNvSpPr/>
          <p:nvPr/>
        </p:nvSpPr>
        <p:spPr>
          <a:xfrm>
            <a:off x="548640" y="5010912"/>
            <a:ext cx="11064240" cy="9326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 wrap="square" rtlCol="0" anchor="ctr"/>
          <a:lstStyle/>
          <a:p/>
        </p:txBody>
      </p:sp>
      <p:sp>
        <p:nvSpPr>
          <p:cNvPr id="60" name="Tab3"/>
          <p:cNvSpPr/>
          <p:nvPr/>
        </p:nvSpPr>
        <p:spPr>
          <a:xfrm>
            <a:off x="749808" y="5212080"/>
            <a:ext cx="68580" cy="53035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/>
        </p:spPr>
        <p:txBody>
          <a:bodyPr wrap="square" rtlCol="0" anchor="ctr"/>
          <a:lstStyle/>
          <a:p/>
        </p:txBody>
      </p:sp>
      <p:sp>
        <p:nvSpPr>
          <p:cNvPr id="62" name="Lab3"/>
          <p:cNvSpPr/>
          <p:nvPr/>
        </p:nvSpPr>
        <p:spPr>
          <a:xfrm>
            <a:off x="960120" y="5120640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kern="0" dirty="0">
                <a:solidFill>
                  <a:srgbClr val="C26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3</a:t>
            </a:r>
          </a:p>
        </p:txBody>
      </p:sp>
      <p:sp>
        <p:nvSpPr>
          <p:cNvPr id="64" name="Pill3"/>
          <p:cNvSpPr/>
          <p:nvPr/>
        </p:nvSpPr>
        <p:spPr>
          <a:xfrm>
            <a:off x="960120" y="5522976"/>
            <a:ext cx="1051560" cy="265176"/>
          </a:xfrm>
          <a:prstGeom prst="roundRect">
            <a:avLst>
              <a:gd name="adj" fmla="val 50000"/>
            </a:avLst>
          </a:prstGeom>
          <a:solidFill>
            <a:srgbClr val="21201C"/>
          </a:solidFill>
          <a:ln/>
        </p:spPr>
        <p:txBody>
          <a:bodyPr wrap="square" rtlCol="0" anchor="ctr"/>
          <a:lstStyle/>
          <a:p/>
        </p:txBody>
      </p:sp>
      <p:sp>
        <p:nvSpPr>
          <p:cNvPr id="66" name="Topic3"/>
          <p:cNvSpPr/>
          <p:nvPr/>
        </p:nvSpPr>
        <p:spPr>
          <a:xfrm>
            <a:off x="960120" y="5522976"/>
            <a:ext cx="1051560" cy="265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algn="ctr">
              <a:buNone/>
            </a:pPr>
            <a:r>
              <a:rPr lang="en-US" sz="90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3</a:t>
            </a:r>
          </a:p>
        </p:txBody>
      </p:sp>
      <p:sp>
        <p:nvSpPr>
          <p:cNvPr id="68" name="Desc3"/>
          <p:cNvSpPr/>
          <p:nvPr/>
        </p:nvSpPr>
        <p:spPr>
          <a:xfrm>
            <a:off x="2331720" y="5102352"/>
            <a:ext cx="6766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0" kern="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Hooks, sub agents and /loop — the event, delegation and schedule triggers.</a:t>
            </a:r>
          </a:p>
        </p:txBody>
      </p:sp>
      <p:sp>
        <p:nvSpPr>
          <p:cNvPr id="70" name="Fold3"/>
          <p:cNvSpPr/>
          <p:nvPr/>
        </p:nvSpPr>
        <p:spPr>
          <a:xfrm>
            <a:off x="2331720" y="5504688"/>
            <a:ext cx="67665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0" kern="0" dirty="0">
                <a:solidFill>
                  <a:srgbClr val="6B686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labs/lab3-hooks/</a:t>
            </a:r>
          </a:p>
        </p:txBody>
      </p:sp>
      <p:sp>
        <p:nvSpPr>
          <p:cNvPr id="72" name="Tip"/>
          <p:cNvSpPr/>
          <p:nvPr/>
        </p:nvSpPr>
        <p:spPr>
          <a:xfrm>
            <a:off x="548640" y="6117336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TIP  </a:t>
            </a:r>
            <a:r>
              <a:rPr lang="en-US" sz="1200" b="0" kern="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step gives you the exact prompt to paste, what you should see, and a checkpoint before moving on.</a:t>
            </a:r>
          </a:p>
        </p:txBody>
      </p:sp>
      <p:sp>
        <p:nvSpPr>
          <p:cNvPr id="74" name="FL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0" kern="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</a:p>
        </p:txBody>
      </p:sp>
      <p:sp>
        <p:nvSpPr>
          <p:cNvPr id="76" name="FC"/>
          <p:cNvSpPr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0" kern="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Applications with Claude Code</a:t>
            </a:r>
          </a:p>
        </p:txBody>
      </p:sp>
      <p:sp>
        <p:nvSpPr>
          <p:cNvPr id="78" name="FN"/>
          <p:cNvSpPr/>
          <p:nvPr/>
        </p:nvSpPr>
        <p:spPr>
          <a:xfrm>
            <a:off x="11373427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0" kern="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Plan (9:00 AM – 6:00 PM)</a:t>
            </a:r>
            <a:endParaRPr lang="en-US" sz="3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6424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9326880"/>
              </a:tblGrid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Time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0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Session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01C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260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9:00 – 9:30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120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Welcome, admin, attendance (AM), introductions, ground rules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260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9:30 – 10:30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E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120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 1.1: setup, agentic loop &amp; tools, permission modes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EE7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6B686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10:30 – 10:40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i="1" dirty="0">
                          <a:solidFill>
                            <a:srgbClr val="6B686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Morning break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260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10:40 – 11:20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E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120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 1.2: context, memory, sessions, scheduled tasks, /goal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EE7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260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11:20 – 12:30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120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Activity 1: Build &amp; deploy a website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6B686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12:30 – 1:15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E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i="1" dirty="0">
                          <a:solidFill>
                            <a:srgbClr val="6B686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Lunch break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EE7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260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1:15 – 1:45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120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 2: Custom commands · Activity 2: /gitpush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260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1:45 – 2:45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E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120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 2: MCP tools · Activity 3: Playwright screenshot + form test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EE7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6B686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2:45 – 2:55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i="1" dirty="0">
                          <a:solidFill>
                            <a:srgbClr val="6B686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Afternoon break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260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2:55 – 3:40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E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120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 3: Agent skills · Activity 4: frontend-design &amp; SEO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EE7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260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3:40 – 4:25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120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 3: Sub agents &amp; hooks · Activity 5: security + UX agents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260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4:25 – 4:50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E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120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Activities 6–7 · hooks, testing, optimisation &amp; deployment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EE7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260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4:50 – 5:00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120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Summary, Q&amp;A, attendance (PM)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260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5:00 – 6:00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E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120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Final Assessment: 30 min WA + 30 min PP (on the LMS)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EE7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Applications with Claude Code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Briefing for Assessment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3593592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77240" y="2057400"/>
            <a:ext cx="502920" cy="502920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0684" y="2180844"/>
            <a:ext cx="256032" cy="25603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17320" y="2029968"/>
            <a:ext cx="25877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Clear your space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777240" y="2542032"/>
            <a:ext cx="31363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 phones and other materials under the table or on the floor.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325112" y="1828800"/>
            <a:ext cx="3593592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4553712" y="2057400"/>
            <a:ext cx="502920" cy="502920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7156" y="2180844"/>
            <a:ext cx="256032" cy="25603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193792" y="2029968"/>
            <a:ext cx="25877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recording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4553712" y="2542032"/>
            <a:ext cx="31363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photos or recording of assessment materials.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8101584" y="1828800"/>
            <a:ext cx="3593592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5" name="Shape 11"/>
          <p:cNvSpPr/>
          <p:nvPr/>
        </p:nvSpPr>
        <p:spPr>
          <a:xfrm>
            <a:off x="8330184" y="2057400"/>
            <a:ext cx="502920" cy="502920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3628" y="2180844"/>
            <a:ext cx="256032" cy="25603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970264" y="2029968"/>
            <a:ext cx="25877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 book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8330184" y="2542032"/>
            <a:ext cx="31363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slides, learner guide and approved materials are allowed.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548640" y="3429000"/>
            <a:ext cx="3593592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20" name="Shape 15"/>
          <p:cNvSpPr/>
          <p:nvPr/>
        </p:nvSpPr>
        <p:spPr>
          <a:xfrm>
            <a:off x="777240" y="3657600"/>
            <a:ext cx="502920" cy="502920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0684" y="3781044"/>
            <a:ext cx="256032" cy="25603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417320" y="3630168"/>
            <a:ext cx="25877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 individually</a:t>
            </a:r>
            <a:endParaRPr lang="en-US" sz="1400" dirty="0"/>
          </a:p>
        </p:txBody>
      </p:sp>
      <p:sp>
        <p:nvSpPr>
          <p:cNvPr id="23" name="Text 17"/>
          <p:cNvSpPr/>
          <p:nvPr/>
        </p:nvSpPr>
        <p:spPr>
          <a:xfrm>
            <a:off x="777240" y="4142232"/>
            <a:ext cx="31363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the assessment on your own; no discussion.</a:t>
            </a:r>
            <a:endParaRPr lang="en-US" sz="1150" dirty="0"/>
          </a:p>
        </p:txBody>
      </p:sp>
      <p:sp>
        <p:nvSpPr>
          <p:cNvPr id="24" name="Shape 18"/>
          <p:cNvSpPr/>
          <p:nvPr/>
        </p:nvSpPr>
        <p:spPr>
          <a:xfrm>
            <a:off x="4325112" y="3429000"/>
            <a:ext cx="3593592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25" name="Shape 19"/>
          <p:cNvSpPr/>
          <p:nvPr/>
        </p:nvSpPr>
        <p:spPr>
          <a:xfrm>
            <a:off x="4553712" y="3657600"/>
            <a:ext cx="502920" cy="502920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77156" y="3781044"/>
            <a:ext cx="256032" cy="256032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5193792" y="3630168"/>
            <a:ext cx="25877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Manage your time</a:t>
            </a:r>
            <a:endParaRPr lang="en-US" sz="1400" dirty="0"/>
          </a:p>
        </p:txBody>
      </p:sp>
      <p:sp>
        <p:nvSpPr>
          <p:cNvPr id="28" name="Text 21"/>
          <p:cNvSpPr/>
          <p:nvPr/>
        </p:nvSpPr>
        <p:spPr>
          <a:xfrm>
            <a:off x="4553712" y="4142232"/>
            <a:ext cx="31363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Written Assessment then Practical Performance — watch the clock.</a:t>
            </a:r>
            <a:endParaRPr lang="en-US" sz="1150" dirty="0"/>
          </a:p>
        </p:txBody>
      </p:sp>
      <p:sp>
        <p:nvSpPr>
          <p:cNvPr id="29" name="Shape 22"/>
          <p:cNvSpPr/>
          <p:nvPr/>
        </p:nvSpPr>
        <p:spPr>
          <a:xfrm>
            <a:off x="8101584" y="3429000"/>
            <a:ext cx="3593592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30" name="Shape 23"/>
          <p:cNvSpPr/>
          <p:nvPr/>
        </p:nvSpPr>
        <p:spPr>
          <a:xfrm>
            <a:off x="8330184" y="3657600"/>
            <a:ext cx="502920" cy="502920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31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53628" y="3781044"/>
            <a:ext cx="256032" cy="256032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8970264" y="3630168"/>
            <a:ext cx="25877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Appeals</a:t>
            </a:r>
            <a:endParaRPr lang="en-US" sz="1400" dirty="0"/>
          </a:p>
        </p:txBody>
      </p:sp>
      <p:sp>
        <p:nvSpPr>
          <p:cNvPr id="33" name="Text 25"/>
          <p:cNvSpPr/>
          <p:nvPr/>
        </p:nvSpPr>
        <p:spPr>
          <a:xfrm>
            <a:off x="8330184" y="4142232"/>
            <a:ext cx="31363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appeal process is available if you disagree with the outcome.</a:t>
            </a:r>
            <a:endParaRPr lang="en-US" sz="1150" dirty="0"/>
          </a:p>
        </p:txBody>
      </p:sp>
      <p:sp>
        <p:nvSpPr>
          <p:cNvPr id="34" name="Text 26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900" dirty="0"/>
          </a:p>
        </p:txBody>
      </p:sp>
      <p:sp>
        <p:nvSpPr>
          <p:cNvPr id="35" name="Text 27"/>
          <p:cNvSpPr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Applications with Claude Code</a:t>
            </a:r>
            <a:endParaRPr lang="en-US" sz="900" dirty="0"/>
          </a:p>
        </p:txBody>
      </p:sp>
      <p:sp>
        <p:nvSpPr>
          <p:cNvPr id="36" name="Text 28"/>
          <p:cNvSpPr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Assessment &amp; Funding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22960" y="2057400"/>
            <a:ext cx="566928" cy="566928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194560"/>
            <a:ext cx="292608" cy="2926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08760" y="210312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Final Assessment</a:t>
            </a:r>
            <a:endParaRPr lang="en-US" sz="1900" dirty="0"/>
          </a:p>
        </p:txBody>
      </p:sp>
      <p:sp>
        <p:nvSpPr>
          <p:cNvPr id="8" name="Text 5"/>
          <p:cNvSpPr/>
          <p:nvPr/>
        </p:nvSpPr>
        <p:spPr>
          <a:xfrm>
            <a:off x="868680" y="2880360"/>
            <a:ext cx="493776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Written Assessment (WA) — 30 min, starts 5:00 PM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Performance (PP) — 30 min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Format: Open book — class ends 6:00 PM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Allowed: slides, learner guide &amp; approved materials only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Appeal process available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309360" y="1783080"/>
            <a:ext cx="5303520" cy="4023360"/>
          </a:xfrm>
          <a:prstGeom prst="roundRect">
            <a:avLst>
              <a:gd name="adj" fmla="val 1818"/>
            </a:avLst>
          </a:prstGeom>
          <a:solidFill>
            <a:srgbClr val="21201C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6583680" y="2057400"/>
            <a:ext cx="566928" cy="566928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0840" y="2194560"/>
            <a:ext cx="292608" cy="2926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269480" y="210312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Criteria for Funding</a:t>
            </a:r>
            <a:endParaRPr lang="en-US" sz="1900" dirty="0"/>
          </a:p>
        </p:txBody>
      </p:sp>
      <p:sp>
        <p:nvSpPr>
          <p:cNvPr id="13" name="Text 9"/>
          <p:cNvSpPr/>
          <p:nvPr/>
        </p:nvSpPr>
        <p:spPr>
          <a:xfrm>
            <a:off x="6629400" y="2926080"/>
            <a:ext cx="47548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75% attendance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C9C4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Based on SSG digital attendance records.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Assessed as ‘Competent’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C9C4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and pass both assessment components.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900" dirty="0"/>
          </a:p>
        </p:txBody>
      </p:sp>
      <p:sp>
        <p:nvSpPr>
          <p:cNvPr id="15" name="Text 11"/>
          <p:cNvSpPr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Applications with Claude Code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120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280160"/>
            <a:ext cx="4206240" cy="4206240"/>
          </a:xfrm>
          <a:prstGeom prst="ellipse">
            <a:avLst/>
          </a:prstGeom>
          <a:solidFill>
            <a:srgbClr val="D97757">
              <a:alpha val="17000"/>
            </a:srgbClr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48640" y="64008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MANAGEMENT SYSTEM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Courseware &amp; Assessment on the LMS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40080" y="2103120"/>
            <a:ext cx="548640" cy="548640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240280"/>
            <a:ext cx="274320" cy="274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71600" y="205740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Download the courseware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1371600" y="246888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C4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the slides and learner guide from the LMS for the open-book assessment.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40080" y="3154680"/>
            <a:ext cx="548640" cy="548640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291840"/>
            <a:ext cx="274320" cy="27432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371600" y="310896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Take the assessment</a:t>
            </a:r>
            <a:endParaRPr lang="en-US" sz="1800" dirty="0"/>
          </a:p>
        </p:txBody>
      </p:sp>
      <p:sp>
        <p:nvSpPr>
          <p:cNvPr id="12" name="Text 8"/>
          <p:cNvSpPr/>
          <p:nvPr/>
        </p:nvSpPr>
        <p:spPr>
          <a:xfrm>
            <a:off x="1371600" y="352044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C4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the Written Assessment and Practical Performance on the LMS.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640080" y="4206240"/>
            <a:ext cx="548640" cy="548640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343400"/>
            <a:ext cx="274320" cy="27432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371600" y="416052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 in</a:t>
            </a:r>
            <a:endParaRPr lang="en-US" sz="1800" dirty="0"/>
          </a:p>
        </p:txBody>
      </p:sp>
      <p:sp>
        <p:nvSpPr>
          <p:cNvPr id="16" name="Text 11"/>
          <p:cNvSpPr/>
          <p:nvPr/>
        </p:nvSpPr>
        <p:spPr>
          <a:xfrm>
            <a:off x="1371600" y="457200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C4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your enrolled account to access the course materials and assessment.</a:t>
            </a:r>
            <a:endParaRPr lang="en-US" sz="1400" dirty="0"/>
          </a:p>
        </p:txBody>
      </p:sp>
      <p:sp>
        <p:nvSpPr>
          <p:cNvPr id="17" name="Shape 12"/>
          <p:cNvSpPr/>
          <p:nvPr/>
        </p:nvSpPr>
        <p:spPr>
          <a:xfrm>
            <a:off x="640080" y="5440680"/>
            <a:ext cx="10881360" cy="640080"/>
          </a:xfrm>
          <a:prstGeom prst="roundRect">
            <a:avLst>
              <a:gd name="adj" fmla="val 14286"/>
            </a:avLst>
          </a:prstGeom>
          <a:solidFill>
            <a:srgbClr val="2E2C26"/>
          </a:solidFill>
          <a:ln/>
        </p:spPr>
        <p:txBody>
          <a:bodyPr/>
          <a:p/>
        </p:txBody>
      </p:sp>
      <p:sp>
        <p:nvSpPr>
          <p:cNvPr id="18" name="Text 13">
            <a:hlinkClick r:id="rId7" tooltip=""/>
          </p:cNvPr>
          <p:cNvSpPr/>
          <p:nvPr/>
        </p:nvSpPr>
        <p:spPr>
          <a:xfrm>
            <a:off x="914400" y="5440680"/>
            <a:ext cx="10332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u="sng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 xml:space="preserve">LMS:  </a:t>
            </a:r>
            <a:pPr indent="0" marL="0">
              <a:buNone/>
            </a:pPr>
            <a:r>
              <a:rPr lang="en-US" sz="1600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https://lms-tms.tertiaryinfotech.com/</a:t>
            </a:r>
            <a:endParaRPr lang="en-US" sz="1600" dirty="0"/>
          </a:p>
        </p:txBody>
      </p:sp>
      <p:sp>
        <p:nvSpPr>
          <p:cNvPr id="19" name="Text 14"/>
          <p:cNvSpPr/>
          <p:nvPr/>
        </p:nvSpPr>
        <p:spPr>
          <a:xfrm>
            <a:off x="457200" y="6565392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800" dirty="0"/>
          </a:p>
        </p:txBody>
      </p:sp>
      <p:pic>
        <p:nvPicPr>
          <p:cNvPr id="90" name="LMS Screenshot" descr="lms-tms.tertiaryinfotech.com login page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12480" y="2770327"/>
            <a:ext cx="2194560" cy="1091793"/>
          </a:xfrm>
          <a:prstGeom prst="roundRect">
            <a:avLst>
              <a:gd name="adj" fmla="val 3000"/>
            </a:avLst>
          </a:prstGeom>
          <a:effectLst>
            <a:outerShdw sx="100000" sy="100000" kx="0" ky="0" algn="bl" rotWithShape="0" blurRad="127000" dist="50800" dir="5400000">
              <a:srgbClr val="000000">
                <a:alpha val="30000"/>
              </a:srgbClr>
            </a:outerShdw>
          </a:effectLst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120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280160" y="3657600"/>
            <a:ext cx="4572000" cy="4572000"/>
          </a:xfrm>
          <a:prstGeom prst="ellipse">
            <a:avLst/>
          </a:prstGeom>
          <a:solidFill>
            <a:srgbClr val="D97757">
              <a:alpha val="14000"/>
            </a:srgbClr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822960" y="201168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4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1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77240" y="2514600"/>
            <a:ext cx="76809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Claude Code Fundamentals</a:t>
            </a:r>
            <a:endParaRPr lang="en-US" sz="4200" dirty="0"/>
          </a:p>
        </p:txBody>
      </p:sp>
      <p:sp>
        <p:nvSpPr>
          <p:cNvPr id="5" name="Shape 3"/>
          <p:cNvSpPr/>
          <p:nvPr/>
        </p:nvSpPr>
        <p:spPr>
          <a:xfrm>
            <a:off x="8321040" y="1463040"/>
            <a:ext cx="3200400" cy="2724912"/>
          </a:xfrm>
          <a:prstGeom prst="roundRect">
            <a:avLst>
              <a:gd name="adj" fmla="val 3356"/>
            </a:avLst>
          </a:prstGeom>
          <a:solidFill>
            <a:srgbClr val="2E2C26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549640" y="1755648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77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052560" y="173736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 of Claude Code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549640" y="2322576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77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052560" y="2304288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Agentic Loop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549640" y="2889504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77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9052560" y="2871216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Engineering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549640" y="3456432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77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052560" y="3438144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Activity: Build a website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6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1 · OVERVIEW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Claude Product Family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 offers several Claude products — here's how they differ so you know which is which.</a:t>
            </a:r>
            <a:endParaRPr lang="en-US" sz="1600" dirty="0"/>
          </a:p>
        </p:txBody>
      </p:sp>
      <p:sp>
        <p:nvSpPr>
          <p:cNvPr id="200" name="Shape 3"/>
          <p:cNvSpPr/>
          <p:nvPr/>
        </p:nvSpPr>
        <p:spPr>
          <a:xfrm>
            <a:off x="548640" y="2286000"/>
            <a:ext cx="3576320" cy="1508760"/>
          </a:xfrm>
          <a:prstGeom prst="roundRect">
            <a:avLst>
              <a:gd name="adj" fmla="val 353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201" name="Shape 4"/>
          <p:cNvSpPr/>
          <p:nvPr/>
        </p:nvSpPr>
        <p:spPr>
          <a:xfrm>
            <a:off x="822960" y="2476500"/>
            <a:ext cx="480060" cy="480060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20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9165" y="2592705"/>
            <a:ext cx="247650" cy="247650"/>
          </a:xfrm>
          <a:prstGeom prst="rect">
            <a:avLst/>
          </a:prstGeom>
        </p:spPr>
      </p:pic>
      <p:sp>
        <p:nvSpPr>
          <p:cNvPr id="203" name="Text 5"/>
          <p:cNvSpPr/>
          <p:nvPr/>
        </p:nvSpPr>
        <p:spPr>
          <a:xfrm>
            <a:off x="822960" y="3009900"/>
            <a:ext cx="311912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Claude (Chat + Cowork)</a:t>
            </a:r>
            <a:endParaRPr lang="en-US" sz="1300" dirty="0"/>
          </a:p>
        </p:txBody>
      </p:sp>
      <p:sp>
        <p:nvSpPr>
          <p:cNvPr id="204" name="Text 6"/>
          <p:cNvSpPr/>
          <p:nvPr/>
        </p:nvSpPr>
        <p:spPr>
          <a:xfrm>
            <a:off x="822960" y="3343275"/>
            <a:ext cx="3119120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+ Cowork in one app — web, desktop &amp; mobile.</a:t>
            </a:r>
            <a:endParaRPr lang="en-US" sz="1050" dirty="0"/>
          </a:p>
        </p:txBody>
      </p:sp>
      <p:sp>
        <p:nvSpPr>
          <p:cNvPr id="205" name="Shape 3"/>
          <p:cNvSpPr/>
          <p:nvPr/>
        </p:nvSpPr>
        <p:spPr>
          <a:xfrm>
            <a:off x="4307840" y="2286000"/>
            <a:ext cx="3576320" cy="1508760"/>
          </a:xfrm>
          <a:prstGeom prst="roundRect">
            <a:avLst>
              <a:gd name="adj" fmla="val 353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206" name="Shape 4"/>
          <p:cNvSpPr/>
          <p:nvPr/>
        </p:nvSpPr>
        <p:spPr>
          <a:xfrm>
            <a:off x="4582160" y="2476500"/>
            <a:ext cx="480060" cy="480060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207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8365" y="2592705"/>
            <a:ext cx="247650" cy="247650"/>
          </a:xfrm>
          <a:prstGeom prst="rect">
            <a:avLst/>
          </a:prstGeom>
        </p:spPr>
      </p:pic>
      <p:sp>
        <p:nvSpPr>
          <p:cNvPr id="208" name="Text 5"/>
          <p:cNvSpPr/>
          <p:nvPr/>
        </p:nvSpPr>
        <p:spPr>
          <a:xfrm>
            <a:off x="4582160" y="3009900"/>
            <a:ext cx="311912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Claude Code</a:t>
            </a:r>
            <a:endParaRPr lang="en-US" sz="1300" dirty="0"/>
          </a:p>
        </p:txBody>
      </p:sp>
      <p:sp>
        <p:nvSpPr>
          <p:cNvPr id="209" name="Text 6"/>
          <p:cNvSpPr/>
          <p:nvPr/>
        </p:nvSpPr>
        <p:spPr>
          <a:xfrm>
            <a:off x="4582160" y="3343275"/>
            <a:ext cx="3119120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agentic tool for building — terminal, IDE &amp; web.</a:t>
            </a:r>
            <a:endParaRPr lang="en-US" sz="1050" dirty="0"/>
          </a:p>
        </p:txBody>
      </p:sp>
      <p:sp>
        <p:nvSpPr>
          <p:cNvPr id="215" name="Shape 3"/>
          <p:cNvSpPr/>
          <p:nvPr/>
        </p:nvSpPr>
        <p:spPr>
          <a:xfrm>
            <a:off x="8067040" y="2286000"/>
            <a:ext cx="3576320" cy="1508760"/>
          </a:xfrm>
          <a:prstGeom prst="roundRect">
            <a:avLst>
              <a:gd name="adj" fmla="val 353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216" name="Shape 4"/>
          <p:cNvSpPr/>
          <p:nvPr/>
        </p:nvSpPr>
        <p:spPr>
          <a:xfrm>
            <a:off x="8341360" y="2476500"/>
            <a:ext cx="480060" cy="480060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217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57565" y="2592705"/>
            <a:ext cx="247650" cy="247650"/>
          </a:xfrm>
          <a:prstGeom prst="rect">
            <a:avLst/>
          </a:prstGeom>
        </p:spPr>
      </p:pic>
      <p:sp>
        <p:nvSpPr>
          <p:cNvPr id="218" name="Text 5"/>
          <p:cNvSpPr/>
          <p:nvPr/>
        </p:nvSpPr>
        <p:spPr>
          <a:xfrm>
            <a:off x="8341360" y="3009900"/>
            <a:ext cx="311912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Claude Design</a:t>
            </a:r>
            <a:endParaRPr lang="en-US" sz="1300" dirty="0"/>
          </a:p>
        </p:txBody>
      </p:sp>
      <p:sp>
        <p:nvSpPr>
          <p:cNvPr id="219" name="Text 6"/>
          <p:cNvSpPr/>
          <p:nvPr/>
        </p:nvSpPr>
        <p:spPr>
          <a:xfrm>
            <a:off x="8341360" y="3343275"/>
            <a:ext cx="3119120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Polished UI, prototypes &amp; front-end designs.</a:t>
            </a:r>
            <a:endParaRPr lang="en-US" sz="1050" dirty="0"/>
          </a:p>
        </p:txBody>
      </p:sp>
      <p:sp>
        <p:nvSpPr>
          <p:cNvPr id="220" name="Shape 3"/>
          <p:cNvSpPr/>
          <p:nvPr/>
        </p:nvSpPr>
        <p:spPr>
          <a:xfrm>
            <a:off x="548640" y="3886200"/>
            <a:ext cx="3576320" cy="1508760"/>
          </a:xfrm>
          <a:prstGeom prst="roundRect">
            <a:avLst>
              <a:gd name="adj" fmla="val 353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221" name="Shape 4"/>
          <p:cNvSpPr/>
          <p:nvPr/>
        </p:nvSpPr>
        <p:spPr>
          <a:xfrm>
            <a:off x="822960" y="4076700"/>
            <a:ext cx="480060" cy="480060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222" name="Image 0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9165" y="4192905"/>
            <a:ext cx="247650" cy="247650"/>
          </a:xfrm>
          <a:prstGeom prst="rect">
            <a:avLst/>
          </a:prstGeom>
        </p:spPr>
      </p:pic>
      <p:sp>
        <p:nvSpPr>
          <p:cNvPr id="223" name="Text 5"/>
          <p:cNvSpPr/>
          <p:nvPr/>
        </p:nvSpPr>
        <p:spPr>
          <a:xfrm>
            <a:off x="822960" y="4610100"/>
            <a:ext cx="311912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Claude for Microsoft</a:t>
            </a:r>
            <a:endParaRPr lang="en-US" sz="1300" dirty="0"/>
          </a:p>
        </p:txBody>
      </p:sp>
      <p:sp>
        <p:nvSpPr>
          <p:cNvPr id="224" name="Text 6"/>
          <p:cNvSpPr/>
          <p:nvPr/>
        </p:nvSpPr>
        <p:spPr>
          <a:xfrm>
            <a:off x="822960" y="4943475"/>
            <a:ext cx="3119120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inside Excel, PowerPoint, Word &amp; Outlook.</a:t>
            </a:r>
            <a:endParaRPr lang="en-US" sz="1050" dirty="0"/>
          </a:p>
        </p:txBody>
      </p:sp>
      <p:sp>
        <p:nvSpPr>
          <p:cNvPr id="225" name="Shape 3"/>
          <p:cNvSpPr/>
          <p:nvPr/>
        </p:nvSpPr>
        <p:spPr>
          <a:xfrm>
            <a:off x="4307840" y="3886200"/>
            <a:ext cx="3576320" cy="1508760"/>
          </a:xfrm>
          <a:prstGeom prst="roundRect">
            <a:avLst>
              <a:gd name="adj" fmla="val 353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226" name="Shape 4"/>
          <p:cNvSpPr/>
          <p:nvPr/>
        </p:nvSpPr>
        <p:spPr>
          <a:xfrm>
            <a:off x="4582160" y="4076700"/>
            <a:ext cx="480060" cy="480060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227" name="Image 0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98365" y="4192905"/>
            <a:ext cx="247650" cy="247650"/>
          </a:xfrm>
          <a:prstGeom prst="rect">
            <a:avLst/>
          </a:prstGeom>
        </p:spPr>
      </p:pic>
      <p:sp>
        <p:nvSpPr>
          <p:cNvPr id="228" name="Text 5"/>
          <p:cNvSpPr/>
          <p:nvPr/>
        </p:nvSpPr>
        <p:spPr>
          <a:xfrm>
            <a:off x="4582160" y="4610100"/>
            <a:ext cx="311912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Claude for Chrome</a:t>
            </a:r>
            <a:endParaRPr lang="en-US" sz="1300" dirty="0"/>
          </a:p>
        </p:txBody>
      </p:sp>
      <p:sp>
        <p:nvSpPr>
          <p:cNvPr id="229" name="Text 6"/>
          <p:cNvSpPr/>
          <p:nvPr/>
        </p:nvSpPr>
        <p:spPr>
          <a:xfrm>
            <a:off x="4582160" y="4943475"/>
            <a:ext cx="3119120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agent that clicks &amp; fills forms in Chrome.</a:t>
            </a:r>
            <a:endParaRPr lang="en-US" sz="1050" dirty="0"/>
          </a:p>
        </p:txBody>
      </p:sp>
      <p:sp>
        <p:nvSpPr>
          <p:cNvPr id="230" name="Shape 3"/>
          <p:cNvSpPr/>
          <p:nvPr/>
        </p:nvSpPr>
        <p:spPr>
          <a:xfrm>
            <a:off x="8067040" y="3886200"/>
            <a:ext cx="3576320" cy="1508760"/>
          </a:xfrm>
          <a:prstGeom prst="roundRect">
            <a:avLst>
              <a:gd name="adj" fmla="val 353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231" name="Shape 4"/>
          <p:cNvSpPr/>
          <p:nvPr/>
        </p:nvSpPr>
        <p:spPr>
          <a:xfrm>
            <a:off x="8341360" y="4076700"/>
            <a:ext cx="480060" cy="480060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232" name="Image 0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457565" y="4192905"/>
            <a:ext cx="247650" cy="247650"/>
          </a:xfrm>
          <a:prstGeom prst="rect">
            <a:avLst/>
          </a:prstGeom>
        </p:spPr>
      </p:pic>
      <p:sp>
        <p:nvSpPr>
          <p:cNvPr id="233" name="Text 5"/>
          <p:cNvSpPr/>
          <p:nvPr/>
        </p:nvSpPr>
        <p:spPr>
          <a:xfrm>
            <a:off x="8341360" y="4610100"/>
            <a:ext cx="311912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Claude for Science</a:t>
            </a:r>
            <a:endParaRPr lang="en-US" sz="1300" dirty="0"/>
          </a:p>
        </p:txBody>
      </p:sp>
      <p:sp>
        <p:nvSpPr>
          <p:cNvPr id="234" name="Text 6"/>
          <p:cNvSpPr/>
          <p:nvPr/>
        </p:nvSpPr>
        <p:spPr>
          <a:xfrm>
            <a:off x="8341360" y="4943475"/>
            <a:ext cx="3119120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Speeds up research workflows for scientists and labs.</a:t>
            </a:r>
            <a:endParaRPr lang="en-US" sz="1050" dirty="0"/>
          </a:p>
        </p:txBody>
      </p:sp>
      <p:sp>
        <p:nvSpPr>
          <p:cNvPr id="30" name="Text 23"/>
          <p:cNvSpPr/>
          <p:nvPr/>
        </p:nvSpPr>
        <p:spPr>
          <a:xfrm>
            <a:off x="548640" y="563880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TIP  </a:t>
            </a:r>
            <a:pPr indent="0" marL="0">
              <a:buNone/>
            </a:pPr>
            <a:r>
              <a:rPr lang="en-US" sz="1300" i="1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are powered by the same Claude models — they differ in where they run and who they're for.</a:t>
            </a:r>
            <a:endParaRPr lang="en-US" sz="1300" dirty="0"/>
          </a:p>
        </p:txBody>
      </p:sp>
      <p:sp>
        <p:nvSpPr>
          <p:cNvPr id="31" name="Text 24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900" dirty="0"/>
          </a:p>
        </p:txBody>
      </p:sp>
      <p:sp>
        <p:nvSpPr>
          <p:cNvPr id="32" name="Text 25"/>
          <p:cNvSpPr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Applications with Claude Code</a:t>
            </a:r>
            <a:endParaRPr lang="en-US" sz="900" dirty="0"/>
          </a:p>
        </p:txBody>
      </p:sp>
      <p:sp>
        <p:nvSpPr>
          <p:cNvPr id="33" name="Text 26"/>
          <p:cNvSpPr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1 · OVERVIEW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Claude (Chat + Cowork) and Claude Code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and Cowork are now one app: Claude. Claude Code is the agentic tool for building — the one we use in this course.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5486400" cy="3383280"/>
          </a:xfrm>
          <a:prstGeom prst="roundRect">
            <a:avLst>
              <a:gd name="adj" fmla="val 216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822960" y="2560320"/>
            <a:ext cx="566928" cy="566928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7" name="Image 0" descr="icon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697480"/>
            <a:ext cx="292608" cy="29260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508760" y="2606040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Claude (Chat + Cowork)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868680" y="3337560"/>
            <a:ext cx="493776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Chat: ask, draft, analyse and research with web search.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Cowork: plans and runs multi-step tasks on your files.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Connectors &amp; skills: Drive, Gmail, Calendar, Microsoft 365.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everyone — web, desktop and mobile apps.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309360" y="2286000"/>
            <a:ext cx="5303520" cy="3383280"/>
          </a:xfrm>
          <a:prstGeom prst="roundRect">
            <a:avLst>
              <a:gd name="adj" fmla="val 2162"/>
            </a:avLst>
          </a:prstGeom>
          <a:solidFill>
            <a:srgbClr val="21201C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6583680" y="2560320"/>
            <a:ext cx="566928" cy="566928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12" name="Image 1" descr="ico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0840" y="2697480"/>
            <a:ext cx="292608" cy="29260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269480" y="260604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Claude Code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6629400" y="3337560"/>
            <a:ext cx="475488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tool for building software, sites and automations.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in the terminal, VS Code, desktop app and web.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Edits files, runs commands and calls MCP tools for you.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 with CLAUDE.md, skills, sub agents and hooks.</a:t>
            </a:r>
            <a:endParaRPr lang="en-US" sz="1350" dirty="0"/>
          </a:p>
        </p:txBody>
      </p:sp>
      <p:sp>
        <p:nvSpPr>
          <p:cNvPr id="15" name="Text 11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Applications with Claude Code</a:t>
            </a:r>
            <a:endParaRPr lang="en-US" sz="900" dirty="0"/>
          </a:p>
        </p:txBody>
      </p:sp>
      <p:sp>
        <p:nvSpPr>
          <p:cNvPr id="17" name="Text 13"/>
          <p:cNvSpPr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2120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1 · OVERVIEW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Brief History of AI, 2023–2026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371600" y="3657600"/>
            <a:ext cx="9418320" cy="0"/>
          </a:xfrm>
          <a:prstGeom prst="line">
            <a:avLst/>
          </a:prstGeom>
          <a:noFill/>
          <a:ln w="25400">
            <a:solidFill>
              <a:srgbClr val="6B686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2148840"/>
            <a:ext cx="2743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977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Prompt Engineering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1691640" y="3246120"/>
            <a:ext cx="822960" cy="822960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691640" y="324612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2023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85800" y="4251960"/>
            <a:ext cx="28346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C9C4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 goes mainstream; results depend on the prompt wording.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3566160" y="2148840"/>
            <a:ext cx="2743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977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Context Engineering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526280" y="3246120"/>
            <a:ext cx="822960" cy="822960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4526280" y="324612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2024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520440" y="4251960"/>
            <a:ext cx="28346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C9C4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call tools and MCP launches; results depend on context.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400800" y="2148840"/>
            <a:ext cx="2743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977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Harness Engineering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7360920" y="3246120"/>
            <a:ext cx="822960" cy="822960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60920" y="324612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2025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355080" y="4251960"/>
            <a:ext cx="28346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C9C4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&amp; Codex: systems that plan, act and check their work.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9052560" y="2148840"/>
            <a:ext cx="2743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977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Agents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10012680" y="3246120"/>
            <a:ext cx="822960" cy="822960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10012680" y="324612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2026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9006840" y="4251960"/>
            <a:ext cx="28346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C9C4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Always-on agents work 24/7 — OpenClaw, Hermes Agent, agent teams.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548640" y="58978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wording one prompt → curating context → engineering the harness → AI agents that work around the clock.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57200" y="6565392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1 · OVERVIEW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Harness Engineering?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harness is the system built around the model — the agentic loop, tools, context management, verification and guardrails — that turns a capable model into an agent which can complete long-running tasks. Harness engineering is designing that scaffolding (and stripping it back as models improve).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548640" y="26974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harness provides: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3154680"/>
            <a:ext cx="52120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agentic loop</a:t>
            </a:r>
            <a:endParaRPr lang="en-US" sz="14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access (files, shell, MCP)</a:t>
            </a:r>
            <a:endParaRPr lang="en-US" sz="14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&amp; memory management</a:t>
            </a:r>
            <a:endParaRPr lang="en-US" sz="14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 &amp; guardrails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309360" y="2697480"/>
            <a:ext cx="5303520" cy="2651760"/>
          </a:xfrm>
          <a:prstGeom prst="roundRect">
            <a:avLst>
              <a:gd name="adj" fmla="val 3448"/>
            </a:avLst>
          </a:prstGeom>
          <a:solidFill>
            <a:srgbClr val="21201C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583680" y="288036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Examples of harness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583680" y="3383280"/>
            <a:ext cx="2331720" cy="475488"/>
          </a:xfrm>
          <a:prstGeom prst="roundRect">
            <a:avLst>
              <a:gd name="adj" fmla="val 50000"/>
            </a:avLst>
          </a:prstGeom>
          <a:solidFill>
            <a:srgbClr val="2E2C26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583680" y="3383280"/>
            <a:ext cx="23317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9098280" y="3383280"/>
            <a:ext cx="2331720" cy="475488"/>
          </a:xfrm>
          <a:prstGeom prst="roundRect">
            <a:avLst>
              <a:gd name="adj" fmla="val 50000"/>
            </a:avLst>
          </a:prstGeom>
          <a:solidFill>
            <a:srgbClr val="2E2C26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9098280" y="3383280"/>
            <a:ext cx="23317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Cowork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583680" y="3986784"/>
            <a:ext cx="2331720" cy="475488"/>
          </a:xfrm>
          <a:prstGeom prst="roundRect">
            <a:avLst>
              <a:gd name="adj" fmla="val 50000"/>
            </a:avLst>
          </a:prstGeom>
          <a:solidFill>
            <a:srgbClr val="2E2C26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583680" y="3986784"/>
            <a:ext cx="23317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 Codex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9098280" y="3986784"/>
            <a:ext cx="2331720" cy="475488"/>
          </a:xfrm>
          <a:prstGeom prst="roundRect">
            <a:avLst>
              <a:gd name="adj" fmla="val 50000"/>
            </a:avLst>
          </a:prstGeom>
          <a:solidFill>
            <a:srgbClr val="2E2C26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9098280" y="3986784"/>
            <a:ext cx="23317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CLI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583680" y="4590288"/>
            <a:ext cx="2331720" cy="475488"/>
          </a:xfrm>
          <a:prstGeom prst="roundRect">
            <a:avLst>
              <a:gd name="adj" fmla="val 50000"/>
            </a:avLst>
          </a:prstGeom>
          <a:solidFill>
            <a:srgbClr val="2E2C26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6583680" y="4590288"/>
            <a:ext cx="23317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OpenClaw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9098280" y="4590288"/>
            <a:ext cx="2331720" cy="475488"/>
          </a:xfrm>
          <a:prstGeom prst="roundRect">
            <a:avLst>
              <a:gd name="adj" fmla="val 50000"/>
            </a:avLst>
          </a:prstGeom>
          <a:solidFill>
            <a:srgbClr val="2E2C26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9098280" y="4590288"/>
            <a:ext cx="23317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Hermes Agent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548640" y="557784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TIP  </a:t>
            </a:r>
            <a:pPr indent="0" marL="0">
              <a:buNone/>
            </a:pPr>
            <a:r>
              <a:rPr lang="en-US" sz="1300" i="1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simplest harness that works — and re-examine it with every new, more capable model.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Applications with Claude Code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1 · OVERVIEW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Claude Code?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is an agentic coding tool that lives in your terminal. You describe a goal in plain English, and Claude plans, writes, runs and verifies the work — editing files, running commands and using tools on your behalf.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2834640"/>
            <a:ext cx="2706624" cy="274320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822960" y="3108960"/>
            <a:ext cx="566928" cy="566928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3246120"/>
            <a:ext cx="292608" cy="29260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22960" y="3794760"/>
            <a:ext cx="21579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Terminal-native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22960" y="4297680"/>
            <a:ext cx="2203704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where you already work — no heavy IDE required.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3374136" y="2834640"/>
            <a:ext cx="2706624" cy="274320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3648456" y="3108960"/>
            <a:ext cx="566928" cy="566928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5616" y="3246120"/>
            <a:ext cx="292608" cy="29260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648456" y="3794760"/>
            <a:ext cx="21579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Agentic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3648456" y="4297680"/>
            <a:ext cx="2203704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Plans multi-step tasks and acts, not just autocompletes.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6199632" y="2834640"/>
            <a:ext cx="2706624" cy="274320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6" name="Shape 12"/>
          <p:cNvSpPr/>
          <p:nvPr/>
        </p:nvSpPr>
        <p:spPr>
          <a:xfrm>
            <a:off x="6473952" y="3108960"/>
            <a:ext cx="566928" cy="566928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1112" y="3246120"/>
            <a:ext cx="292608" cy="292608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473952" y="3794760"/>
            <a:ext cx="21579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Tool-using</a:t>
            </a:r>
            <a:endParaRPr lang="en-US" sz="1600" dirty="0"/>
          </a:p>
        </p:txBody>
      </p:sp>
      <p:sp>
        <p:nvSpPr>
          <p:cNvPr id="19" name="Text 14"/>
          <p:cNvSpPr/>
          <p:nvPr/>
        </p:nvSpPr>
        <p:spPr>
          <a:xfrm>
            <a:off x="6473952" y="4297680"/>
            <a:ext cx="2203704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Reads/writes files, runs bash, calls MCP servers.</a:t>
            </a:r>
            <a:endParaRPr lang="en-US" sz="1300" dirty="0"/>
          </a:p>
        </p:txBody>
      </p:sp>
      <p:sp>
        <p:nvSpPr>
          <p:cNvPr id="20" name="Shape 15"/>
          <p:cNvSpPr/>
          <p:nvPr/>
        </p:nvSpPr>
        <p:spPr>
          <a:xfrm>
            <a:off x="9025128" y="2834640"/>
            <a:ext cx="2706624" cy="274320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21" name="Shape 16"/>
          <p:cNvSpPr/>
          <p:nvPr/>
        </p:nvSpPr>
        <p:spPr>
          <a:xfrm>
            <a:off x="9299448" y="3108960"/>
            <a:ext cx="566928" cy="566928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36608" y="3246120"/>
            <a:ext cx="292608" cy="292608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9299448" y="3794760"/>
            <a:ext cx="21579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Extensible</a:t>
            </a:r>
            <a:endParaRPr lang="en-US" sz="1600" dirty="0"/>
          </a:p>
        </p:txBody>
      </p:sp>
      <p:sp>
        <p:nvSpPr>
          <p:cNvPr id="24" name="Text 18"/>
          <p:cNvSpPr/>
          <p:nvPr/>
        </p:nvSpPr>
        <p:spPr>
          <a:xfrm>
            <a:off x="9299448" y="4297680"/>
            <a:ext cx="2203704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commands, skills, sub-agents and hooks.</a:t>
            </a:r>
            <a:endParaRPr lang="en-US" sz="1300" dirty="0"/>
          </a:p>
        </p:txBody>
      </p:sp>
      <p:sp>
        <p:nvSpPr>
          <p:cNvPr id="25" name="Text 19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900" dirty="0"/>
          </a:p>
        </p:txBody>
      </p:sp>
      <p:sp>
        <p:nvSpPr>
          <p:cNvPr id="26" name="Text 20"/>
          <p:cNvSpPr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Applications with Claude Code</a:t>
            </a:r>
            <a:endParaRPr lang="en-US" sz="900" dirty="0"/>
          </a:p>
        </p:txBody>
      </p:sp>
      <p:sp>
        <p:nvSpPr>
          <p:cNvPr id="27" name="Text 21"/>
          <p:cNvSpPr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1 · OVERVIEW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Claude Code Can Do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handles real engineering tasks end to end — describe the outcome and it does the work.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331720"/>
            <a:ext cx="2635758" cy="2651760"/>
          </a:xfrm>
          <a:prstGeom prst="roundRect">
            <a:avLst>
              <a:gd name="adj" fmla="val 277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822960" y="2606040"/>
            <a:ext cx="566928" cy="566928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743200"/>
            <a:ext cx="292608" cy="29260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22960" y="3291840"/>
            <a:ext cx="213283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22960" y="3776472"/>
            <a:ext cx="2178558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features, apps and whole projects from a prompt.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3367278" y="2331720"/>
            <a:ext cx="2635758" cy="2651760"/>
          </a:xfrm>
          <a:prstGeom prst="roundRect">
            <a:avLst>
              <a:gd name="adj" fmla="val 277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3641598" y="2606040"/>
            <a:ext cx="566928" cy="566928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8758" y="2743200"/>
            <a:ext cx="292608" cy="29260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641598" y="3291840"/>
            <a:ext cx="213283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Debug &amp; fix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3641598" y="3776472"/>
            <a:ext cx="2178558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and fix errors; read logs and stack traces.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6185916" y="2331720"/>
            <a:ext cx="2635758" cy="2651760"/>
          </a:xfrm>
          <a:prstGeom prst="roundRect">
            <a:avLst>
              <a:gd name="adj" fmla="val 277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6" name="Shape 12"/>
          <p:cNvSpPr/>
          <p:nvPr/>
        </p:nvSpPr>
        <p:spPr>
          <a:xfrm>
            <a:off x="6460236" y="2606040"/>
            <a:ext cx="566928" cy="566928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7396" y="2743200"/>
            <a:ext cx="292608" cy="292608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460236" y="3291840"/>
            <a:ext cx="213283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Refactor</a:t>
            </a:r>
            <a:endParaRPr lang="en-US" sz="1600" dirty="0"/>
          </a:p>
        </p:txBody>
      </p:sp>
      <p:sp>
        <p:nvSpPr>
          <p:cNvPr id="19" name="Text 14"/>
          <p:cNvSpPr/>
          <p:nvPr/>
        </p:nvSpPr>
        <p:spPr>
          <a:xfrm>
            <a:off x="6460236" y="3776472"/>
            <a:ext cx="2178558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Improve, restructure and document existing code.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9004554" y="2331720"/>
            <a:ext cx="2635758" cy="2651760"/>
          </a:xfrm>
          <a:prstGeom prst="roundRect">
            <a:avLst>
              <a:gd name="adj" fmla="val 277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21" name="Shape 16"/>
          <p:cNvSpPr/>
          <p:nvPr/>
        </p:nvSpPr>
        <p:spPr>
          <a:xfrm>
            <a:off x="9278874" y="2606040"/>
            <a:ext cx="566928" cy="566928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6034" y="2743200"/>
            <a:ext cx="292608" cy="292608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9278874" y="3291840"/>
            <a:ext cx="213283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Automate</a:t>
            </a:r>
            <a:endParaRPr lang="en-US" sz="1600" dirty="0"/>
          </a:p>
        </p:txBody>
      </p:sp>
      <p:sp>
        <p:nvSpPr>
          <p:cNvPr id="24" name="Text 18"/>
          <p:cNvSpPr/>
          <p:nvPr/>
        </p:nvSpPr>
        <p:spPr>
          <a:xfrm>
            <a:off x="9278874" y="3776472"/>
            <a:ext cx="2178558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git, tests, deployment and CI/CD workflows.</a:t>
            </a:r>
            <a:endParaRPr lang="en-US" sz="1250" dirty="0"/>
          </a:p>
        </p:txBody>
      </p:sp>
      <p:sp>
        <p:nvSpPr>
          <p:cNvPr id="25" name="Text 19"/>
          <p:cNvSpPr/>
          <p:nvPr/>
        </p:nvSpPr>
        <p:spPr>
          <a:xfrm>
            <a:off x="548640" y="521208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Common use cases:  </a:t>
            </a:r>
            <a:pPr indent="0" marL="0">
              <a:buNone/>
            </a:pPr>
            <a:r>
              <a:rPr lang="en-US" sz="13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marketing sites &amp; landing pages · internal web tools · full-stack apps · mobile apps · scripts &amp; automations · data tasks.</a:t>
            </a:r>
            <a:endParaRPr lang="en-US" sz="1350" dirty="0"/>
          </a:p>
        </p:txBody>
      </p:sp>
      <p:sp>
        <p:nvSpPr>
          <p:cNvPr id="26" name="Text 20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900" dirty="0"/>
          </a:p>
        </p:txBody>
      </p:sp>
      <p:sp>
        <p:nvSpPr>
          <p:cNvPr id="27" name="Text 21"/>
          <p:cNvSpPr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Applications with Claude Code</a:t>
            </a:r>
            <a:endParaRPr lang="en-US" sz="900" dirty="0"/>
          </a:p>
        </p:txBody>
      </p:sp>
      <p:sp>
        <p:nvSpPr>
          <p:cNvPr id="28" name="Text 22"/>
          <p:cNvSpPr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1 · SETUP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Setup Claude Code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agentic loop runs everywhere — choose the interface that fits how you work.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423160"/>
            <a:ext cx="3575304" cy="283464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822960" y="2697480"/>
            <a:ext cx="566928" cy="566928"/>
          </a:xfrm>
          <a:prstGeom prst="ellipse">
            <a:avLst/>
          </a:prstGeom>
          <a:solidFill>
            <a:srgbClr val="3A7D7B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834640"/>
            <a:ext cx="292608" cy="29260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22960" y="3383280"/>
            <a:ext cx="30723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Terminal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22960" y="3867912"/>
            <a:ext cx="3118104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the CLI, then run `claude` in any project.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Mac/Linux: curl -fsSL claude.ai/install.sh | bash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306824" y="2423160"/>
            <a:ext cx="3575304" cy="283464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4581144" y="2697480"/>
            <a:ext cx="566928" cy="566928"/>
          </a:xfrm>
          <a:prstGeom prst="ellipse">
            <a:avLst/>
          </a:prstGeom>
          <a:solidFill>
            <a:srgbClr val="3A7D7B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8304" y="2834640"/>
            <a:ext cx="292608" cy="29260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581144" y="3383280"/>
            <a:ext cx="30723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 (VS Code)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4581144" y="3867912"/>
            <a:ext cx="3118104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the Claude Code extension (also Cursor &amp; JetBrains): inline diffs, @-mentions, plan review.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8065008" y="2423160"/>
            <a:ext cx="3575304" cy="283464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6" name="Shape 12"/>
          <p:cNvSpPr/>
          <p:nvPr/>
        </p:nvSpPr>
        <p:spPr>
          <a:xfrm>
            <a:off x="8339328" y="2697480"/>
            <a:ext cx="566928" cy="566928"/>
          </a:xfrm>
          <a:prstGeom prst="ellipse">
            <a:avLst/>
          </a:prstGeom>
          <a:solidFill>
            <a:srgbClr val="3A7D7B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6488" y="2834640"/>
            <a:ext cx="292608" cy="292608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339328" y="3383280"/>
            <a:ext cx="30723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Desktop App</a:t>
            </a:r>
            <a:endParaRPr lang="en-US" sz="1600" dirty="0"/>
          </a:p>
        </p:txBody>
      </p:sp>
      <p:sp>
        <p:nvSpPr>
          <p:cNvPr id="19" name="Text 14"/>
          <p:cNvSpPr/>
          <p:nvPr/>
        </p:nvSpPr>
        <p:spPr>
          <a:xfrm>
            <a:off x="8339328" y="3867912"/>
            <a:ext cx="3118104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full GUI for parallel sessions, scheduled tasks and connectors — runs on your machine.</a:t>
            </a:r>
            <a:endParaRPr lang="en-US" sz="1250" dirty="0"/>
          </a:p>
        </p:txBody>
      </p:sp>
      <p:sp>
        <p:nvSpPr>
          <p:cNvPr id="20" name="Text 15"/>
          <p:cNvSpPr/>
          <p:nvPr/>
        </p:nvSpPr>
        <p:spPr>
          <a:xfrm>
            <a:off x="548640" y="553212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TIP  </a:t>
            </a:r>
            <a:pPr indent="0" marL="0">
              <a:buNone/>
            </a:pPr>
            <a:r>
              <a:rPr lang="en-US" sz="1300" i="1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CLI yet? In VS Code just ask Claude Code: “install claude cli in the terminal for me.”</a:t>
            </a:r>
            <a:endParaRPr lang="en-US" sz="1300" dirty="0"/>
          </a:p>
        </p:txBody>
      </p:sp>
      <p:sp>
        <p:nvSpPr>
          <p:cNvPr id="21" name="Text 16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900" dirty="0"/>
          </a:p>
        </p:txBody>
      </p:sp>
      <p:sp>
        <p:nvSpPr>
          <p:cNvPr id="22" name="Text 17"/>
          <p:cNvSpPr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Applications with Claude Code</a:t>
            </a:r>
            <a:endParaRPr lang="en-US" sz="900" dirty="0"/>
          </a:p>
        </p:txBody>
      </p:sp>
      <p:sp>
        <p:nvSpPr>
          <p:cNvPr id="23" name="Text 18"/>
          <p:cNvSpPr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>
                <a:solidFill>
                  <a:srgbClr val="D97757"/>
                </a:solidFill>
                <a:latin typeface="Calibri"/>
              </a:rPr>
              <a:t>TOPIC 1 ·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>
                <a:solidFill>
                  <a:srgbClr val="21201C"/>
                </a:solidFill>
                <a:latin typeface="Cambria"/>
              </a:rPr>
              <a:t>Setup Claude Code in VS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91640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21201C"/>
                </a:solidFill>
                <a:latin typeface="Calibri"/>
              </a:rPr>
              <a:t>Add Claude Code to VS Code in five steps — from a clean install to signed in and ready to build.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2400000"/>
            <a:ext cx="480000" cy="480000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2370000"/>
            <a:ext cx="10360000" cy="5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21201C"/>
                </a:solidFill>
                <a:latin typeface="Cambria"/>
              </a:rPr>
              <a:t>Install VS Code</a:t>
            </a:r>
          </a:p>
          <a:p>
            <a:pPr>
              <a:spcBef>
                <a:spcPts val="200"/>
              </a:spcBef>
            </a:pPr>
            <a:r>
              <a:rPr sz="1150" b="0">
                <a:solidFill>
                  <a:srgbClr val="6B6862"/>
                </a:solidFill>
                <a:latin typeface="Calibri"/>
              </a:rPr>
              <a:t>Download from code.visualstudio.com/download and install it for your operating system.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3040080"/>
            <a:ext cx="480000" cy="480000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3010080"/>
            <a:ext cx="10360000" cy="5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21201C"/>
                </a:solidFill>
                <a:latin typeface="Cambria"/>
              </a:rPr>
              <a:t>Open a project folder</a:t>
            </a:r>
          </a:p>
          <a:p>
            <a:pPr>
              <a:spcBef>
                <a:spcPts val="200"/>
              </a:spcBef>
            </a:pPr>
            <a:r>
              <a:rPr sz="1150" b="0">
                <a:solidFill>
                  <a:srgbClr val="6B6862"/>
                </a:solidFill>
                <a:latin typeface="Calibri"/>
              </a:rPr>
              <a:t>Launch VS Code and open an empty folder to start a new project.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680160"/>
            <a:ext cx="480000" cy="480000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650160"/>
            <a:ext cx="10360000" cy="5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21201C"/>
                </a:solidFill>
                <a:latin typeface="Cambria"/>
              </a:rPr>
              <a:t>Install the Claude Code extension</a:t>
            </a:r>
          </a:p>
          <a:p>
            <a:pPr>
              <a:spcBef>
                <a:spcPts val="200"/>
              </a:spcBef>
            </a:pPr>
            <a:r>
              <a:rPr sz="1150" b="0">
                <a:solidFill>
                  <a:srgbClr val="6B6862"/>
                </a:solidFill>
                <a:latin typeface="Calibri"/>
              </a:rPr>
              <a:t>In the Extensions panel, search for “Claude Code” and click Install.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4320240"/>
            <a:ext cx="480000" cy="480000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290240"/>
            <a:ext cx="10360000" cy="5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21201C"/>
                </a:solidFill>
                <a:latin typeface="Cambria"/>
              </a:rPr>
              <a:t>Move it to the secondary side bar</a:t>
            </a:r>
          </a:p>
          <a:p>
            <a:pPr>
              <a:spcBef>
                <a:spcPts val="200"/>
              </a:spcBef>
            </a:pPr>
            <a:r>
              <a:rPr sz="1150" b="0">
                <a:solidFill>
                  <a:srgbClr val="6B6862"/>
                </a:solidFill>
                <a:latin typeface="Calibri"/>
              </a:rPr>
              <a:t>Drag the Claude Code icon into the secondary side bar so it stays open beside your editor.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4960320"/>
            <a:ext cx="480000" cy="480000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4930320"/>
            <a:ext cx="10360000" cy="5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21201C"/>
                </a:solidFill>
                <a:latin typeface="Cambria"/>
              </a:rPr>
              <a:t>Sign in with your subscription</a:t>
            </a:r>
          </a:p>
          <a:p>
            <a:pPr>
              <a:spcBef>
                <a:spcPts val="200"/>
              </a:spcBef>
            </a:pPr>
            <a:r>
              <a:rPr sz="1150" b="0">
                <a:solidFill>
                  <a:srgbClr val="6B6862"/>
                </a:solidFill>
                <a:latin typeface="Calibri"/>
              </a:rPr>
              <a:t>Click Sign in and log in with your Claude Pro or Max subscription — you’re ready to build.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620000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>
                <a:solidFill>
                  <a:srgbClr val="D97757"/>
                </a:solidFill>
                <a:latin typeface="Calibri"/>
              </a:rPr>
              <a:t xml:space="preserve">TIP  </a:t>
            </a:r>
            <a:r>
              <a:rPr sz="1300" b="0">
                <a:solidFill>
                  <a:srgbClr val="6B6862"/>
                </a:solidFill>
                <a:latin typeface="Calibri"/>
              </a:rPr>
              <a:t>No CLI needed to start — the VS Code extension runs the same agentic loop. Ask it to “install the Claude CLI” anytime.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B6862"/>
                </a:solidFill>
                <a:latin typeface="Calibri"/>
              </a:rPr>
              <a:t>©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Agentic AI Applications with Claude Code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B6862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1 · SETUP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Claude Code Pricing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is included in the subscription plans (from Pro up) and is also available pay-as-you-go via the API.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194560"/>
            <a:ext cx="2635758" cy="251460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822960" y="2468880"/>
            <a:ext cx="566928" cy="566928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606040"/>
            <a:ext cx="292608" cy="29260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22960" y="3154680"/>
            <a:ext cx="213283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22960" y="3639312"/>
            <a:ext cx="2178558" cy="9784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$17/mo (annual) · $20 monthly. Claude Code included.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3367278" y="2194560"/>
            <a:ext cx="2635758" cy="251460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3641598" y="2468880"/>
            <a:ext cx="566928" cy="566928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8758" y="2606040"/>
            <a:ext cx="292608" cy="29260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641598" y="3154680"/>
            <a:ext cx="213283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Max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3641598" y="3639312"/>
            <a:ext cx="2178558" cy="9784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$100/mo — 5× or 20× more usage than Pro.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6185916" y="2194560"/>
            <a:ext cx="2635758" cy="251460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6" name="Shape 12"/>
          <p:cNvSpPr/>
          <p:nvPr/>
        </p:nvSpPr>
        <p:spPr>
          <a:xfrm>
            <a:off x="6460236" y="2468880"/>
            <a:ext cx="566928" cy="566928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7396" y="2606040"/>
            <a:ext cx="292608" cy="292608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460236" y="3154680"/>
            <a:ext cx="213283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Team</a:t>
            </a:r>
            <a:endParaRPr lang="en-US" sz="1600" dirty="0"/>
          </a:p>
        </p:txBody>
      </p:sp>
      <p:sp>
        <p:nvSpPr>
          <p:cNvPr id="19" name="Text 14"/>
          <p:cNvSpPr/>
          <p:nvPr/>
        </p:nvSpPr>
        <p:spPr>
          <a:xfrm>
            <a:off x="6460236" y="3639312"/>
            <a:ext cx="2178558" cy="9784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$20/seat standard · $100/seat premium (5× usage).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9004554" y="2194560"/>
            <a:ext cx="2635758" cy="251460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21" name="Shape 16"/>
          <p:cNvSpPr/>
          <p:nvPr/>
        </p:nvSpPr>
        <p:spPr>
          <a:xfrm>
            <a:off x="9278874" y="2468880"/>
            <a:ext cx="566928" cy="566928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6034" y="2606040"/>
            <a:ext cx="292608" cy="292608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9278874" y="3154680"/>
            <a:ext cx="213283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Enterprise</a:t>
            </a:r>
            <a:endParaRPr lang="en-US" sz="1600" dirty="0"/>
          </a:p>
        </p:txBody>
      </p:sp>
      <p:sp>
        <p:nvSpPr>
          <p:cNvPr id="24" name="Text 18"/>
          <p:cNvSpPr/>
          <p:nvPr/>
        </p:nvSpPr>
        <p:spPr>
          <a:xfrm>
            <a:off x="9278874" y="3639312"/>
            <a:ext cx="2178558" cy="9784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$20/seat + usage at API rates. Contact sales.</a:t>
            </a:r>
            <a:endParaRPr lang="en-US" sz="1250" dirty="0"/>
          </a:p>
        </p:txBody>
      </p:sp>
      <p:sp>
        <p:nvSpPr>
          <p:cNvPr id="25" name="Shape 19"/>
          <p:cNvSpPr/>
          <p:nvPr/>
        </p:nvSpPr>
        <p:spPr>
          <a:xfrm>
            <a:off x="548640" y="489204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21201C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26" name="Text 20"/>
          <p:cNvSpPr/>
          <p:nvPr/>
        </p:nvSpPr>
        <p:spPr>
          <a:xfrm>
            <a:off x="822960" y="4892040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API pay-as-you-go (per million tokens, input / output):  </a:t>
            </a:r>
            <a:pPr indent="0" marL="0">
              <a:buNone/>
            </a:pPr>
            <a:r>
              <a:rPr lang="en-US" sz="140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Opus 4.8 $5 / $25   ·   Sonnet 4.6 $3 / $15   ·   Haiku 4.5 $1 / $5</a:t>
            </a:r>
            <a:endParaRPr lang="en-US" sz="1400" dirty="0"/>
          </a:p>
        </p:txBody>
      </p:sp>
      <p:sp>
        <p:nvSpPr>
          <p:cNvPr id="27" name="Text 21"/>
          <p:cNvSpPr/>
          <p:nvPr/>
        </p:nvSpPr>
        <p:spPr>
          <a:xfrm>
            <a:off x="548640" y="580644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TIP  </a:t>
            </a:r>
            <a:pPr indent="0" marL="0">
              <a:buNone/>
            </a:pPr>
            <a:r>
              <a:rPr lang="en-US" sz="1300" i="1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free plan is also available. Prices as of June 2026 — verify at claude.com/pricing.</a:t>
            </a:r>
            <a:endParaRPr lang="en-US" sz="1300" dirty="0"/>
          </a:p>
        </p:txBody>
      </p:sp>
      <p:sp>
        <p:nvSpPr>
          <p:cNvPr id="28" name="Text 22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900" dirty="0"/>
          </a:p>
        </p:txBody>
      </p:sp>
      <p:sp>
        <p:nvSpPr>
          <p:cNvPr id="29" name="Text 23"/>
          <p:cNvSpPr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Applications with Claude Code</a:t>
            </a:r>
            <a:endParaRPr lang="en-US" sz="900" dirty="0"/>
          </a:p>
        </p:txBody>
      </p:sp>
      <p:sp>
        <p:nvSpPr>
          <p:cNvPr id="30" name="Text 24"/>
          <p:cNvSpPr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1 · AGENTIC LOOP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Agentic Loop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Claude Code task runs the same repeating cycle. Understanding this loop is the key to working effectively with an agent.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560320"/>
            <a:ext cx="2651760" cy="274320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822960" y="2834640"/>
            <a:ext cx="566928" cy="566928"/>
          </a:xfrm>
          <a:prstGeom prst="ellipse">
            <a:avLst/>
          </a:prstGeom>
          <a:solidFill>
            <a:srgbClr val="3A7D7B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971800"/>
            <a:ext cx="292608" cy="29260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22960" y="3520440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Gather Context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22960" y="4023360"/>
            <a:ext cx="21488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files, run searches,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tools to understand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task.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3364992" y="2560320"/>
            <a:ext cx="2651760" cy="2743200"/>
          </a:xfrm>
          <a:prstGeom prst="roundRect">
            <a:avLst>
              <a:gd name="adj" fmla="val 2759"/>
            </a:avLst>
          </a:prstGeom>
          <a:solidFill>
            <a:srgbClr val="21201C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3639312" y="2834640"/>
            <a:ext cx="566928" cy="566928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6472" y="2971800"/>
            <a:ext cx="292608" cy="29260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639312" y="3520440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Take Action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3639312" y="4023360"/>
            <a:ext cx="21488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C4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code, run commands,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C9C4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MCP tools to make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C9C4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6181344" y="2560320"/>
            <a:ext cx="2651760" cy="274320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6" name="Shape 12"/>
          <p:cNvSpPr/>
          <p:nvPr/>
        </p:nvSpPr>
        <p:spPr>
          <a:xfrm>
            <a:off x="6455664" y="2834640"/>
            <a:ext cx="566928" cy="566928"/>
          </a:xfrm>
          <a:prstGeom prst="ellipse">
            <a:avLst/>
          </a:prstGeom>
          <a:solidFill>
            <a:srgbClr val="3A7D7B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2824" y="2971800"/>
            <a:ext cx="292608" cy="292608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455664" y="3520440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Verify Work</a:t>
            </a:r>
            <a:endParaRPr lang="en-US" sz="1600" dirty="0"/>
          </a:p>
        </p:txBody>
      </p:sp>
      <p:sp>
        <p:nvSpPr>
          <p:cNvPr id="19" name="Text 14"/>
          <p:cNvSpPr/>
          <p:nvPr/>
        </p:nvSpPr>
        <p:spPr>
          <a:xfrm>
            <a:off x="6455664" y="4023360"/>
            <a:ext cx="21488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tests, lint, view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— check the result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correct.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8997696" y="2560320"/>
            <a:ext cx="2651760" cy="2743200"/>
          </a:xfrm>
          <a:prstGeom prst="roundRect">
            <a:avLst>
              <a:gd name="adj" fmla="val 2759"/>
            </a:avLst>
          </a:prstGeom>
          <a:solidFill>
            <a:srgbClr val="21201C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21" name="Shape 16"/>
          <p:cNvSpPr/>
          <p:nvPr/>
        </p:nvSpPr>
        <p:spPr>
          <a:xfrm>
            <a:off x="9272016" y="2834640"/>
            <a:ext cx="566928" cy="566928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9176" y="2971800"/>
            <a:ext cx="292608" cy="292608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9272016" y="3520440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 Repeat</a:t>
            </a:r>
            <a:endParaRPr lang="en-US" sz="1600" dirty="0"/>
          </a:p>
        </p:txBody>
      </p:sp>
      <p:sp>
        <p:nvSpPr>
          <p:cNvPr id="24" name="Text 18"/>
          <p:cNvSpPr/>
          <p:nvPr/>
        </p:nvSpPr>
        <p:spPr>
          <a:xfrm>
            <a:off x="9272016" y="4023360"/>
            <a:ext cx="21488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C4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 results back as new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C9C4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and loop until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C9C4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goal is met.</a:t>
            </a:r>
            <a:endParaRPr lang="en-US" sz="1250" dirty="0"/>
          </a:p>
        </p:txBody>
      </p:sp>
      <p:sp>
        <p:nvSpPr>
          <p:cNvPr id="25" name="Text 19"/>
          <p:cNvSpPr/>
          <p:nvPr/>
        </p:nvSpPr>
        <p:spPr>
          <a:xfrm>
            <a:off x="548640" y="557784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C26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 in → context → action → verification → repeat → goal met</a:t>
            </a:r>
            <a:endParaRPr lang="en-US" sz="1400" dirty="0"/>
          </a:p>
        </p:txBody>
      </p:sp>
      <p:sp>
        <p:nvSpPr>
          <p:cNvPr id="26" name="Text 20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900" dirty="0"/>
          </a:p>
        </p:txBody>
      </p:sp>
      <p:sp>
        <p:nvSpPr>
          <p:cNvPr id="27" name="Text 21"/>
          <p:cNvSpPr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Applications with Claude Code</a:t>
            </a:r>
            <a:endParaRPr lang="en-US" sz="900" dirty="0"/>
          </a:p>
        </p:txBody>
      </p:sp>
      <p:sp>
        <p:nvSpPr>
          <p:cNvPr id="28" name="Text 22"/>
          <p:cNvSpPr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2120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1 · AGENTIC LOOP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the loop matters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548640" cy="548640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965960"/>
            <a:ext cx="274320" cy="2743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371600" y="17830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Give direction, not micro-steps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1371600" y="2176272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C4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the goal and constraints clearly; let the loop figure out the steps.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40080" y="2816352"/>
            <a:ext cx="548640" cy="548640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953512"/>
            <a:ext cx="274320" cy="27432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371600" y="2770632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Verification is everything</a:t>
            </a:r>
            <a:endParaRPr lang="en-US" sz="1800" dirty="0"/>
          </a:p>
        </p:txBody>
      </p:sp>
      <p:sp>
        <p:nvSpPr>
          <p:cNvPr id="11" name="Text 7"/>
          <p:cNvSpPr/>
          <p:nvPr/>
        </p:nvSpPr>
        <p:spPr>
          <a:xfrm>
            <a:off x="1371600" y="3163824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C4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is only as good as its ability to check its own work — provide tests, linters, screenshots.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640080" y="3803904"/>
            <a:ext cx="548640" cy="548640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941064"/>
            <a:ext cx="274320" cy="27432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371600" y="3758184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Steer mid-loop</a:t>
            </a:r>
            <a:endParaRPr lang="en-US" sz="1800" dirty="0"/>
          </a:p>
        </p:txBody>
      </p:sp>
      <p:sp>
        <p:nvSpPr>
          <p:cNvPr id="15" name="Text 10"/>
          <p:cNvSpPr/>
          <p:nvPr/>
        </p:nvSpPr>
        <p:spPr>
          <a:xfrm>
            <a:off x="1371600" y="4151376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C4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the plan, interrupt, and course-correct rather than waiting for a wrong final answer.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640080" y="4791456"/>
            <a:ext cx="548640" cy="548640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4928616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371600" y="4745736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Context is the fuel</a:t>
            </a:r>
            <a:endParaRPr lang="en-US" sz="1800" dirty="0"/>
          </a:p>
        </p:txBody>
      </p:sp>
      <p:sp>
        <p:nvSpPr>
          <p:cNvPr id="19" name="Text 13"/>
          <p:cNvSpPr/>
          <p:nvPr/>
        </p:nvSpPr>
        <p:spPr>
          <a:xfrm>
            <a:off x="1371600" y="5138928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C4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agent can see determines what it can do — leading us to context engineering.</a:t>
            </a:r>
            <a:endParaRPr lang="en-US" sz="1400" dirty="0"/>
          </a:p>
        </p:txBody>
      </p:sp>
      <p:sp>
        <p:nvSpPr>
          <p:cNvPr id="20" name="Text 14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6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900" dirty="0"/>
          </a:p>
        </p:txBody>
      </p:sp>
      <p:sp>
        <p:nvSpPr>
          <p:cNvPr id="21" name="Text 15"/>
          <p:cNvSpPr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6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Applications with Claude Code</a:t>
            </a:r>
            <a:endParaRPr lang="en-US" sz="900" dirty="0"/>
          </a:p>
        </p:txBody>
      </p:sp>
      <p:sp>
        <p:nvSpPr>
          <p:cNvPr id="22" name="Text 16"/>
          <p:cNvSpPr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6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1 · HOW IT WORKS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Built-in Tools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are what make Claude Code agentic. Each tool use returns information that feeds the next decision in the loop.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377440"/>
            <a:ext cx="2635758" cy="2743200"/>
          </a:xfrm>
          <a:prstGeom prst="roundRect">
            <a:avLst>
              <a:gd name="adj" fmla="val 277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822960" y="2651760"/>
            <a:ext cx="566928" cy="566928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788920"/>
            <a:ext cx="292608" cy="29260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22960" y="3337560"/>
            <a:ext cx="213283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File ops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22960" y="3822192"/>
            <a:ext cx="2178558" cy="12070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Read, edit, create, rename and reorganise files.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3367278" y="2377440"/>
            <a:ext cx="2635758" cy="2743200"/>
          </a:xfrm>
          <a:prstGeom prst="roundRect">
            <a:avLst>
              <a:gd name="adj" fmla="val 277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3641598" y="2651760"/>
            <a:ext cx="566928" cy="566928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8758" y="2788920"/>
            <a:ext cx="292608" cy="29260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641598" y="3337560"/>
            <a:ext cx="213283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Search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3641598" y="3822192"/>
            <a:ext cx="2178558" cy="12070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files by pattern, grep content, explore code.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6185916" y="2377440"/>
            <a:ext cx="2635758" cy="2743200"/>
          </a:xfrm>
          <a:prstGeom prst="roundRect">
            <a:avLst>
              <a:gd name="adj" fmla="val 277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6" name="Shape 12"/>
          <p:cNvSpPr/>
          <p:nvPr/>
        </p:nvSpPr>
        <p:spPr>
          <a:xfrm>
            <a:off x="6460236" y="2651760"/>
            <a:ext cx="566928" cy="566928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7396" y="2788920"/>
            <a:ext cx="292608" cy="292608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460236" y="3337560"/>
            <a:ext cx="213283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Execution</a:t>
            </a:r>
            <a:endParaRPr lang="en-US" sz="1600" dirty="0"/>
          </a:p>
        </p:txBody>
      </p:sp>
      <p:sp>
        <p:nvSpPr>
          <p:cNvPr id="19" name="Text 14"/>
          <p:cNvSpPr/>
          <p:nvPr/>
        </p:nvSpPr>
        <p:spPr>
          <a:xfrm>
            <a:off x="6460236" y="3822192"/>
            <a:ext cx="2178558" cy="12070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shell commands, tests, builds and git.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9004554" y="2377440"/>
            <a:ext cx="2635758" cy="2743200"/>
          </a:xfrm>
          <a:prstGeom prst="roundRect">
            <a:avLst>
              <a:gd name="adj" fmla="val 277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21" name="Shape 16"/>
          <p:cNvSpPr/>
          <p:nvPr/>
        </p:nvSpPr>
        <p:spPr>
          <a:xfrm>
            <a:off x="9278874" y="2651760"/>
            <a:ext cx="566928" cy="566928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6034" y="2788920"/>
            <a:ext cx="292608" cy="292608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9278874" y="3337560"/>
            <a:ext cx="213283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Web</a:t>
            </a:r>
            <a:endParaRPr lang="en-US" sz="1600" dirty="0"/>
          </a:p>
        </p:txBody>
      </p:sp>
      <p:sp>
        <p:nvSpPr>
          <p:cNvPr id="24" name="Text 18"/>
          <p:cNvSpPr/>
          <p:nvPr/>
        </p:nvSpPr>
        <p:spPr>
          <a:xfrm>
            <a:off x="9278874" y="3822192"/>
            <a:ext cx="2178558" cy="12070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the web and fetch docs or error messages.</a:t>
            </a:r>
            <a:endParaRPr lang="en-US" sz="1250" dirty="0"/>
          </a:p>
        </p:txBody>
      </p:sp>
      <p:sp>
        <p:nvSpPr>
          <p:cNvPr id="25" name="Text 19"/>
          <p:cNvSpPr/>
          <p:nvPr/>
        </p:nvSpPr>
        <p:spPr>
          <a:xfrm>
            <a:off x="548640" y="544068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TIP  </a:t>
            </a:r>
            <a:pPr indent="0" marL="0">
              <a:buNone/>
            </a:pPr>
            <a:r>
              <a:rPr lang="en-US" sz="1300" i="1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 subagents, code intelligence and your configured extensions (MCP, skills, hooks).</a:t>
            </a:r>
            <a:endParaRPr lang="en-US" sz="1300" dirty="0"/>
          </a:p>
        </p:txBody>
      </p:sp>
      <p:sp>
        <p:nvSpPr>
          <p:cNvPr id="26" name="Text 20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900" dirty="0"/>
          </a:p>
        </p:txBody>
      </p:sp>
      <p:sp>
        <p:nvSpPr>
          <p:cNvPr id="27" name="Text 21"/>
          <p:cNvSpPr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Applications with Claude Code</a:t>
            </a:r>
            <a:endParaRPr lang="en-US" sz="900" dirty="0"/>
          </a:p>
        </p:txBody>
      </p:sp>
      <p:sp>
        <p:nvSpPr>
          <p:cNvPr id="28" name="Text 22"/>
          <p:cNvSpPr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2120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1 · AGENTIC LOOP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Agentic Loop in Action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64240" cy="685800"/>
          </a:xfrm>
          <a:prstGeom prst="roundRect">
            <a:avLst>
              <a:gd name="adj" fmla="val 13333"/>
            </a:avLst>
          </a:prstGeom>
          <a:solidFill>
            <a:srgbClr val="2E2C26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68680" y="1600200"/>
            <a:ext cx="10515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You:  </a:t>
            </a:r>
            <a:pPr indent="0" marL="0">
              <a:buNone/>
            </a:pPr>
            <a:r>
              <a:rPr lang="en-US" sz="1400" i="1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“Build a responsive software-dev website with an enquiry form, then test it.”</a:t>
            </a:r>
            <a:endParaRPr lang="en-US" sz="1400" dirty="0"/>
          </a:p>
        </p:txBody>
      </p:sp>
      <p:sp>
        <p:nvSpPr>
          <p:cNvPr id="100" name="Shape 4"/>
          <p:cNvSpPr/>
          <p:nvPr/>
        </p:nvSpPr>
        <p:spPr>
          <a:xfrm>
            <a:off x="640080" y="2514600"/>
            <a:ext cx="548640" cy="548640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101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651760"/>
            <a:ext cx="274320" cy="274320"/>
          </a:xfrm>
          <a:prstGeom prst="rect">
            <a:avLst/>
          </a:prstGeom>
        </p:spPr>
      </p:pic>
      <p:sp>
        <p:nvSpPr>
          <p:cNvPr id="102" name="Text 5"/>
          <p:cNvSpPr/>
          <p:nvPr/>
        </p:nvSpPr>
        <p:spPr>
          <a:xfrm>
            <a:off x="1371600" y="2468880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Gather context</a:t>
            </a:r>
            <a:endParaRPr lang="en-US" sz="1600" dirty="0"/>
          </a:p>
        </p:txBody>
      </p:sp>
      <p:sp>
        <p:nvSpPr>
          <p:cNvPr id="103" name="Text 6"/>
          <p:cNvSpPr/>
          <p:nvPr/>
        </p:nvSpPr>
        <p:spPr>
          <a:xfrm>
            <a:off x="5394960" y="2468880"/>
            <a:ext cx="6217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C4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the folder &amp; CLAUDE.md to understand the existing site and conventions.</a:t>
            </a:r>
            <a:endParaRPr lang="en-US" sz="1300" dirty="0"/>
          </a:p>
        </p:txBody>
      </p:sp>
      <p:sp>
        <p:nvSpPr>
          <p:cNvPr id="104" name="Shape 4"/>
          <p:cNvSpPr/>
          <p:nvPr/>
        </p:nvSpPr>
        <p:spPr>
          <a:xfrm>
            <a:off x="640080" y="3255264"/>
            <a:ext cx="548640" cy="548640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105" name="Image 0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3392424"/>
            <a:ext cx="274320" cy="274320"/>
          </a:xfrm>
          <a:prstGeom prst="rect">
            <a:avLst/>
          </a:prstGeom>
        </p:spPr>
      </p:pic>
      <p:sp>
        <p:nvSpPr>
          <p:cNvPr id="106" name="Text 5"/>
          <p:cNvSpPr/>
          <p:nvPr/>
        </p:nvSpPr>
        <p:spPr>
          <a:xfrm>
            <a:off x="1371600" y="3209544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Plan</a:t>
            </a:r>
            <a:endParaRPr lang="en-US" sz="1600" dirty="0"/>
          </a:p>
        </p:txBody>
      </p:sp>
      <p:sp>
        <p:nvSpPr>
          <p:cNvPr id="107" name="Text 6"/>
          <p:cNvSpPr/>
          <p:nvPr/>
        </p:nvSpPr>
        <p:spPr>
          <a:xfrm>
            <a:off x="5394960" y="3209544"/>
            <a:ext cx="6217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C4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Drafts the approach — hero, testimonials and enquiry form sections — for you to approve.</a:t>
            </a:r>
            <a:endParaRPr lang="en-US" sz="1300" dirty="0"/>
          </a:p>
        </p:txBody>
      </p:sp>
      <p:sp>
        <p:nvSpPr>
          <p:cNvPr id="108" name="Shape 4"/>
          <p:cNvSpPr/>
          <p:nvPr/>
        </p:nvSpPr>
        <p:spPr>
          <a:xfrm>
            <a:off x="640080" y="3995928"/>
            <a:ext cx="548640" cy="548640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109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4133088"/>
            <a:ext cx="274320" cy="274320"/>
          </a:xfrm>
          <a:prstGeom prst="rect">
            <a:avLst/>
          </a:prstGeom>
        </p:spPr>
      </p:pic>
      <p:sp>
        <p:nvSpPr>
          <p:cNvPr id="110" name="Text 5"/>
          <p:cNvSpPr/>
          <p:nvPr/>
        </p:nvSpPr>
        <p:spPr>
          <a:xfrm>
            <a:off x="1371600" y="3950208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Take action</a:t>
            </a:r>
            <a:endParaRPr lang="en-US" sz="1600" dirty="0"/>
          </a:p>
        </p:txBody>
      </p:sp>
      <p:sp>
        <p:nvSpPr>
          <p:cNvPr id="111" name="Text 6"/>
          <p:cNvSpPr/>
          <p:nvPr/>
        </p:nvSpPr>
        <p:spPr>
          <a:xfrm>
            <a:off x="5394960" y="3950208"/>
            <a:ext cx="6217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C4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Writes index.html, styles.css and script.js with form validation.</a:t>
            </a:r>
            <a:endParaRPr lang="en-US" sz="1300" dirty="0"/>
          </a:p>
        </p:txBody>
      </p:sp>
      <p:sp>
        <p:nvSpPr>
          <p:cNvPr id="112" name="Shape 4"/>
          <p:cNvSpPr/>
          <p:nvPr/>
        </p:nvSpPr>
        <p:spPr>
          <a:xfrm>
            <a:off x="640080" y="4736592"/>
            <a:ext cx="548640" cy="548640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11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873752"/>
            <a:ext cx="274320" cy="274320"/>
          </a:xfrm>
          <a:prstGeom prst="rect">
            <a:avLst/>
          </a:prstGeom>
        </p:spPr>
      </p:pic>
      <p:sp>
        <p:nvSpPr>
          <p:cNvPr id="114" name="Text 5"/>
          <p:cNvSpPr/>
          <p:nvPr/>
        </p:nvSpPr>
        <p:spPr>
          <a:xfrm>
            <a:off x="1371600" y="4690872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 Verify work</a:t>
            </a:r>
            <a:endParaRPr lang="en-US" sz="1600" dirty="0"/>
          </a:p>
        </p:txBody>
      </p:sp>
      <p:sp>
        <p:nvSpPr>
          <p:cNvPr id="115" name="Text 6"/>
          <p:cNvSpPr/>
          <p:nvPr/>
        </p:nvSpPr>
        <p:spPr>
          <a:xfrm>
            <a:off x="5394960" y="4690872"/>
            <a:ext cx="6217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C4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 the page via Playwright MCP and submits the form to test it.</a:t>
            </a:r>
            <a:endParaRPr lang="en-US" sz="1300" dirty="0"/>
          </a:p>
        </p:txBody>
      </p:sp>
      <p:sp>
        <p:nvSpPr>
          <p:cNvPr id="116" name="Shape 4"/>
          <p:cNvSpPr/>
          <p:nvPr/>
        </p:nvSpPr>
        <p:spPr>
          <a:xfrm>
            <a:off x="640080" y="5477256"/>
            <a:ext cx="548640" cy="548640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117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614416"/>
            <a:ext cx="274320" cy="274320"/>
          </a:xfrm>
          <a:prstGeom prst="rect">
            <a:avLst/>
          </a:prstGeom>
        </p:spPr>
      </p:pic>
      <p:sp>
        <p:nvSpPr>
          <p:cNvPr id="118" name="Text 5"/>
          <p:cNvSpPr/>
          <p:nvPr/>
        </p:nvSpPr>
        <p:spPr>
          <a:xfrm>
            <a:off x="1371600" y="5431536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 Repeat</a:t>
            </a:r>
            <a:endParaRPr lang="en-US" sz="1600" dirty="0"/>
          </a:p>
        </p:txBody>
      </p:sp>
      <p:sp>
        <p:nvSpPr>
          <p:cNvPr id="119" name="Text 6"/>
          <p:cNvSpPr/>
          <p:nvPr/>
        </p:nvSpPr>
        <p:spPr>
          <a:xfrm>
            <a:off x="5394960" y="5431536"/>
            <a:ext cx="6217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C4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Spots a validation bug, fixes script.js, re-tests — then reports done.</a:t>
            </a:r>
            <a:endParaRPr lang="en-US" sz="1300" dirty="0"/>
          </a:p>
        </p:txBody>
      </p:sp>
      <p:sp>
        <p:nvSpPr>
          <p:cNvPr id="22" name="Text 16"/>
          <p:cNvSpPr/>
          <p:nvPr/>
        </p:nvSpPr>
        <p:spPr>
          <a:xfrm>
            <a:off x="457200" y="6565392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1 · WORKFLOW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 Steps to Build an App with Claude Code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2706624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04672" y="2039112"/>
            <a:ext cx="548640" cy="54864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04672" y="20391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2478024" y="2057400"/>
            <a:ext cx="502920" cy="502920"/>
          </a:xfrm>
          <a:prstGeom prst="ellipse">
            <a:avLst/>
          </a:prstGeom>
          <a:solidFill>
            <a:srgbClr val="3A7D7B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01468" y="2180844"/>
            <a:ext cx="256032" cy="25603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04672" y="2697480"/>
            <a:ext cx="22494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Goal &amp; Features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804672" y="3044952"/>
            <a:ext cx="224942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what to build (draft the prompt with ChatGPT).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3374136" y="1783080"/>
            <a:ext cx="2706624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2" name="Shape 9"/>
          <p:cNvSpPr/>
          <p:nvPr/>
        </p:nvSpPr>
        <p:spPr>
          <a:xfrm>
            <a:off x="3630168" y="2039112"/>
            <a:ext cx="548640" cy="54864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3630168" y="20391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303520" y="2057400"/>
            <a:ext cx="502920" cy="502920"/>
          </a:xfrm>
          <a:prstGeom prst="ellipse">
            <a:avLst/>
          </a:prstGeom>
          <a:solidFill>
            <a:srgbClr val="3A7D7B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26964" y="2180844"/>
            <a:ext cx="256032" cy="256032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3630168" y="2697480"/>
            <a:ext cx="22494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 Mode</a:t>
            </a:r>
            <a:endParaRPr lang="en-US" sz="1450" dirty="0"/>
          </a:p>
        </p:txBody>
      </p:sp>
      <p:sp>
        <p:nvSpPr>
          <p:cNvPr id="17" name="Text 13"/>
          <p:cNvSpPr/>
          <p:nvPr/>
        </p:nvSpPr>
        <p:spPr>
          <a:xfrm>
            <a:off x="3630168" y="3044952"/>
            <a:ext cx="224942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 Claude plan before coding (Shift+Tab).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6199632" y="1783080"/>
            <a:ext cx="2706624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9" name="Shape 15"/>
          <p:cNvSpPr/>
          <p:nvPr/>
        </p:nvSpPr>
        <p:spPr>
          <a:xfrm>
            <a:off x="6455664" y="2039112"/>
            <a:ext cx="548640" cy="54864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p/>
        </p:txBody>
      </p:sp>
      <p:sp>
        <p:nvSpPr>
          <p:cNvPr id="20" name="Text 16"/>
          <p:cNvSpPr/>
          <p:nvPr/>
        </p:nvSpPr>
        <p:spPr>
          <a:xfrm>
            <a:off x="6455664" y="20391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21" name="Shape 17"/>
          <p:cNvSpPr/>
          <p:nvPr/>
        </p:nvSpPr>
        <p:spPr>
          <a:xfrm>
            <a:off x="8129016" y="2057400"/>
            <a:ext cx="502920" cy="502920"/>
          </a:xfrm>
          <a:prstGeom prst="ellipse">
            <a:avLst/>
          </a:prstGeom>
          <a:solidFill>
            <a:srgbClr val="3A7D7B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22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2460" y="2180844"/>
            <a:ext cx="256032" cy="256032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6455664" y="2697480"/>
            <a:ext cx="22494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Execute</a:t>
            </a:r>
            <a:endParaRPr lang="en-US" sz="1450" dirty="0"/>
          </a:p>
        </p:txBody>
      </p:sp>
      <p:sp>
        <p:nvSpPr>
          <p:cNvPr id="24" name="Text 19"/>
          <p:cNvSpPr/>
          <p:nvPr/>
        </p:nvSpPr>
        <p:spPr>
          <a:xfrm>
            <a:off x="6455664" y="3044952"/>
            <a:ext cx="224942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plan in Bypass Permissions mode.</a:t>
            </a:r>
            <a:endParaRPr lang="en-US" sz="1100" dirty="0"/>
          </a:p>
        </p:txBody>
      </p:sp>
      <p:sp>
        <p:nvSpPr>
          <p:cNvPr id="25" name="Shape 20"/>
          <p:cNvSpPr/>
          <p:nvPr/>
        </p:nvSpPr>
        <p:spPr>
          <a:xfrm>
            <a:off x="9025128" y="1783080"/>
            <a:ext cx="2706624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26" name="Shape 21"/>
          <p:cNvSpPr/>
          <p:nvPr/>
        </p:nvSpPr>
        <p:spPr>
          <a:xfrm>
            <a:off x="9281160" y="2039112"/>
            <a:ext cx="548640" cy="54864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p/>
        </p:txBody>
      </p:sp>
      <p:sp>
        <p:nvSpPr>
          <p:cNvPr id="27" name="Text 22"/>
          <p:cNvSpPr/>
          <p:nvPr/>
        </p:nvSpPr>
        <p:spPr>
          <a:xfrm>
            <a:off x="9281160" y="20391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28" name="Shape 23"/>
          <p:cNvSpPr/>
          <p:nvPr/>
        </p:nvSpPr>
        <p:spPr>
          <a:xfrm>
            <a:off x="10954512" y="2057400"/>
            <a:ext cx="502920" cy="502920"/>
          </a:xfrm>
          <a:prstGeom prst="ellipse">
            <a:avLst/>
          </a:prstGeom>
          <a:solidFill>
            <a:srgbClr val="3A7D7B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29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77956" y="2180844"/>
            <a:ext cx="256032" cy="256032"/>
          </a:xfrm>
          <a:prstGeom prst="rect">
            <a:avLst/>
          </a:prstGeom>
        </p:spPr>
      </p:pic>
      <p:sp>
        <p:nvSpPr>
          <p:cNvPr id="30" name="Text 24"/>
          <p:cNvSpPr/>
          <p:nvPr/>
        </p:nvSpPr>
        <p:spPr>
          <a:xfrm>
            <a:off x="9281160" y="2697480"/>
            <a:ext cx="22494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Context (/init)</a:t>
            </a:r>
            <a:endParaRPr lang="en-US" sz="1450" dirty="0"/>
          </a:p>
        </p:txBody>
      </p:sp>
      <p:sp>
        <p:nvSpPr>
          <p:cNvPr id="31" name="Text 25"/>
          <p:cNvSpPr/>
          <p:nvPr/>
        </p:nvSpPr>
        <p:spPr>
          <a:xfrm>
            <a:off x="9281160" y="3044952"/>
            <a:ext cx="224942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CLAUDE.md to capture project context.</a:t>
            </a:r>
            <a:endParaRPr lang="en-US" sz="1100" dirty="0"/>
          </a:p>
        </p:txBody>
      </p:sp>
      <p:sp>
        <p:nvSpPr>
          <p:cNvPr id="32" name="Shape 26"/>
          <p:cNvSpPr/>
          <p:nvPr/>
        </p:nvSpPr>
        <p:spPr>
          <a:xfrm>
            <a:off x="548640" y="3657600"/>
            <a:ext cx="2706624" cy="1691640"/>
          </a:xfrm>
          <a:prstGeom prst="roundRect">
            <a:avLst>
              <a:gd name="adj" fmla="val 4324"/>
            </a:avLst>
          </a:prstGeom>
          <a:solidFill>
            <a:srgbClr val="21201C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33" name="Shape 27"/>
          <p:cNvSpPr/>
          <p:nvPr/>
        </p:nvSpPr>
        <p:spPr>
          <a:xfrm>
            <a:off x="804672" y="3913632"/>
            <a:ext cx="548640" cy="54864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p/>
        </p:txBody>
      </p:sp>
      <p:sp>
        <p:nvSpPr>
          <p:cNvPr id="34" name="Text 28"/>
          <p:cNvSpPr/>
          <p:nvPr/>
        </p:nvSpPr>
        <p:spPr>
          <a:xfrm>
            <a:off x="804672" y="39136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800" dirty="0"/>
          </a:p>
        </p:txBody>
      </p:sp>
      <p:sp>
        <p:nvSpPr>
          <p:cNvPr id="35" name="Shape 29"/>
          <p:cNvSpPr/>
          <p:nvPr/>
        </p:nvSpPr>
        <p:spPr>
          <a:xfrm>
            <a:off x="2478024" y="3931920"/>
            <a:ext cx="502920" cy="502920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36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01468" y="4055364"/>
            <a:ext cx="256032" cy="256032"/>
          </a:xfrm>
          <a:prstGeom prst="rect">
            <a:avLst/>
          </a:prstGeom>
        </p:spPr>
      </p:pic>
      <p:sp>
        <p:nvSpPr>
          <p:cNvPr id="37" name="Text 30"/>
          <p:cNvSpPr/>
          <p:nvPr/>
        </p:nvSpPr>
        <p:spPr>
          <a:xfrm>
            <a:off x="804672" y="4572000"/>
            <a:ext cx="22494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Commit to GitHub</a:t>
            </a:r>
            <a:endParaRPr lang="en-US" sz="1450" dirty="0"/>
          </a:p>
        </p:txBody>
      </p:sp>
      <p:sp>
        <p:nvSpPr>
          <p:cNvPr id="38" name="Text 31"/>
          <p:cNvSpPr/>
          <p:nvPr/>
        </p:nvSpPr>
        <p:spPr>
          <a:xfrm>
            <a:off x="804672" y="4919472"/>
            <a:ext cx="224942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C4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Version-control and push your code.</a:t>
            </a:r>
            <a:endParaRPr lang="en-US" sz="1100" dirty="0"/>
          </a:p>
        </p:txBody>
      </p:sp>
      <p:sp>
        <p:nvSpPr>
          <p:cNvPr id="39" name="Shape 32"/>
          <p:cNvSpPr/>
          <p:nvPr/>
        </p:nvSpPr>
        <p:spPr>
          <a:xfrm>
            <a:off x="3374136" y="3657600"/>
            <a:ext cx="2706624" cy="1691640"/>
          </a:xfrm>
          <a:prstGeom prst="roundRect">
            <a:avLst>
              <a:gd name="adj" fmla="val 4324"/>
            </a:avLst>
          </a:prstGeom>
          <a:solidFill>
            <a:srgbClr val="21201C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40" name="Shape 33"/>
          <p:cNvSpPr/>
          <p:nvPr/>
        </p:nvSpPr>
        <p:spPr>
          <a:xfrm>
            <a:off x="3630168" y="3913632"/>
            <a:ext cx="548640" cy="54864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p/>
        </p:txBody>
      </p:sp>
      <p:sp>
        <p:nvSpPr>
          <p:cNvPr id="41" name="Text 34"/>
          <p:cNvSpPr/>
          <p:nvPr/>
        </p:nvSpPr>
        <p:spPr>
          <a:xfrm>
            <a:off x="3630168" y="39136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800" dirty="0"/>
          </a:p>
        </p:txBody>
      </p:sp>
      <p:sp>
        <p:nvSpPr>
          <p:cNvPr id="42" name="Shape 35"/>
          <p:cNvSpPr/>
          <p:nvPr/>
        </p:nvSpPr>
        <p:spPr>
          <a:xfrm>
            <a:off x="5303520" y="3931920"/>
            <a:ext cx="502920" cy="502920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43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26964" y="4055364"/>
            <a:ext cx="256032" cy="256032"/>
          </a:xfrm>
          <a:prstGeom prst="rect">
            <a:avLst/>
          </a:prstGeom>
        </p:spPr>
      </p:pic>
      <p:sp>
        <p:nvSpPr>
          <p:cNvPr id="44" name="Text 36"/>
          <p:cNvSpPr/>
          <p:nvPr/>
        </p:nvSpPr>
        <p:spPr>
          <a:xfrm>
            <a:off x="3630168" y="4572000"/>
            <a:ext cx="22494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Deployment</a:t>
            </a:r>
            <a:endParaRPr lang="en-US" sz="1450" dirty="0"/>
          </a:p>
        </p:txBody>
      </p:sp>
      <p:sp>
        <p:nvSpPr>
          <p:cNvPr id="45" name="Text 37"/>
          <p:cNvSpPr/>
          <p:nvPr/>
        </p:nvSpPr>
        <p:spPr>
          <a:xfrm>
            <a:off x="3630168" y="4919472"/>
            <a:ext cx="224942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C4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 the app (e.g. GitHub Pages).</a:t>
            </a:r>
            <a:endParaRPr lang="en-US" sz="1100" dirty="0"/>
          </a:p>
        </p:txBody>
      </p:sp>
      <p:sp>
        <p:nvSpPr>
          <p:cNvPr id="46" name="Shape 38"/>
          <p:cNvSpPr/>
          <p:nvPr/>
        </p:nvSpPr>
        <p:spPr>
          <a:xfrm>
            <a:off x="6199632" y="3657600"/>
            <a:ext cx="2706624" cy="1691640"/>
          </a:xfrm>
          <a:prstGeom prst="roundRect">
            <a:avLst>
              <a:gd name="adj" fmla="val 4324"/>
            </a:avLst>
          </a:prstGeom>
          <a:solidFill>
            <a:srgbClr val="21201C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47" name="Shape 39"/>
          <p:cNvSpPr/>
          <p:nvPr/>
        </p:nvSpPr>
        <p:spPr>
          <a:xfrm>
            <a:off x="6455664" y="3913632"/>
            <a:ext cx="548640" cy="54864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p/>
        </p:txBody>
      </p:sp>
      <p:sp>
        <p:nvSpPr>
          <p:cNvPr id="48" name="Text 40"/>
          <p:cNvSpPr/>
          <p:nvPr/>
        </p:nvSpPr>
        <p:spPr>
          <a:xfrm>
            <a:off x="6455664" y="39136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800" dirty="0"/>
          </a:p>
        </p:txBody>
      </p:sp>
      <p:sp>
        <p:nvSpPr>
          <p:cNvPr id="49" name="Shape 41"/>
          <p:cNvSpPr/>
          <p:nvPr/>
        </p:nvSpPr>
        <p:spPr>
          <a:xfrm>
            <a:off x="8129016" y="3931920"/>
            <a:ext cx="502920" cy="502920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50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52460" y="4055364"/>
            <a:ext cx="256032" cy="256032"/>
          </a:xfrm>
          <a:prstGeom prst="rect">
            <a:avLst/>
          </a:prstGeom>
        </p:spPr>
      </p:pic>
      <p:sp>
        <p:nvSpPr>
          <p:cNvPr id="51" name="Text 42"/>
          <p:cNvSpPr/>
          <p:nvPr/>
        </p:nvSpPr>
        <p:spPr>
          <a:xfrm>
            <a:off x="6455664" y="4572000"/>
            <a:ext cx="22494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CI/CD</a:t>
            </a:r>
            <a:endParaRPr lang="en-US" sz="1450" dirty="0"/>
          </a:p>
        </p:txBody>
      </p:sp>
      <p:sp>
        <p:nvSpPr>
          <p:cNvPr id="52" name="Text 43"/>
          <p:cNvSpPr/>
          <p:nvPr/>
        </p:nvSpPr>
        <p:spPr>
          <a:xfrm>
            <a:off x="6455664" y="4919472"/>
            <a:ext cx="224942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C4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 build &amp; deploy with GitHub Actions.</a:t>
            </a:r>
            <a:endParaRPr lang="en-US" sz="1100" dirty="0"/>
          </a:p>
        </p:txBody>
      </p:sp>
      <p:sp>
        <p:nvSpPr>
          <p:cNvPr id="53" name="Text 44"/>
          <p:cNvSpPr/>
          <p:nvPr/>
        </p:nvSpPr>
        <p:spPr>
          <a:xfrm>
            <a:off x="548640" y="562356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TIP  </a:t>
            </a:r>
            <a:pPr indent="0" marL="0">
              <a:buNone/>
            </a:pPr>
            <a:r>
              <a:rPr lang="en-US" sz="1300" i="1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We'll do steps 1–3 now (Activity 1a), then context engineering, then steps 4–7 (Activity 1b).</a:t>
            </a:r>
            <a:endParaRPr lang="en-US" sz="1300" dirty="0"/>
          </a:p>
        </p:txBody>
      </p:sp>
      <p:sp>
        <p:nvSpPr>
          <p:cNvPr id="54" name="Text 45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900" dirty="0"/>
          </a:p>
        </p:txBody>
      </p:sp>
      <p:sp>
        <p:nvSpPr>
          <p:cNvPr id="55" name="Text 46"/>
          <p:cNvSpPr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Applications with Claude Code</a:t>
            </a:r>
            <a:endParaRPr lang="en-US" sz="900" dirty="0"/>
          </a:p>
        </p:txBody>
      </p:sp>
      <p:sp>
        <p:nvSpPr>
          <p:cNvPr id="56" name="Text 47"/>
          <p:cNvSpPr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 · GOAL &amp; FEATURES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Start With a Clear Prompt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512064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b="1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the goal &amp; features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clearer the brief, the better the build.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b="1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ChatGPT to draft it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ChatGPT to expand your idea into a detailed prompt, then paste it into Claude Code.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b="1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 the essentials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 · sections · behaviour · styling · deliverable.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852160" y="1783080"/>
            <a:ext cx="5760720" cy="3931920"/>
          </a:xfrm>
          <a:prstGeom prst="roundRect">
            <a:avLst>
              <a:gd name="adj" fmla="val 1395"/>
            </a:avLst>
          </a:prstGeom>
          <a:solidFill>
            <a:srgbClr val="1B1A1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126480" y="192024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6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Example prompt (software-dev website)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126480" y="2240280"/>
            <a:ext cx="5303520" cy="3383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5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 a single-page, responsive website
for a software development company
(HTML, CSS, vanilla JS — no frameworks).
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3A7D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Goal: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5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market services + capture leads.
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3A7D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Sections: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5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1) Hero + CTA  2) 3 testimonial
cards  3) Enquiry form (JS validation,
console.log, commented fetch()).
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3A7D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Styling: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5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mobile-first, CSS variables,
Google Font, smooth scroll, accessible.
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3A7D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Deliverable: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5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runs by opening the file.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48640" y="589788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TIP  </a:t>
            </a:r>
            <a:pPr indent="0" marL="0">
              <a:buNone/>
            </a:pPr>
            <a:r>
              <a:rPr lang="en-US" sz="1300" i="1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prompt is in your Learner Guide (Activity 1).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Applications with Claude Code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1 · PERMISSIONS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Permission Modes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 modes control how often Claude pauses to ask before editing files or running commands.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377440"/>
            <a:ext cx="2635758" cy="2743200"/>
          </a:xfrm>
          <a:prstGeom prst="roundRect">
            <a:avLst>
              <a:gd name="adj" fmla="val 277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822960" y="2651760"/>
            <a:ext cx="566928" cy="566928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788920"/>
            <a:ext cx="292608" cy="29260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22960" y="3337560"/>
            <a:ext cx="213283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260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default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822960" y="3822192"/>
            <a:ext cx="2178558" cy="12070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freely; asks before edits and shell commands.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3367278" y="2377440"/>
            <a:ext cx="2635758" cy="2743200"/>
          </a:xfrm>
          <a:prstGeom prst="roundRect">
            <a:avLst>
              <a:gd name="adj" fmla="val 277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3641598" y="2651760"/>
            <a:ext cx="566928" cy="566928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8758" y="2788920"/>
            <a:ext cx="292608" cy="29260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641598" y="3337560"/>
            <a:ext cx="213283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260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acceptEdits</a:t>
            </a:r>
            <a:endParaRPr lang="en-US" sz="1450" dirty="0"/>
          </a:p>
        </p:txBody>
      </p:sp>
      <p:sp>
        <p:nvSpPr>
          <p:cNvPr id="14" name="Text 10"/>
          <p:cNvSpPr/>
          <p:nvPr/>
        </p:nvSpPr>
        <p:spPr>
          <a:xfrm>
            <a:off x="3641598" y="3822192"/>
            <a:ext cx="2178558" cy="12070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Auto-approves file edits and common filesystem commands.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6185916" y="2377440"/>
            <a:ext cx="2635758" cy="2743200"/>
          </a:xfrm>
          <a:prstGeom prst="roundRect">
            <a:avLst>
              <a:gd name="adj" fmla="val 277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6" name="Shape 12"/>
          <p:cNvSpPr/>
          <p:nvPr/>
        </p:nvSpPr>
        <p:spPr>
          <a:xfrm>
            <a:off x="6460236" y="2651760"/>
            <a:ext cx="566928" cy="566928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7396" y="2788920"/>
            <a:ext cx="292608" cy="292608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460236" y="3337560"/>
            <a:ext cx="213283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260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plan</a:t>
            </a:r>
            <a:endParaRPr lang="en-US" sz="1450" dirty="0"/>
          </a:p>
        </p:txBody>
      </p:sp>
      <p:sp>
        <p:nvSpPr>
          <p:cNvPr id="19" name="Text 14"/>
          <p:cNvSpPr/>
          <p:nvPr/>
        </p:nvSpPr>
        <p:spPr>
          <a:xfrm>
            <a:off x="6460236" y="3822192"/>
            <a:ext cx="2178558" cy="12070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Explores and proposes a plan without editing source.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9004554" y="2377440"/>
            <a:ext cx="2635758" cy="2743200"/>
          </a:xfrm>
          <a:prstGeom prst="roundRect">
            <a:avLst>
              <a:gd name="adj" fmla="val 277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21" name="Shape 16"/>
          <p:cNvSpPr/>
          <p:nvPr/>
        </p:nvSpPr>
        <p:spPr>
          <a:xfrm>
            <a:off x="9278874" y="2651760"/>
            <a:ext cx="566928" cy="566928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6034" y="2788920"/>
            <a:ext cx="292608" cy="292608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9278874" y="3337560"/>
            <a:ext cx="213283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260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auto</a:t>
            </a:r>
            <a:endParaRPr lang="en-US" sz="1450" dirty="0"/>
          </a:p>
        </p:txBody>
      </p:sp>
      <p:sp>
        <p:nvSpPr>
          <p:cNvPr id="24" name="Text 18"/>
          <p:cNvSpPr/>
          <p:nvPr/>
        </p:nvSpPr>
        <p:spPr>
          <a:xfrm>
            <a:off x="9278874" y="3822192"/>
            <a:ext cx="2178558" cy="12070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with background safety checks (research preview).</a:t>
            </a:r>
            <a:endParaRPr lang="en-US" sz="1250" dirty="0"/>
          </a:p>
        </p:txBody>
      </p:sp>
      <p:sp>
        <p:nvSpPr>
          <p:cNvPr id="25" name="Text 19"/>
          <p:cNvSpPr/>
          <p:nvPr/>
        </p:nvSpPr>
        <p:spPr>
          <a:xfrm>
            <a:off x="548640" y="544068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TIP  </a:t>
            </a:r>
            <a:pPr indent="0" marL="0">
              <a:buNone/>
            </a:pPr>
            <a:r>
              <a:rPr lang="en-US" sz="1300" i="1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 Shift+Tab to cycle modes; the current mode shows in the status bar.</a:t>
            </a:r>
            <a:endParaRPr lang="en-US" sz="1300" dirty="0"/>
          </a:p>
        </p:txBody>
      </p:sp>
      <p:sp>
        <p:nvSpPr>
          <p:cNvPr id="26" name="Text 20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900" dirty="0"/>
          </a:p>
        </p:txBody>
      </p:sp>
      <p:sp>
        <p:nvSpPr>
          <p:cNvPr id="27" name="Text 21"/>
          <p:cNvSpPr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Applications with Claude Code</a:t>
            </a:r>
            <a:endParaRPr lang="en-US" sz="900" dirty="0"/>
          </a:p>
        </p:txBody>
      </p:sp>
      <p:sp>
        <p:nvSpPr>
          <p:cNvPr id="28" name="Text 22"/>
          <p:cNvSpPr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2120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280160"/>
            <a:ext cx="4023360" cy="4023360"/>
          </a:xfrm>
          <a:prstGeom prst="ellipse">
            <a:avLst/>
          </a:prstGeom>
          <a:solidFill>
            <a:srgbClr val="D97757">
              <a:alpha val="20000"/>
            </a:srgbClr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48640" y="50292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1 · PERMISSIONS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Bypass Permissions — Handle with Care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731520" cy="731520"/>
          </a:xfrm>
          <a:prstGeom prst="ellipse">
            <a:avLst/>
          </a:prstGeom>
          <a:solidFill>
            <a:srgbClr val="C2603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" y="2093976"/>
            <a:ext cx="384048" cy="38404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54480" y="19659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bypassPermissions  /  --dangerously-skip-permissions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640080" y="2788920"/>
            <a:ext cx="1078992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Skips all permission prompts and safety checks — tool calls run immediately.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Offers NO protection against prompt injection or unintended actions.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only in isolated containers / VMs without internet access.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Refuses to start as root/sudo; cannot be entered mid-session.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 auto mode for fewer prompts WITH background safety checks.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6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 · EXECUTE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Bypass Permissions in VS Code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let Claude build hands-free, enable bypass-permissions mode — use it only in a trusted, sandboxed project.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2377440"/>
            <a:ext cx="557784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Open VS Code Settings → Extensions → Claude Code.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Enable “Allow dangerously skip permissions”.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In the prompt box, open the mode selector.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Choose “Bypass permissions”.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Give your build prompt — Claude runs without per-action prompts.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0" y="2377440"/>
            <a:ext cx="5212080" cy="1828800"/>
          </a:xfrm>
          <a:prstGeom prst="roundRect">
            <a:avLst>
              <a:gd name="adj" fmla="val 3000"/>
            </a:avLst>
          </a:prstGeom>
          <a:solidFill>
            <a:srgbClr val="1B1A1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5146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6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 equivalent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675120" y="2880360"/>
            <a:ext cx="4663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3A7D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$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8E5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\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8E5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--dangerously-skip-permissions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0" y="4434840"/>
            <a:ext cx="52120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C26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⚠  </a:t>
            </a:r>
            <a:pPr indent="0" marL="0">
              <a:buNone/>
            </a:pPr>
            <a:r>
              <a:rPr lang="en-US" sz="1300" i="1" dirty="0">
                <a:solidFill>
                  <a:srgbClr val="C26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safety checks or prompt-injection protection. Sandboxed / trusted projects only — prefer auto mode otherwise.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Applications with Claude Code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2120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875520" y="4206240"/>
            <a:ext cx="3657600" cy="3657600"/>
          </a:xfrm>
          <a:prstGeom prst="ellipse">
            <a:avLst/>
          </a:prstGeom>
          <a:solidFill>
            <a:srgbClr val="D97757">
              <a:alpha val="15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48640" y="502920"/>
            <a:ext cx="2286000" cy="548640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548640" y="50292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1A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188720"/>
            <a:ext cx="8686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Goal, Plan &amp; Build (Steps 1–3)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10058400" y="640080"/>
            <a:ext cx="1188720" cy="1188720"/>
          </a:xfrm>
          <a:prstGeom prst="ellipse">
            <a:avLst/>
          </a:prstGeom>
          <a:solidFill>
            <a:srgbClr val="2E2C26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51008" y="932688"/>
            <a:ext cx="603504" cy="603504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40080" y="2167128"/>
            <a:ext cx="438912" cy="438912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640080" y="216712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261872" y="2103120"/>
            <a:ext cx="10515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 — Goal &amp; Features: draft a detailed build prompt (use ChatGPT) for the software-dev website.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640080" y="2807208"/>
            <a:ext cx="438912" cy="438912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640080" y="280720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1261872" y="2743200"/>
            <a:ext cx="10515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 — Plan Mode: have Claude plan the build (Shift+Tab) and review the plan.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640080" y="3447288"/>
            <a:ext cx="438912" cy="438912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640080" y="344728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1261872" y="3383280"/>
            <a:ext cx="10515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 — Execute: approve the plan and build the site in Bypass Permissions mode.</a:t>
            </a:r>
            <a:endParaRPr lang="en-US" sz="1350" dirty="0"/>
          </a:p>
        </p:txBody>
      </p:sp>
      <p:sp>
        <p:nvSpPr>
          <p:cNvPr id="17" name="Shape 14"/>
          <p:cNvSpPr/>
          <p:nvPr/>
        </p:nvSpPr>
        <p:spPr>
          <a:xfrm>
            <a:off x="640080" y="4087368"/>
            <a:ext cx="438912" cy="438912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p/>
        </p:txBody>
      </p:sp>
      <p:sp>
        <p:nvSpPr>
          <p:cNvPr id="18" name="Text 15"/>
          <p:cNvSpPr/>
          <p:nvPr/>
        </p:nvSpPr>
        <p:spPr>
          <a:xfrm>
            <a:off x="640080" y="408736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1261872" y="4023360"/>
            <a:ext cx="10515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index.html and check the hero, testimonials and enquiry form work.</a:t>
            </a:r>
            <a:endParaRPr lang="en-US" sz="1350" dirty="0"/>
          </a:p>
        </p:txBody>
      </p:sp>
      <p:sp>
        <p:nvSpPr>
          <p:cNvPr id="20" name="Shape 17"/>
          <p:cNvSpPr/>
          <p:nvPr/>
        </p:nvSpPr>
        <p:spPr>
          <a:xfrm>
            <a:off x="640080" y="5989320"/>
            <a:ext cx="10881360" cy="502920"/>
          </a:xfrm>
          <a:prstGeom prst="roundRect">
            <a:avLst>
              <a:gd name="adj" fmla="val 14545"/>
            </a:avLst>
          </a:prstGeom>
          <a:solidFill>
            <a:srgbClr val="2E2C26"/>
          </a:solidFill>
          <a:ln/>
        </p:spPr>
        <p:txBody>
          <a:bodyPr/>
          <a:p/>
        </p:txBody>
      </p:sp>
      <p:sp>
        <p:nvSpPr>
          <p:cNvPr id="21" name="Text 18"/>
          <p:cNvSpPr/>
          <p:nvPr/>
        </p:nvSpPr>
        <p:spPr>
          <a:xfrm>
            <a:off x="868680" y="598932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TIP  </a:t>
            </a:r>
            <a:pPr indent="0" marL="0">
              <a:buNone/>
            </a:pPr>
            <a:r>
              <a:rPr lang="en-US" sz="1300" i="1" dirty="0">
                <a:solidFill>
                  <a:srgbClr val="C9C4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website prompt is in your Learner Guide (Activity 1).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457200" y="658368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8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1 · CONTEXT ENGINEERING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Context Engineering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engineering is the practice of curating exactly what Claude sees — instructions, files and tools — so it has the right information and nothing that wastes its limited context window.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2834640"/>
            <a:ext cx="2706624" cy="274320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822960" y="3108960"/>
            <a:ext cx="566928" cy="566928"/>
          </a:xfrm>
          <a:prstGeom prst="ellipse">
            <a:avLst/>
          </a:prstGeom>
          <a:solidFill>
            <a:srgbClr val="3A7D7B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3246120"/>
            <a:ext cx="292608" cy="29260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22960" y="3794760"/>
            <a:ext cx="21579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260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CLAUDE.md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22960" y="4297680"/>
            <a:ext cx="2203704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memory loaded every session. Run /init to generate it.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3374136" y="2834640"/>
            <a:ext cx="2706624" cy="274320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3648456" y="3108960"/>
            <a:ext cx="566928" cy="566928"/>
          </a:xfrm>
          <a:prstGeom prst="ellipse">
            <a:avLst/>
          </a:prstGeom>
          <a:solidFill>
            <a:srgbClr val="3A7D7B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5616" y="3246120"/>
            <a:ext cx="292608" cy="29260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648456" y="3794760"/>
            <a:ext cx="21579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260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 mentions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3648456" y="4297680"/>
            <a:ext cx="2203704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specific files or folders into context on demand.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6199632" y="2834640"/>
            <a:ext cx="2706624" cy="274320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6" name="Shape 12"/>
          <p:cNvSpPr/>
          <p:nvPr/>
        </p:nvSpPr>
        <p:spPr>
          <a:xfrm>
            <a:off x="6473952" y="3108960"/>
            <a:ext cx="566928" cy="566928"/>
          </a:xfrm>
          <a:prstGeom prst="ellipse">
            <a:avLst/>
          </a:prstGeom>
          <a:solidFill>
            <a:srgbClr val="3A7D7B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1112" y="3246120"/>
            <a:ext cx="292608" cy="292608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473952" y="3794760"/>
            <a:ext cx="21579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260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/compact</a:t>
            </a:r>
            <a:endParaRPr lang="en-US" sz="1500" dirty="0"/>
          </a:p>
        </p:txBody>
      </p:sp>
      <p:sp>
        <p:nvSpPr>
          <p:cNvPr id="19" name="Text 14"/>
          <p:cNvSpPr/>
          <p:nvPr/>
        </p:nvSpPr>
        <p:spPr>
          <a:xfrm>
            <a:off x="6473952" y="4297680"/>
            <a:ext cx="2203704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Summarise the conversation to reclaim context space.</a:t>
            </a:r>
            <a:endParaRPr lang="en-US" sz="1300" dirty="0"/>
          </a:p>
        </p:txBody>
      </p:sp>
      <p:sp>
        <p:nvSpPr>
          <p:cNvPr id="20" name="Shape 15"/>
          <p:cNvSpPr/>
          <p:nvPr/>
        </p:nvSpPr>
        <p:spPr>
          <a:xfrm>
            <a:off x="9025128" y="2834640"/>
            <a:ext cx="2706624" cy="274320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21" name="Shape 16"/>
          <p:cNvSpPr/>
          <p:nvPr/>
        </p:nvSpPr>
        <p:spPr>
          <a:xfrm>
            <a:off x="9299448" y="3108960"/>
            <a:ext cx="566928" cy="566928"/>
          </a:xfrm>
          <a:prstGeom prst="ellipse">
            <a:avLst/>
          </a:prstGeom>
          <a:solidFill>
            <a:srgbClr val="3A7D7B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36608" y="3246120"/>
            <a:ext cx="292608" cy="292608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9299448" y="3794760"/>
            <a:ext cx="21579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260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/clear</a:t>
            </a:r>
            <a:endParaRPr lang="en-US" sz="1500" dirty="0"/>
          </a:p>
        </p:txBody>
      </p:sp>
      <p:sp>
        <p:nvSpPr>
          <p:cNvPr id="24" name="Text 18"/>
          <p:cNvSpPr/>
          <p:nvPr/>
        </p:nvSpPr>
        <p:spPr>
          <a:xfrm>
            <a:off x="9299448" y="4297680"/>
            <a:ext cx="2203704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Wipe the slate for a fresh, unrelated task.</a:t>
            </a:r>
            <a:endParaRPr lang="en-US" sz="1300" dirty="0"/>
          </a:p>
        </p:txBody>
      </p:sp>
      <p:sp>
        <p:nvSpPr>
          <p:cNvPr id="25" name="Text 19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900" dirty="0"/>
          </a:p>
        </p:txBody>
      </p:sp>
      <p:sp>
        <p:nvSpPr>
          <p:cNvPr id="26" name="Text 20"/>
          <p:cNvSpPr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Applications with Claude Code</a:t>
            </a:r>
            <a:endParaRPr lang="en-US" sz="900" dirty="0"/>
          </a:p>
        </p:txBody>
      </p:sp>
      <p:sp>
        <p:nvSpPr>
          <p:cNvPr id="27" name="Text 21"/>
          <p:cNvSpPr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1 · CONTEXT ENGINEERING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Managing Your Context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5669280" cy="3931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b="1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CLAUDE.md tight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overview, conventions, commands to run. Short and high-signal.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b="1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only what's needed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@file mentions instead of pasting whole folders.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b="1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Compact before it overflows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the context meter; /compact at natural breakpoints.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b="1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between tasks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fresh so old context doesn't bleed into new work.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92240" y="1783080"/>
            <a:ext cx="5120640" cy="3931920"/>
          </a:xfrm>
          <a:prstGeom prst="roundRect">
            <a:avLst>
              <a:gd name="adj" fmla="val 1395"/>
            </a:avLst>
          </a:prstGeom>
          <a:solidFill>
            <a:srgbClr val="1B1A1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766560" y="192024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6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CLAUDE.md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766560" y="2286000"/>
            <a:ext cx="466344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My Web App
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3A7D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Stack
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E8E5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Vanilla HTML, CSS, JS. No frameworks.
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3A7D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Conventions
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E8E5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Single index.html, mobile-first
- Use CSS variables for colors
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3A7D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Commands
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E8E5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Deploy: push to main (GH Pages)
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Applications with Claude Code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 · CONTEXT ENGINEERING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Example CLAUDE.md (/init)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/init to generate a CLAUDE.md so Claude remembers your project's structure and conventions every session.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377440"/>
            <a:ext cx="11064240" cy="3291840"/>
          </a:xfrm>
          <a:prstGeom prst="roundRect">
            <a:avLst>
              <a:gd name="adj" fmla="val 1667"/>
            </a:avLst>
          </a:prstGeom>
          <a:solidFill>
            <a:srgbClr val="1B1A1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22960" y="25146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6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CLAUDE.md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2834640"/>
            <a:ext cx="105156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CLAUDE.md
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A7D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What this is
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5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Single-page marketing site. HTML + CSS + vanilla JS — no framework, no build step.
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A7D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Running
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5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index.html directly in a browser. No dev server.
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A7D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Architecture
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5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index.html  — sections: #home, #services, #testimonials, #contact
- styles.css  — design tokens in :root variables; mobile-first
- script.js   — enquiry-form validation (one DOMContentLoaded handler)
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48640" y="580644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TIP  </a:t>
            </a:r>
            <a:pPr indent="0" marL="0">
              <a:buNone/>
            </a:pPr>
            <a:r>
              <a:rPr lang="en-US" sz="1300" i="1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CLAUDE.md short and high-signal — see github.com/alfredang/softwaredevleopment.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Applications with Claude Code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1 · CONTEXT WINDOW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Context Window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Claude's context window holds everything it can see at once. As you work it fills up, so manage it deliberately.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377440"/>
            <a:ext cx="2635758" cy="2834640"/>
          </a:xfrm>
          <a:prstGeom prst="roundRect">
            <a:avLst>
              <a:gd name="adj" fmla="val 277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822960" y="2651760"/>
            <a:ext cx="566928" cy="566928"/>
          </a:xfrm>
          <a:prstGeom prst="ellipse">
            <a:avLst/>
          </a:prstGeom>
          <a:solidFill>
            <a:srgbClr val="3A7D7B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788920"/>
            <a:ext cx="292608" cy="29260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22960" y="3337560"/>
            <a:ext cx="213283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fills it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22960" y="3822192"/>
            <a:ext cx="2178558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prompt, CLAUDE.md, memory, conversation, file reads, tool output, skills.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3367278" y="2377440"/>
            <a:ext cx="2635758" cy="2834640"/>
          </a:xfrm>
          <a:prstGeom prst="roundRect">
            <a:avLst>
              <a:gd name="adj" fmla="val 277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3641598" y="2651760"/>
            <a:ext cx="566928" cy="566928"/>
          </a:xfrm>
          <a:prstGeom prst="ellipse">
            <a:avLst/>
          </a:prstGeom>
          <a:solidFill>
            <a:srgbClr val="3A7D7B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8758" y="2788920"/>
            <a:ext cx="292608" cy="29260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641598" y="3337560"/>
            <a:ext cx="213283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/context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3641598" y="3822192"/>
            <a:ext cx="2178558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what's using space; run /mcp for per-server token cost.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6185916" y="2377440"/>
            <a:ext cx="2635758" cy="2834640"/>
          </a:xfrm>
          <a:prstGeom prst="roundRect">
            <a:avLst>
              <a:gd name="adj" fmla="val 277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6" name="Shape 12"/>
          <p:cNvSpPr/>
          <p:nvPr/>
        </p:nvSpPr>
        <p:spPr>
          <a:xfrm>
            <a:off x="6460236" y="2651760"/>
            <a:ext cx="566928" cy="566928"/>
          </a:xfrm>
          <a:prstGeom prst="ellipse">
            <a:avLst/>
          </a:prstGeom>
          <a:solidFill>
            <a:srgbClr val="3A7D7B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7396" y="2788920"/>
            <a:ext cx="292608" cy="292608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460236" y="3337560"/>
            <a:ext cx="213283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Auto-compaction</a:t>
            </a:r>
            <a:endParaRPr lang="en-US" sz="1600" dirty="0"/>
          </a:p>
        </p:txBody>
      </p:sp>
      <p:sp>
        <p:nvSpPr>
          <p:cNvPr id="19" name="Text 14"/>
          <p:cNvSpPr/>
          <p:nvPr/>
        </p:nvSpPr>
        <p:spPr>
          <a:xfrm>
            <a:off x="6460236" y="3822192"/>
            <a:ext cx="2178558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 the limit, old tool outputs clear first, then history is summarised.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9004554" y="2377440"/>
            <a:ext cx="2635758" cy="2834640"/>
          </a:xfrm>
          <a:prstGeom prst="roundRect">
            <a:avLst>
              <a:gd name="adj" fmla="val 277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21" name="Shape 16"/>
          <p:cNvSpPr/>
          <p:nvPr/>
        </p:nvSpPr>
        <p:spPr>
          <a:xfrm>
            <a:off x="9278874" y="2651760"/>
            <a:ext cx="566928" cy="566928"/>
          </a:xfrm>
          <a:prstGeom prst="ellipse">
            <a:avLst/>
          </a:prstGeom>
          <a:solidFill>
            <a:srgbClr val="3A7D7B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6034" y="2788920"/>
            <a:ext cx="292608" cy="292608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9278874" y="3337560"/>
            <a:ext cx="213283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Stay lean</a:t>
            </a:r>
            <a:endParaRPr lang="en-US" sz="1600" dirty="0"/>
          </a:p>
        </p:txBody>
      </p:sp>
      <p:sp>
        <p:nvSpPr>
          <p:cNvPr id="24" name="Text 18"/>
          <p:cNvSpPr/>
          <p:nvPr/>
        </p:nvSpPr>
        <p:spPr>
          <a:xfrm>
            <a:off x="9278874" y="3822192"/>
            <a:ext cx="2178558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schemas load on demand; subagents keep their own context.</a:t>
            </a:r>
            <a:endParaRPr lang="en-US" sz="1250" dirty="0"/>
          </a:p>
        </p:txBody>
      </p:sp>
      <p:sp>
        <p:nvSpPr>
          <p:cNvPr id="25" name="Text 19"/>
          <p:cNvSpPr/>
          <p:nvPr/>
        </p:nvSpPr>
        <p:spPr>
          <a:xfrm>
            <a:off x="548640" y="548640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TIP  </a:t>
            </a:r>
            <a:pPr indent="0" marL="0">
              <a:buNone/>
            </a:pPr>
            <a:r>
              <a:rPr lang="en-US" sz="1300" i="1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persistent rules in CLAUDE.md — conversation detail can be lost during compaction.</a:t>
            </a:r>
            <a:endParaRPr lang="en-US" sz="1300" dirty="0"/>
          </a:p>
        </p:txBody>
      </p:sp>
      <p:sp>
        <p:nvSpPr>
          <p:cNvPr id="26" name="Text 20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900" dirty="0"/>
          </a:p>
        </p:txBody>
      </p:sp>
      <p:sp>
        <p:nvSpPr>
          <p:cNvPr id="27" name="Text 21"/>
          <p:cNvSpPr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Applications with Claude Code</a:t>
            </a:r>
            <a:endParaRPr lang="en-US" sz="900" dirty="0"/>
          </a:p>
        </p:txBody>
      </p:sp>
      <p:sp>
        <p:nvSpPr>
          <p:cNvPr id="28" name="Text 22"/>
          <p:cNvSpPr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1 · MEMORY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Memory Files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session starts fresh. Two mechanisms carry knowledge across sessions.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5486400" cy="3383280"/>
          </a:xfrm>
          <a:prstGeom prst="roundRect">
            <a:avLst>
              <a:gd name="adj" fmla="val 216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822960" y="2560320"/>
            <a:ext cx="566928" cy="566928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697480"/>
            <a:ext cx="292608" cy="29260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508760" y="2606040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CLAUDE.md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868680" y="3337560"/>
            <a:ext cx="493776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write it — instructions &amp; rules.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with /init; keep under ~200 lines.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Scopes: project, user, or organisation.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Loaded in full every session.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309360" y="2286000"/>
            <a:ext cx="5303520" cy="3383280"/>
          </a:xfrm>
          <a:prstGeom prst="roundRect">
            <a:avLst>
              <a:gd name="adj" fmla="val 2162"/>
            </a:avLst>
          </a:prstGeom>
          <a:solidFill>
            <a:srgbClr val="21201C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6583680" y="2560320"/>
            <a:ext cx="566928" cy="566928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0840" y="2697480"/>
            <a:ext cx="292608" cy="29260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269480" y="260604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 Memory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6629400" y="3337560"/>
            <a:ext cx="475488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writes it — learnings &amp; patterns.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Stored in MEMORY.md per repository.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200 lines / 25KB load each session.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 &amp; edit with /memory.</a:t>
            </a:r>
            <a:endParaRPr lang="en-US" sz="1350" dirty="0"/>
          </a:p>
        </p:txBody>
      </p:sp>
      <p:sp>
        <p:nvSpPr>
          <p:cNvPr id="15" name="Text 11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Applications with Claude Code</a:t>
            </a:r>
            <a:endParaRPr lang="en-US" sz="900" dirty="0"/>
          </a:p>
        </p:txBody>
      </p:sp>
      <p:sp>
        <p:nvSpPr>
          <p:cNvPr id="17" name="Text 13"/>
          <p:cNvSpPr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</a:t>
            </a:r>
            <a:endParaRPr lang="en-US" sz="9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1 · SESSIONS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Manage Sessions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session is a saved conversation tied to a project directory. Resume, branch, name and switch between them.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377440"/>
            <a:ext cx="2635758" cy="2743200"/>
          </a:xfrm>
          <a:prstGeom prst="roundRect">
            <a:avLst>
              <a:gd name="adj" fmla="val 277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822960" y="2651760"/>
            <a:ext cx="566928" cy="566928"/>
          </a:xfrm>
          <a:prstGeom prst="ellipse">
            <a:avLst/>
          </a:prstGeom>
          <a:solidFill>
            <a:srgbClr val="3A7D7B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788920"/>
            <a:ext cx="292608" cy="29260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22960" y="3337560"/>
            <a:ext cx="213283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260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--continue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822960" y="3822192"/>
            <a:ext cx="2178558" cy="12070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 the most recent session in this directory.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3367278" y="2377440"/>
            <a:ext cx="2635758" cy="2743200"/>
          </a:xfrm>
          <a:prstGeom prst="roundRect">
            <a:avLst>
              <a:gd name="adj" fmla="val 277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3641598" y="2651760"/>
            <a:ext cx="566928" cy="566928"/>
          </a:xfrm>
          <a:prstGeom prst="ellipse">
            <a:avLst/>
          </a:prstGeom>
          <a:solidFill>
            <a:srgbClr val="3A7D7B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8758" y="2788920"/>
            <a:ext cx="292608" cy="29260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641598" y="3337560"/>
            <a:ext cx="213283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260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--resume</a:t>
            </a:r>
            <a:endParaRPr lang="en-US" sz="1450" dirty="0"/>
          </a:p>
        </p:txBody>
      </p:sp>
      <p:sp>
        <p:nvSpPr>
          <p:cNvPr id="14" name="Text 10"/>
          <p:cNvSpPr/>
          <p:nvPr/>
        </p:nvSpPr>
        <p:spPr>
          <a:xfrm>
            <a:off x="3641598" y="3822192"/>
            <a:ext cx="2178558" cy="12070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session picker to browse and search.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6185916" y="2377440"/>
            <a:ext cx="2635758" cy="2743200"/>
          </a:xfrm>
          <a:prstGeom prst="roundRect">
            <a:avLst>
              <a:gd name="adj" fmla="val 277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6" name="Shape 12"/>
          <p:cNvSpPr/>
          <p:nvPr/>
        </p:nvSpPr>
        <p:spPr>
          <a:xfrm>
            <a:off x="6460236" y="2651760"/>
            <a:ext cx="566928" cy="566928"/>
          </a:xfrm>
          <a:prstGeom prst="ellipse">
            <a:avLst/>
          </a:prstGeom>
          <a:solidFill>
            <a:srgbClr val="3A7D7B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7396" y="2788920"/>
            <a:ext cx="292608" cy="292608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460236" y="3337560"/>
            <a:ext cx="213283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260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/rename</a:t>
            </a:r>
            <a:endParaRPr lang="en-US" sz="1450" dirty="0"/>
          </a:p>
        </p:txBody>
      </p:sp>
      <p:sp>
        <p:nvSpPr>
          <p:cNvPr id="19" name="Text 14"/>
          <p:cNvSpPr/>
          <p:nvPr/>
        </p:nvSpPr>
        <p:spPr>
          <a:xfrm>
            <a:off x="6460236" y="3822192"/>
            <a:ext cx="2178558" cy="12070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a session so it's findable later.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9004554" y="2377440"/>
            <a:ext cx="2635758" cy="2743200"/>
          </a:xfrm>
          <a:prstGeom prst="roundRect">
            <a:avLst>
              <a:gd name="adj" fmla="val 277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21" name="Shape 16"/>
          <p:cNvSpPr/>
          <p:nvPr/>
        </p:nvSpPr>
        <p:spPr>
          <a:xfrm>
            <a:off x="9278874" y="2651760"/>
            <a:ext cx="566928" cy="566928"/>
          </a:xfrm>
          <a:prstGeom prst="ellipse">
            <a:avLst/>
          </a:prstGeom>
          <a:solidFill>
            <a:srgbClr val="3A7D7B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6034" y="2788920"/>
            <a:ext cx="292608" cy="292608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9278874" y="3337560"/>
            <a:ext cx="213283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260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/branch</a:t>
            </a:r>
            <a:endParaRPr lang="en-US" sz="1450" dirty="0"/>
          </a:p>
        </p:txBody>
      </p:sp>
      <p:sp>
        <p:nvSpPr>
          <p:cNvPr id="24" name="Text 18"/>
          <p:cNvSpPr/>
          <p:nvPr/>
        </p:nvSpPr>
        <p:spPr>
          <a:xfrm>
            <a:off x="9278874" y="3822192"/>
            <a:ext cx="2178558" cy="12070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Fork the conversation to try another approach.</a:t>
            </a:r>
            <a:endParaRPr lang="en-US" sz="1250" dirty="0"/>
          </a:p>
        </p:txBody>
      </p:sp>
      <p:sp>
        <p:nvSpPr>
          <p:cNvPr id="25" name="Text 19"/>
          <p:cNvSpPr/>
          <p:nvPr/>
        </p:nvSpPr>
        <p:spPr>
          <a:xfrm>
            <a:off x="548640" y="544068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TIP  </a:t>
            </a:r>
            <a:pPr indent="0" marL="0">
              <a:buNone/>
            </a:pPr>
            <a:r>
              <a:rPr lang="en-US" sz="1300" i="1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Sessions are saved locally; use /clear and /compact to manage context within one.</a:t>
            </a:r>
            <a:endParaRPr lang="en-US" sz="1300" dirty="0"/>
          </a:p>
        </p:txBody>
      </p:sp>
      <p:sp>
        <p:nvSpPr>
          <p:cNvPr id="26" name="Text 20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900" dirty="0"/>
          </a:p>
        </p:txBody>
      </p:sp>
      <p:sp>
        <p:nvSpPr>
          <p:cNvPr id="27" name="Text 21"/>
          <p:cNvSpPr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Applications with Claude Code</a:t>
            </a:r>
            <a:endParaRPr lang="en-US" sz="900" dirty="0"/>
          </a:p>
        </p:txBody>
      </p:sp>
      <p:sp>
        <p:nvSpPr>
          <p:cNvPr id="28" name="Text 22"/>
          <p:cNvSpPr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</a:t>
            </a:r>
            <a:endParaRPr lang="en-US" sz="9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1 · SCHEDULED TASKS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Scheduled Tasks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Scheduled tasks (Desktop Routines) start a new session automatically — for daily reviews, audits or briefings.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377440"/>
            <a:ext cx="2635758" cy="2743200"/>
          </a:xfrm>
          <a:prstGeom prst="roundRect">
            <a:avLst>
              <a:gd name="adj" fmla="val 277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822960" y="2651760"/>
            <a:ext cx="566928" cy="566928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788920"/>
            <a:ext cx="292608" cy="29260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22960" y="3337560"/>
            <a:ext cx="213283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Create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22960" y="3822192"/>
            <a:ext cx="2178558" cy="12070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Routines → New routine → Local; set name &amp; instructions.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3367278" y="2377440"/>
            <a:ext cx="2635758" cy="2743200"/>
          </a:xfrm>
          <a:prstGeom prst="roundRect">
            <a:avLst>
              <a:gd name="adj" fmla="val 277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3641598" y="2651760"/>
            <a:ext cx="566928" cy="566928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8758" y="2788920"/>
            <a:ext cx="292608" cy="29260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641598" y="3337560"/>
            <a:ext cx="213283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Schedule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3641598" y="3822192"/>
            <a:ext cx="2178558" cy="12070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Hourly, daily, weekdays or weekly — or describe it.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6185916" y="2377440"/>
            <a:ext cx="2635758" cy="2743200"/>
          </a:xfrm>
          <a:prstGeom prst="roundRect">
            <a:avLst>
              <a:gd name="adj" fmla="val 277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6" name="Shape 12"/>
          <p:cNvSpPr/>
          <p:nvPr/>
        </p:nvSpPr>
        <p:spPr>
          <a:xfrm>
            <a:off x="6460236" y="2651760"/>
            <a:ext cx="566928" cy="566928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7396" y="2788920"/>
            <a:ext cx="292608" cy="292608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460236" y="3337560"/>
            <a:ext cx="213283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Runs locally</a:t>
            </a:r>
            <a:endParaRPr lang="en-US" sz="1600" dirty="0"/>
          </a:p>
        </p:txBody>
      </p:sp>
      <p:sp>
        <p:nvSpPr>
          <p:cNvPr id="19" name="Text 14"/>
          <p:cNvSpPr/>
          <p:nvPr/>
        </p:nvSpPr>
        <p:spPr>
          <a:xfrm>
            <a:off x="6460236" y="3822192"/>
            <a:ext cx="2178558" cy="12070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Fires while the app is open and your machine is awake.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9004554" y="2377440"/>
            <a:ext cx="2635758" cy="2743200"/>
          </a:xfrm>
          <a:prstGeom prst="roundRect">
            <a:avLst>
              <a:gd name="adj" fmla="val 277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21" name="Shape 16"/>
          <p:cNvSpPr/>
          <p:nvPr/>
        </p:nvSpPr>
        <p:spPr>
          <a:xfrm>
            <a:off x="9278874" y="2651760"/>
            <a:ext cx="566928" cy="566928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6034" y="2788920"/>
            <a:ext cx="292608" cy="292608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9278874" y="3337560"/>
            <a:ext cx="213283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Manage</a:t>
            </a:r>
            <a:endParaRPr lang="en-US" sz="1600" dirty="0"/>
          </a:p>
        </p:txBody>
      </p:sp>
      <p:sp>
        <p:nvSpPr>
          <p:cNvPr id="24" name="Text 18"/>
          <p:cNvSpPr/>
          <p:nvPr/>
        </p:nvSpPr>
        <p:spPr>
          <a:xfrm>
            <a:off x="9278874" y="3822192"/>
            <a:ext cx="2178558" cy="12070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now, pause, edit, and review run history.</a:t>
            </a:r>
            <a:endParaRPr lang="en-US" sz="1250" dirty="0"/>
          </a:p>
        </p:txBody>
      </p:sp>
      <p:sp>
        <p:nvSpPr>
          <p:cNvPr id="25" name="Text 19"/>
          <p:cNvSpPr/>
          <p:nvPr/>
        </p:nvSpPr>
        <p:spPr>
          <a:xfrm>
            <a:off x="548640" y="544068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TIP  </a:t>
            </a:r>
            <a:pPr indent="0" marL="0">
              <a:buNone/>
            </a:pPr>
            <a:r>
              <a:rPr lang="en-US" sz="1300" i="1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 ask: “set up a daily code review that runs every morning at 9am.”</a:t>
            </a:r>
            <a:endParaRPr lang="en-US" sz="1300" dirty="0"/>
          </a:p>
        </p:txBody>
      </p:sp>
      <p:sp>
        <p:nvSpPr>
          <p:cNvPr id="26" name="Text 20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900" dirty="0"/>
          </a:p>
        </p:txBody>
      </p:sp>
      <p:sp>
        <p:nvSpPr>
          <p:cNvPr id="27" name="Text 21"/>
          <p:cNvSpPr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Applications with Claude Code</a:t>
            </a:r>
            <a:endParaRPr lang="en-US" sz="900" dirty="0"/>
          </a:p>
        </p:txBody>
      </p:sp>
      <p:sp>
        <p:nvSpPr>
          <p:cNvPr id="28" name="Text 22"/>
          <p:cNvSpPr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9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1 · GOAL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Keep Working Toward a Goal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/goal sets a completion condition. After each turn a fast model checks it, and Claude keeps working until it's met.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377440"/>
            <a:ext cx="2635758" cy="2743200"/>
          </a:xfrm>
          <a:prstGeom prst="roundRect">
            <a:avLst>
              <a:gd name="adj" fmla="val 277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822960" y="2651760"/>
            <a:ext cx="566928" cy="566928"/>
          </a:xfrm>
          <a:prstGeom prst="ellipse">
            <a:avLst/>
          </a:prstGeom>
          <a:solidFill>
            <a:srgbClr val="3A7D7B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788920"/>
            <a:ext cx="292608" cy="29260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22960" y="3337560"/>
            <a:ext cx="213283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260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/goal &lt;cond&gt;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822960" y="3822192"/>
            <a:ext cx="2178558" cy="12070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a verifiable end state, e.g. “all tests pass”.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3367278" y="2377440"/>
            <a:ext cx="2635758" cy="2743200"/>
          </a:xfrm>
          <a:prstGeom prst="roundRect">
            <a:avLst>
              <a:gd name="adj" fmla="val 277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3641598" y="2651760"/>
            <a:ext cx="566928" cy="566928"/>
          </a:xfrm>
          <a:prstGeom prst="ellipse">
            <a:avLst/>
          </a:prstGeom>
          <a:solidFill>
            <a:srgbClr val="3A7D7B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8758" y="2788920"/>
            <a:ext cx="292608" cy="29260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641598" y="3337560"/>
            <a:ext cx="213283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260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/goal</a:t>
            </a:r>
            <a:endParaRPr lang="en-US" sz="1450" dirty="0"/>
          </a:p>
        </p:txBody>
      </p:sp>
      <p:sp>
        <p:nvSpPr>
          <p:cNvPr id="14" name="Text 10"/>
          <p:cNvSpPr/>
          <p:nvPr/>
        </p:nvSpPr>
        <p:spPr>
          <a:xfrm>
            <a:off x="3641598" y="3822192"/>
            <a:ext cx="2178558" cy="12070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status: turns, tokens and the latest reason.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6185916" y="2377440"/>
            <a:ext cx="2635758" cy="2743200"/>
          </a:xfrm>
          <a:prstGeom prst="roundRect">
            <a:avLst>
              <a:gd name="adj" fmla="val 277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6" name="Shape 12"/>
          <p:cNvSpPr/>
          <p:nvPr/>
        </p:nvSpPr>
        <p:spPr>
          <a:xfrm>
            <a:off x="6460236" y="2651760"/>
            <a:ext cx="566928" cy="566928"/>
          </a:xfrm>
          <a:prstGeom prst="ellipse">
            <a:avLst/>
          </a:prstGeom>
          <a:solidFill>
            <a:srgbClr val="3A7D7B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7396" y="2788920"/>
            <a:ext cx="292608" cy="292608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460236" y="3337560"/>
            <a:ext cx="213283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260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/goal clear</a:t>
            </a:r>
            <a:endParaRPr lang="en-US" sz="1450" dirty="0"/>
          </a:p>
        </p:txBody>
      </p:sp>
      <p:sp>
        <p:nvSpPr>
          <p:cNvPr id="19" name="Text 14"/>
          <p:cNvSpPr/>
          <p:nvPr/>
        </p:nvSpPr>
        <p:spPr>
          <a:xfrm>
            <a:off x="6460236" y="3822192"/>
            <a:ext cx="2178558" cy="12070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an active goal before it's met.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9004554" y="2377440"/>
            <a:ext cx="2635758" cy="2743200"/>
          </a:xfrm>
          <a:prstGeom prst="roundRect">
            <a:avLst>
              <a:gd name="adj" fmla="val 277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21" name="Shape 16"/>
          <p:cNvSpPr/>
          <p:nvPr/>
        </p:nvSpPr>
        <p:spPr>
          <a:xfrm>
            <a:off x="9278874" y="2651760"/>
            <a:ext cx="566928" cy="566928"/>
          </a:xfrm>
          <a:prstGeom prst="ellipse">
            <a:avLst/>
          </a:prstGeom>
          <a:solidFill>
            <a:srgbClr val="3A7D7B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6034" y="2788920"/>
            <a:ext cx="292608" cy="292608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9278874" y="3337560"/>
            <a:ext cx="213283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260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How</a:t>
            </a:r>
            <a:endParaRPr lang="en-US" sz="1450" dirty="0"/>
          </a:p>
        </p:txBody>
      </p:sp>
      <p:sp>
        <p:nvSpPr>
          <p:cNvPr id="24" name="Text 18"/>
          <p:cNvSpPr/>
          <p:nvPr/>
        </p:nvSpPr>
        <p:spPr>
          <a:xfrm>
            <a:off x="9278874" y="3822192"/>
            <a:ext cx="2178558" cy="12070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Haiku evaluator judges the condition each turn.</a:t>
            </a:r>
            <a:endParaRPr lang="en-US" sz="1250" dirty="0"/>
          </a:p>
        </p:txBody>
      </p:sp>
      <p:sp>
        <p:nvSpPr>
          <p:cNvPr id="25" name="Text 19"/>
          <p:cNvSpPr/>
          <p:nvPr/>
        </p:nvSpPr>
        <p:spPr>
          <a:xfrm>
            <a:off x="548640" y="544068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TIP  </a:t>
            </a:r>
            <a:pPr indent="0" marL="0">
              <a:buNone/>
            </a:pPr>
            <a:r>
              <a:rPr lang="en-US" sz="1300" i="1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conditions Claude can prove in the transcript — e.g. “npm test exits 0”.</a:t>
            </a:r>
            <a:endParaRPr lang="en-US" sz="1300" dirty="0"/>
          </a:p>
        </p:txBody>
      </p:sp>
      <p:sp>
        <p:nvSpPr>
          <p:cNvPr id="26" name="Text 20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900" dirty="0"/>
          </a:p>
        </p:txBody>
      </p:sp>
      <p:sp>
        <p:nvSpPr>
          <p:cNvPr id="27" name="Text 21"/>
          <p:cNvSpPr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Applications with Claude Code</a:t>
            </a:r>
            <a:endParaRPr lang="en-US" sz="900" dirty="0"/>
          </a:p>
        </p:txBody>
      </p:sp>
      <p:sp>
        <p:nvSpPr>
          <p:cNvPr id="28" name="Text 22"/>
          <p:cNvSpPr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</a:t>
            </a:r>
            <a:endParaRPr lang="en-US" sz="9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2120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875520" y="4206240"/>
            <a:ext cx="3657600" cy="3657600"/>
          </a:xfrm>
          <a:prstGeom prst="ellipse">
            <a:avLst/>
          </a:prstGeom>
          <a:solidFill>
            <a:srgbClr val="D97757">
              <a:alpha val="15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48640" y="502920"/>
            <a:ext cx="2286000" cy="548640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548640" y="50292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1B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188720"/>
            <a:ext cx="8686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Context, Deploy &amp; CI/CD (Steps 4–7)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10058400" y="640080"/>
            <a:ext cx="1188720" cy="1188720"/>
          </a:xfrm>
          <a:prstGeom prst="ellipse">
            <a:avLst/>
          </a:prstGeom>
          <a:solidFill>
            <a:srgbClr val="2E2C26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51008" y="932688"/>
            <a:ext cx="603504" cy="603504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40080" y="2167128"/>
            <a:ext cx="438912" cy="438912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640080" y="216712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261872" y="2103120"/>
            <a:ext cx="10515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 — Context: run /init to generate CLAUDE.md for your project.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640080" y="2807208"/>
            <a:ext cx="438912" cy="438912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640080" y="280720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1261872" y="2743200"/>
            <a:ext cx="10515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5 — Commit to GitHub: initialise git and push your code.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640080" y="3447288"/>
            <a:ext cx="438912" cy="438912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640080" y="344728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1261872" y="3383280"/>
            <a:ext cx="10515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6 — Deployment: deploy to GitHub Pages via GitHub Actions; add a README.</a:t>
            </a:r>
            <a:endParaRPr lang="en-US" sz="1350" dirty="0"/>
          </a:p>
        </p:txBody>
      </p:sp>
      <p:sp>
        <p:nvSpPr>
          <p:cNvPr id="17" name="Shape 14"/>
          <p:cNvSpPr/>
          <p:nvPr/>
        </p:nvSpPr>
        <p:spPr>
          <a:xfrm>
            <a:off x="640080" y="4087368"/>
            <a:ext cx="438912" cy="438912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p/>
        </p:txBody>
      </p:sp>
      <p:sp>
        <p:nvSpPr>
          <p:cNvPr id="18" name="Text 15"/>
          <p:cNvSpPr/>
          <p:nvPr/>
        </p:nvSpPr>
        <p:spPr>
          <a:xfrm>
            <a:off x="640080" y="408736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1261872" y="4023360"/>
            <a:ext cx="10515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7 — CI/CD: confirm each push automatically rebuilds and redeploys the site.</a:t>
            </a:r>
            <a:endParaRPr lang="en-US" sz="1350" dirty="0"/>
          </a:p>
        </p:txBody>
      </p:sp>
      <p:sp>
        <p:nvSpPr>
          <p:cNvPr id="20" name="Shape 17"/>
          <p:cNvSpPr/>
          <p:nvPr/>
        </p:nvSpPr>
        <p:spPr>
          <a:xfrm>
            <a:off x="640080" y="4727448"/>
            <a:ext cx="438912" cy="438912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p/>
        </p:txBody>
      </p:sp>
      <p:sp>
        <p:nvSpPr>
          <p:cNvPr id="21" name="Text 18"/>
          <p:cNvSpPr/>
          <p:nvPr/>
        </p:nvSpPr>
        <p:spPr>
          <a:xfrm>
            <a:off x="640080" y="472744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2" name="Text 19"/>
          <p:cNvSpPr/>
          <p:nvPr/>
        </p:nvSpPr>
        <p:spPr>
          <a:xfrm>
            <a:off x="1261872" y="4663440"/>
            <a:ext cx="10515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 your live GitHub Pages link: https://&lt;username&gt;.github.io/software-dev-site/</a:t>
            </a:r>
            <a:endParaRPr lang="en-US" sz="1350" dirty="0"/>
          </a:p>
        </p:txBody>
      </p:sp>
      <p:sp>
        <p:nvSpPr>
          <p:cNvPr id="23" name="Shape 20"/>
          <p:cNvSpPr/>
          <p:nvPr/>
        </p:nvSpPr>
        <p:spPr>
          <a:xfrm>
            <a:off x="640080" y="5989320"/>
            <a:ext cx="10881360" cy="502920"/>
          </a:xfrm>
          <a:prstGeom prst="roundRect">
            <a:avLst>
              <a:gd name="adj" fmla="val 14545"/>
            </a:avLst>
          </a:prstGeom>
          <a:solidFill>
            <a:srgbClr val="2E2C26"/>
          </a:solidFill>
          <a:ln/>
        </p:spPr>
        <p:txBody>
          <a:bodyPr/>
          <a:p/>
        </p:txBody>
      </p:sp>
      <p:sp>
        <p:nvSpPr>
          <p:cNvPr id="24" name="Text 21"/>
          <p:cNvSpPr/>
          <p:nvPr/>
        </p:nvSpPr>
        <p:spPr>
          <a:xfrm>
            <a:off x="868680" y="598932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TIP  </a:t>
            </a:r>
            <a:pPr indent="0" marL="0">
              <a:buNone/>
            </a:pPr>
            <a:r>
              <a:rPr lang="en-US" sz="1300" i="1" dirty="0">
                <a:solidFill>
                  <a:srgbClr val="C9C4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your deployed GitHub Pages URL with the class.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457200" y="658368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8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2120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280160" y="3657600"/>
            <a:ext cx="4572000" cy="4572000"/>
          </a:xfrm>
          <a:prstGeom prst="ellipse">
            <a:avLst/>
          </a:prstGeom>
          <a:solidFill>
            <a:srgbClr val="D97757">
              <a:alpha val="14000"/>
            </a:srgbClr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822960" y="201168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4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77240" y="2514600"/>
            <a:ext cx="76809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Tools and Commands</a:t>
            </a:r>
            <a:endParaRPr lang="en-US" sz="4200" dirty="0"/>
          </a:p>
        </p:txBody>
      </p:sp>
      <p:sp>
        <p:nvSpPr>
          <p:cNvPr id="5" name="Shape 3"/>
          <p:cNvSpPr/>
          <p:nvPr/>
        </p:nvSpPr>
        <p:spPr>
          <a:xfrm>
            <a:off x="8321040" y="1463040"/>
            <a:ext cx="3200400" cy="2724912"/>
          </a:xfrm>
          <a:prstGeom prst="roundRect">
            <a:avLst>
              <a:gd name="adj" fmla="val 3356"/>
            </a:avLst>
          </a:prstGeom>
          <a:solidFill>
            <a:srgbClr val="2E2C26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549640" y="1755648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77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052560" y="173736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.claude directory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549640" y="2322576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77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052560" y="2304288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Commands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549640" y="2889504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77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9052560" y="2871216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Tools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549640" y="3456432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77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052560" y="3438144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Playwright MCP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6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9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2 · CONFIGURATION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.claude Directory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keeps its configuration in two places: your user folder (applies everywhere) and the project folder (shared with your team via version control).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468880"/>
            <a:ext cx="5486400" cy="3017520"/>
          </a:xfrm>
          <a:prstGeom prst="roundRect">
            <a:avLst>
              <a:gd name="adj" fmla="val 1818"/>
            </a:avLst>
          </a:prstGeom>
          <a:solidFill>
            <a:srgbClr val="1B1A1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22960" y="26060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6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~/.claude/   (user — all projects)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2971800"/>
            <a:ext cx="502920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8E5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settings.json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A86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# settings, hooks
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8E5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CLAUDE.md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A86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# personal memory
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8E5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agents/  skills/  commands/
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8E5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projects/&lt;p&gt;/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A86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# sessions + memory/
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8E5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plugins/
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A7D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~/.claude.json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A86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# MCP servers, config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126480" y="2468880"/>
            <a:ext cx="5486400" cy="3017520"/>
          </a:xfrm>
          <a:prstGeom prst="roundRect">
            <a:avLst>
              <a:gd name="adj" fmla="val 1818"/>
            </a:avLst>
          </a:prstGeom>
          <a:solidFill>
            <a:srgbClr val="1B1A1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00800" y="26060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6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&lt;project&gt;/.claude/   (team — in git)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0" y="2971800"/>
            <a:ext cx="502920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8E5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settings.json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A86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  # shared settings
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8E5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settings.local.json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A86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# personal
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8E5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CLAUDE.md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8E5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rules/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A86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# memory &amp; rules
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8E5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commands/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A86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# /slash commands
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8E5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skills/&lt;name&gt;/SKILL.md
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8E5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agents/&lt;name&gt;.md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A86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# sub agents
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A7D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.mcp.json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A86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# project MCP servers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48640" y="562356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TIP  </a:t>
            </a:r>
            <a:pPr indent="0" marL="0">
              <a:buNone/>
            </a:pPr>
            <a:r>
              <a:rPr lang="en-US" sz="1300" i="1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scope applies to every project; project scope is committed so your whole team shares it.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Applications with Claude Code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</a:t>
            </a:r>
            <a:endParaRPr lang="en-US" sz="9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1" name="Shape 101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2 · CONFIGURATION</a:t>
            </a:r>
          </a:p>
        </p:txBody>
      </p:sp>
      <p:sp>
        <p:nvSpPr>
          <p:cNvPr id="102" name="Shape 102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User Level vs Project Level</a:t>
            </a:r>
          </a:p>
        </p:txBody>
      </p:sp>
      <p:sp>
        <p:nvSpPr>
          <p:cNvPr id="103" name="Shape 103"/>
          <p:cNvSpPr/>
          <p:nvPr/>
        </p:nvSpPr>
        <p:spPr>
          <a:xfrm>
            <a:off x="548640" y="169164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customisation — commands, MCP tools, skills, CLAUDE.md and hooks — can be stored at two levels. User level applies to ALL your projects; project level applies only to that ONE project.</a:t>
            </a:r>
          </a:p>
        </p:txBody>
      </p:sp>
      <p:sp>
        <p:nvSpPr>
          <p:cNvPr id="104" name="Shape 104"/>
          <p:cNvSpPr/>
          <p:nvPr/>
        </p:nvSpPr>
        <p:spPr>
          <a:xfrm>
            <a:off x="548640" y="2377440"/>
            <a:ext cx="5425440" cy="3108960"/>
          </a:xfrm>
          <a:prstGeom prst="roundRect">
            <a:avLst>
              <a:gd name="adj" fmla="val 353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05" name="Shape 105"/>
          <p:cNvSpPr/>
          <p:nvPr/>
        </p:nvSpPr>
        <p:spPr>
          <a:xfrm>
            <a:off x="777240" y="2606040"/>
            <a:ext cx="1005840" cy="91440"/>
          </a:xfrm>
          <a:prstGeom prst="roundRect">
            <a:avLst>
              <a:gd name="adj" fmla="val 50000"/>
            </a:avLst>
          </a:prstGeom>
          <a:solidFill>
            <a:srgbClr val="3A7D7B"/>
          </a:solidFill>
          <a:ln/>
        </p:spPr>
        <p:txBody>
          <a:bodyPr/>
          <a:p/>
        </p:txBody>
      </p:sp>
      <p:sp>
        <p:nvSpPr>
          <p:cNvPr id="106" name="Shape 106"/>
          <p:cNvSpPr/>
          <p:nvPr/>
        </p:nvSpPr>
        <p:spPr>
          <a:xfrm>
            <a:off x="777240" y="2743200"/>
            <a:ext cx="4800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User Level  ·  ~/.claude/</a:t>
            </a:r>
          </a:p>
        </p:txBody>
      </p:sp>
      <p:sp>
        <p:nvSpPr>
          <p:cNvPr id="107" name="Shape 107"/>
          <p:cNvSpPr/>
          <p:nvPr/>
        </p:nvSpPr>
        <p:spPr>
          <a:xfrm>
            <a:off x="777240" y="3246120"/>
            <a:ext cx="2743200" cy="320040"/>
          </a:xfrm>
          <a:prstGeom prst="roundRect">
            <a:avLst>
              <a:gd name="adj" fmla="val 50000"/>
            </a:avLst>
          </a:prstGeom>
          <a:solidFill>
            <a:srgbClr val="3A7D7B"/>
          </a:solidFill>
          <a:ln/>
        </p:spPr>
        <p:txBody>
          <a:bodyPr/>
          <a:p/>
        </p:txBody>
      </p:sp>
      <p:sp>
        <p:nvSpPr>
          <p:cNvPr id="108" name="Shape 108"/>
          <p:cNvSpPr/>
          <p:nvPr/>
        </p:nvSpPr>
        <p:spPr>
          <a:xfrm>
            <a:off x="777240" y="324612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APPLIES TO ALL PROJECTS</a:t>
            </a:r>
          </a:p>
        </p:txBody>
      </p:sp>
      <p:sp>
        <p:nvSpPr>
          <p:cNvPr id="109" name="Shape 109"/>
          <p:cNvSpPr/>
          <p:nvPr/>
        </p:nvSpPr>
        <p:spPr>
          <a:xfrm>
            <a:off x="822960" y="3749160"/>
            <a:ext cx="91440" cy="91440"/>
          </a:xfrm>
          <a:prstGeom prst="ellipse">
            <a:avLst/>
          </a:prstGeom>
          <a:solidFill>
            <a:srgbClr val="3A7D7B"/>
          </a:solidFill>
          <a:ln/>
        </p:spPr>
        <p:txBody>
          <a:bodyPr/>
          <a:p/>
        </p:txBody>
      </p:sp>
      <p:sp>
        <p:nvSpPr>
          <p:cNvPr id="110" name="Shape 110"/>
          <p:cNvSpPr/>
          <p:nvPr/>
        </p:nvSpPr>
        <p:spPr>
          <a:xfrm>
            <a:off x="1015365" y="361200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Commands</a:t>
            </a:r>
          </a:p>
        </p:txBody>
      </p:sp>
      <p:sp>
        <p:nvSpPr>
          <p:cNvPr id="111" name="Shape 111"/>
          <p:cNvSpPr/>
          <p:nvPr/>
        </p:nvSpPr>
        <p:spPr>
          <a:xfrm>
            <a:off x="2238640" y="3612000"/>
            <a:ext cx="3506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~/.claude/commands/&lt;name&gt;.md</a:t>
            </a:r>
          </a:p>
        </p:txBody>
      </p:sp>
      <p:sp>
        <p:nvSpPr>
          <p:cNvPr id="112" name="Shape 112"/>
          <p:cNvSpPr/>
          <p:nvPr/>
        </p:nvSpPr>
        <p:spPr>
          <a:xfrm>
            <a:off x="822960" y="4114920"/>
            <a:ext cx="91440" cy="91440"/>
          </a:xfrm>
          <a:prstGeom prst="ellipse">
            <a:avLst/>
          </a:prstGeom>
          <a:solidFill>
            <a:srgbClr val="3A7D7B"/>
          </a:solidFill>
          <a:ln/>
        </p:spPr>
        <p:txBody>
          <a:bodyPr/>
          <a:p/>
        </p:txBody>
      </p:sp>
      <p:sp>
        <p:nvSpPr>
          <p:cNvPr id="113" name="Shape 113"/>
          <p:cNvSpPr/>
          <p:nvPr/>
        </p:nvSpPr>
        <p:spPr>
          <a:xfrm>
            <a:off x="1015365" y="397776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Tools</a:t>
            </a:r>
          </a:p>
        </p:txBody>
      </p:sp>
      <p:sp>
        <p:nvSpPr>
          <p:cNvPr id="114" name="Shape 114"/>
          <p:cNvSpPr/>
          <p:nvPr/>
        </p:nvSpPr>
        <p:spPr>
          <a:xfrm>
            <a:off x="2238640" y="3977760"/>
            <a:ext cx="3506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~/.claude.json  ·  claude mcp add -s user …</a:t>
            </a:r>
          </a:p>
        </p:txBody>
      </p:sp>
      <p:sp>
        <p:nvSpPr>
          <p:cNvPr id="115" name="Shape 115"/>
          <p:cNvSpPr/>
          <p:nvPr/>
        </p:nvSpPr>
        <p:spPr>
          <a:xfrm>
            <a:off x="822960" y="4480680"/>
            <a:ext cx="91440" cy="91440"/>
          </a:xfrm>
          <a:prstGeom prst="ellipse">
            <a:avLst/>
          </a:prstGeom>
          <a:solidFill>
            <a:srgbClr val="3A7D7B"/>
          </a:solidFill>
          <a:ln/>
        </p:spPr>
        <p:txBody>
          <a:bodyPr/>
          <a:p/>
        </p:txBody>
      </p:sp>
      <p:sp>
        <p:nvSpPr>
          <p:cNvPr id="116" name="Shape 116"/>
          <p:cNvSpPr/>
          <p:nvPr/>
        </p:nvSpPr>
        <p:spPr>
          <a:xfrm>
            <a:off x="1015365" y="434352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</a:t>
            </a:r>
          </a:p>
        </p:txBody>
      </p:sp>
      <p:sp>
        <p:nvSpPr>
          <p:cNvPr id="117" name="Shape 117"/>
          <p:cNvSpPr/>
          <p:nvPr/>
        </p:nvSpPr>
        <p:spPr>
          <a:xfrm>
            <a:off x="2238640" y="4343520"/>
            <a:ext cx="3506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~/.claude/skills/&lt;name&gt;/SKILL.md</a:t>
            </a:r>
          </a:p>
        </p:txBody>
      </p:sp>
      <p:sp>
        <p:nvSpPr>
          <p:cNvPr id="118" name="Shape 118"/>
          <p:cNvSpPr/>
          <p:nvPr/>
        </p:nvSpPr>
        <p:spPr>
          <a:xfrm>
            <a:off x="822960" y="4846440"/>
            <a:ext cx="91440" cy="91440"/>
          </a:xfrm>
          <a:prstGeom prst="ellipse">
            <a:avLst/>
          </a:prstGeom>
          <a:solidFill>
            <a:srgbClr val="3A7D7B"/>
          </a:solidFill>
          <a:ln/>
        </p:spPr>
        <p:txBody>
          <a:bodyPr/>
          <a:p/>
        </p:txBody>
      </p:sp>
      <p:sp>
        <p:nvSpPr>
          <p:cNvPr id="119" name="Shape 119"/>
          <p:cNvSpPr/>
          <p:nvPr/>
        </p:nvSpPr>
        <p:spPr>
          <a:xfrm>
            <a:off x="1015365" y="47092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CLAUDE.md</a:t>
            </a:r>
          </a:p>
        </p:txBody>
      </p:sp>
      <p:sp>
        <p:nvSpPr>
          <p:cNvPr id="120" name="Shape 120"/>
          <p:cNvSpPr/>
          <p:nvPr/>
        </p:nvSpPr>
        <p:spPr>
          <a:xfrm>
            <a:off x="2238640" y="4709280"/>
            <a:ext cx="3506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~/.claude/CLAUDE.md  (your personal memory)</a:t>
            </a:r>
          </a:p>
        </p:txBody>
      </p:sp>
      <p:sp>
        <p:nvSpPr>
          <p:cNvPr id="121" name="Shape 121"/>
          <p:cNvSpPr/>
          <p:nvPr/>
        </p:nvSpPr>
        <p:spPr>
          <a:xfrm>
            <a:off x="822960" y="5212200"/>
            <a:ext cx="91440" cy="91440"/>
          </a:xfrm>
          <a:prstGeom prst="ellipse">
            <a:avLst/>
          </a:prstGeom>
          <a:solidFill>
            <a:srgbClr val="3A7D7B"/>
          </a:solidFill>
          <a:ln/>
        </p:spPr>
        <p:txBody>
          <a:bodyPr/>
          <a:p/>
        </p:txBody>
      </p:sp>
      <p:sp>
        <p:nvSpPr>
          <p:cNvPr id="122" name="Shape 122"/>
          <p:cNvSpPr/>
          <p:nvPr/>
        </p:nvSpPr>
        <p:spPr>
          <a:xfrm>
            <a:off x="1015365" y="507504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Hooks</a:t>
            </a:r>
          </a:p>
        </p:txBody>
      </p:sp>
      <p:sp>
        <p:nvSpPr>
          <p:cNvPr id="123" name="Shape 123"/>
          <p:cNvSpPr/>
          <p:nvPr/>
        </p:nvSpPr>
        <p:spPr>
          <a:xfrm>
            <a:off x="2238640" y="5075040"/>
            <a:ext cx="3506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~/.claude/settings.json  →  "hooks"</a:t>
            </a:r>
          </a:p>
        </p:txBody>
      </p:sp>
      <p:sp>
        <p:nvSpPr>
          <p:cNvPr id="124" name="Shape 124"/>
          <p:cNvSpPr/>
          <p:nvPr/>
        </p:nvSpPr>
        <p:spPr>
          <a:xfrm>
            <a:off x="6217920" y="2377440"/>
            <a:ext cx="5425440" cy="3108960"/>
          </a:xfrm>
          <a:prstGeom prst="roundRect">
            <a:avLst>
              <a:gd name="adj" fmla="val 353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25" name="Shape 125"/>
          <p:cNvSpPr/>
          <p:nvPr/>
        </p:nvSpPr>
        <p:spPr>
          <a:xfrm>
            <a:off x="6446520" y="2606040"/>
            <a:ext cx="1005840" cy="91440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/>
        </p:spPr>
        <p:txBody>
          <a:bodyPr/>
          <a:p/>
        </p:txBody>
      </p:sp>
      <p:sp>
        <p:nvSpPr>
          <p:cNvPr id="126" name="Shape 126"/>
          <p:cNvSpPr/>
          <p:nvPr/>
        </p:nvSpPr>
        <p:spPr>
          <a:xfrm>
            <a:off x="6446520" y="2743200"/>
            <a:ext cx="4800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 Level  ·  &lt;project&gt;/</a:t>
            </a:r>
          </a:p>
        </p:txBody>
      </p:sp>
      <p:sp>
        <p:nvSpPr>
          <p:cNvPr id="127" name="Shape 127"/>
          <p:cNvSpPr/>
          <p:nvPr/>
        </p:nvSpPr>
        <p:spPr>
          <a:xfrm>
            <a:off x="6446520" y="3246120"/>
            <a:ext cx="2743200" cy="320040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/>
        </p:spPr>
        <p:txBody>
          <a:bodyPr/>
          <a:p/>
        </p:txBody>
      </p:sp>
      <p:sp>
        <p:nvSpPr>
          <p:cNvPr id="128" name="Shape 128"/>
          <p:cNvSpPr/>
          <p:nvPr/>
        </p:nvSpPr>
        <p:spPr>
          <a:xfrm>
            <a:off x="6446520" y="324612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PROJECT ONLY</a:t>
            </a:r>
          </a:p>
        </p:txBody>
      </p:sp>
      <p:sp>
        <p:nvSpPr>
          <p:cNvPr id="129" name="Shape 129"/>
          <p:cNvSpPr/>
          <p:nvPr/>
        </p:nvSpPr>
        <p:spPr>
          <a:xfrm>
            <a:off x="6492240" y="3749160"/>
            <a:ext cx="91440" cy="9144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p/>
        </p:txBody>
      </p:sp>
      <p:sp>
        <p:nvSpPr>
          <p:cNvPr id="130" name="Shape 130"/>
          <p:cNvSpPr/>
          <p:nvPr/>
        </p:nvSpPr>
        <p:spPr>
          <a:xfrm>
            <a:off x="6684645" y="361200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Commands</a:t>
            </a:r>
          </a:p>
        </p:txBody>
      </p:sp>
      <p:sp>
        <p:nvSpPr>
          <p:cNvPr id="131" name="Shape 131"/>
          <p:cNvSpPr/>
          <p:nvPr/>
        </p:nvSpPr>
        <p:spPr>
          <a:xfrm>
            <a:off x="7907920" y="3612000"/>
            <a:ext cx="3506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&lt;project&gt;/.claude/commands/&lt;name&gt;.md</a:t>
            </a:r>
          </a:p>
        </p:txBody>
      </p:sp>
      <p:sp>
        <p:nvSpPr>
          <p:cNvPr id="132" name="Shape 132"/>
          <p:cNvSpPr/>
          <p:nvPr/>
        </p:nvSpPr>
        <p:spPr>
          <a:xfrm>
            <a:off x="6492240" y="4114920"/>
            <a:ext cx="91440" cy="9144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p/>
        </p:txBody>
      </p:sp>
      <p:sp>
        <p:nvSpPr>
          <p:cNvPr id="133" name="Shape 133"/>
          <p:cNvSpPr/>
          <p:nvPr/>
        </p:nvSpPr>
        <p:spPr>
          <a:xfrm>
            <a:off x="6684645" y="397776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Tools</a:t>
            </a:r>
          </a:p>
        </p:txBody>
      </p:sp>
      <p:sp>
        <p:nvSpPr>
          <p:cNvPr id="134" name="Shape 134"/>
          <p:cNvSpPr/>
          <p:nvPr/>
        </p:nvSpPr>
        <p:spPr>
          <a:xfrm>
            <a:off x="7907920" y="3977760"/>
            <a:ext cx="3506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&lt;project&gt;/.mcp.json  ·  claude mcp add -s project …</a:t>
            </a:r>
          </a:p>
        </p:txBody>
      </p:sp>
      <p:sp>
        <p:nvSpPr>
          <p:cNvPr id="135" name="Shape 135"/>
          <p:cNvSpPr/>
          <p:nvPr/>
        </p:nvSpPr>
        <p:spPr>
          <a:xfrm>
            <a:off x="6492240" y="4480680"/>
            <a:ext cx="91440" cy="9144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p/>
        </p:txBody>
      </p:sp>
      <p:sp>
        <p:nvSpPr>
          <p:cNvPr id="136" name="Shape 136"/>
          <p:cNvSpPr/>
          <p:nvPr/>
        </p:nvSpPr>
        <p:spPr>
          <a:xfrm>
            <a:off x="6684645" y="434352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</a:t>
            </a:r>
          </a:p>
        </p:txBody>
      </p:sp>
      <p:sp>
        <p:nvSpPr>
          <p:cNvPr id="137" name="Shape 137"/>
          <p:cNvSpPr/>
          <p:nvPr/>
        </p:nvSpPr>
        <p:spPr>
          <a:xfrm>
            <a:off x="7907920" y="4343520"/>
            <a:ext cx="3506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&lt;project&gt;/.claude/skills/&lt;name&gt;/SKILL.md</a:t>
            </a:r>
          </a:p>
        </p:txBody>
      </p:sp>
      <p:sp>
        <p:nvSpPr>
          <p:cNvPr id="138" name="Shape 138"/>
          <p:cNvSpPr/>
          <p:nvPr/>
        </p:nvSpPr>
        <p:spPr>
          <a:xfrm>
            <a:off x="6492240" y="4846440"/>
            <a:ext cx="91440" cy="9144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p/>
        </p:txBody>
      </p:sp>
      <p:sp>
        <p:nvSpPr>
          <p:cNvPr id="139" name="Shape 139"/>
          <p:cNvSpPr/>
          <p:nvPr/>
        </p:nvSpPr>
        <p:spPr>
          <a:xfrm>
            <a:off x="6684645" y="47092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CLAUDE.md</a:t>
            </a:r>
          </a:p>
        </p:txBody>
      </p:sp>
      <p:sp>
        <p:nvSpPr>
          <p:cNvPr id="140" name="Shape 140"/>
          <p:cNvSpPr/>
          <p:nvPr/>
        </p:nvSpPr>
        <p:spPr>
          <a:xfrm>
            <a:off x="7907920" y="4709280"/>
            <a:ext cx="3506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&lt;project&gt;/CLAUDE.md  (shared with the team)</a:t>
            </a:r>
          </a:p>
        </p:txBody>
      </p:sp>
      <p:sp>
        <p:nvSpPr>
          <p:cNvPr id="141" name="Shape 141"/>
          <p:cNvSpPr/>
          <p:nvPr/>
        </p:nvSpPr>
        <p:spPr>
          <a:xfrm>
            <a:off x="6492240" y="5212200"/>
            <a:ext cx="91440" cy="9144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p/>
        </p:txBody>
      </p:sp>
      <p:sp>
        <p:nvSpPr>
          <p:cNvPr id="142" name="Shape 142"/>
          <p:cNvSpPr/>
          <p:nvPr/>
        </p:nvSpPr>
        <p:spPr>
          <a:xfrm>
            <a:off x="6684645" y="507504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Hooks</a:t>
            </a:r>
          </a:p>
        </p:txBody>
      </p:sp>
      <p:sp>
        <p:nvSpPr>
          <p:cNvPr id="143" name="Shape 143"/>
          <p:cNvSpPr/>
          <p:nvPr/>
        </p:nvSpPr>
        <p:spPr>
          <a:xfrm>
            <a:off x="7907920" y="5075040"/>
            <a:ext cx="3506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&lt;project&gt;/.claude/settings.json  →  "hooks"</a:t>
            </a:r>
          </a:p>
        </p:txBody>
      </p:sp>
      <p:sp>
        <p:nvSpPr>
          <p:cNvPr id="144" name="Shape 144"/>
          <p:cNvSpPr/>
          <p:nvPr/>
        </p:nvSpPr>
        <p:spPr>
          <a:xfrm>
            <a:off x="548640" y="563880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TIP  </a:t>
            </a:r>
            <a:r>
              <a:rPr lang="en-US" sz="1200" i="1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personal preferences at user level; commit team-shared rules, commands, skills and hooks at project level. Both levels load together — where they conflict, project settings take precedence.</a:t>
            </a:r>
          </a:p>
        </p:txBody>
      </p:sp>
      <p:sp>
        <p:nvSpPr>
          <p:cNvPr id="145" name="Shape 145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</a:p>
        </p:txBody>
      </p:sp>
      <p:sp>
        <p:nvSpPr>
          <p:cNvPr id="146" name="Shape 146"/>
          <p:cNvSpPr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Applications with Claude Code</a:t>
            </a:r>
          </a:p>
        </p:txBody>
      </p:sp>
      <p:sp>
        <p:nvSpPr>
          <p:cNvPr id="147" name="Shape 147"/>
          <p:cNvSpPr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2 · CUSTOM COMMANDS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Custom Slash Commands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commands are reusable prompts saved as Markdown files. Type a slash command to run a multi-step workflow the same way every time.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2560320"/>
            <a:ext cx="548640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b="1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they live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.claude/commands/ in your project (or ~/.claude for personal).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b="1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make one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name.md — the filename becomes /name.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b="1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Reload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Restart Claude Code to pick up new commands.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b="1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Arguments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$ARGUMENTS to pass input into the command.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0" y="2560320"/>
            <a:ext cx="5212080" cy="3017520"/>
          </a:xfrm>
          <a:prstGeom prst="roundRect">
            <a:avLst>
              <a:gd name="adj" fmla="val 1818"/>
            </a:avLst>
          </a:prstGeom>
          <a:solidFill>
            <a:srgbClr val="1B1A1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6974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6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.claude/commands/gitpush.md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675120" y="3108960"/>
            <a:ext cx="466344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8E5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Push all code to GitHub, then:
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8E5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Create a README
2. Enable GitHub Pages
3. Update repo About + Pages link
4. Scan for secrets before publishing
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Target: $ARGUMENTS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Applications with Claude Code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</a:t>
            </a:r>
            <a:endParaRPr lang="en-US" sz="9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2120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875520" y="4206240"/>
            <a:ext cx="3657600" cy="3657600"/>
          </a:xfrm>
          <a:prstGeom prst="ellipse">
            <a:avLst/>
          </a:prstGeom>
          <a:solidFill>
            <a:srgbClr val="D97757">
              <a:alpha val="15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48640" y="502920"/>
            <a:ext cx="2286000" cy="548640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548640" y="50292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2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188720"/>
            <a:ext cx="8686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Create a /gitpush Command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10058400" y="640080"/>
            <a:ext cx="1188720" cy="1188720"/>
          </a:xfrm>
          <a:prstGeom prst="ellipse">
            <a:avLst/>
          </a:prstGeom>
          <a:solidFill>
            <a:srgbClr val="2E2C26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51008" y="932688"/>
            <a:ext cx="603504" cy="603504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40080" y="2167128"/>
            <a:ext cx="438912" cy="438912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640080" y="216712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261872" y="2103120"/>
            <a:ext cx="10515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.claude/commands/gitpush.md in your project.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640080" y="2776728"/>
            <a:ext cx="438912" cy="438912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640080" y="277672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1261872" y="2712720"/>
            <a:ext cx="10515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Step: push/update all code to GitHub.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640080" y="3386328"/>
            <a:ext cx="438912" cy="438912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640080" y="338632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1261872" y="3322320"/>
            <a:ext cx="10515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Step: generate a README for the repository.</a:t>
            </a:r>
            <a:endParaRPr lang="en-US" sz="1350" dirty="0"/>
          </a:p>
        </p:txBody>
      </p:sp>
      <p:sp>
        <p:nvSpPr>
          <p:cNvPr id="17" name="Shape 14"/>
          <p:cNvSpPr/>
          <p:nvPr/>
        </p:nvSpPr>
        <p:spPr>
          <a:xfrm>
            <a:off x="640080" y="3995928"/>
            <a:ext cx="438912" cy="438912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p/>
        </p:txBody>
      </p:sp>
      <p:sp>
        <p:nvSpPr>
          <p:cNvPr id="18" name="Text 15"/>
          <p:cNvSpPr/>
          <p:nvPr/>
        </p:nvSpPr>
        <p:spPr>
          <a:xfrm>
            <a:off x="640080" y="399592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1261872" y="3931920"/>
            <a:ext cx="10515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Step: create a GitHub Page via GitHub Actions.</a:t>
            </a:r>
            <a:endParaRPr lang="en-US" sz="1350" dirty="0"/>
          </a:p>
        </p:txBody>
      </p:sp>
      <p:sp>
        <p:nvSpPr>
          <p:cNvPr id="20" name="Shape 17"/>
          <p:cNvSpPr/>
          <p:nvPr/>
        </p:nvSpPr>
        <p:spPr>
          <a:xfrm>
            <a:off x="640080" y="4605528"/>
            <a:ext cx="438912" cy="438912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p/>
        </p:txBody>
      </p:sp>
      <p:sp>
        <p:nvSpPr>
          <p:cNvPr id="21" name="Text 18"/>
          <p:cNvSpPr/>
          <p:nvPr/>
        </p:nvSpPr>
        <p:spPr>
          <a:xfrm>
            <a:off x="640080" y="460552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2" name="Text 19"/>
          <p:cNvSpPr/>
          <p:nvPr/>
        </p:nvSpPr>
        <p:spPr>
          <a:xfrm>
            <a:off x="1261872" y="4541520"/>
            <a:ext cx="10515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Step: update the repo About section and add the GitHub Pages link.</a:t>
            </a:r>
            <a:endParaRPr lang="en-US" sz="1350" dirty="0"/>
          </a:p>
        </p:txBody>
      </p:sp>
      <p:sp>
        <p:nvSpPr>
          <p:cNvPr id="23" name="Shape 20"/>
          <p:cNvSpPr/>
          <p:nvPr/>
        </p:nvSpPr>
        <p:spPr>
          <a:xfrm>
            <a:off x="640080" y="5215128"/>
            <a:ext cx="438912" cy="438912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p/>
        </p:txBody>
      </p:sp>
      <p:sp>
        <p:nvSpPr>
          <p:cNvPr id="24" name="Text 21"/>
          <p:cNvSpPr/>
          <p:nvPr/>
        </p:nvSpPr>
        <p:spPr>
          <a:xfrm>
            <a:off x="640080" y="521512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1261872" y="5151120"/>
            <a:ext cx="10515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Step: security scan so no sensitive data is published.</a:t>
            </a:r>
            <a:endParaRPr lang="en-US" sz="1350" dirty="0"/>
          </a:p>
        </p:txBody>
      </p:sp>
      <p:sp>
        <p:nvSpPr>
          <p:cNvPr id="26" name="Shape 23"/>
          <p:cNvSpPr/>
          <p:nvPr/>
        </p:nvSpPr>
        <p:spPr>
          <a:xfrm>
            <a:off x="640080" y="5989320"/>
            <a:ext cx="10881360" cy="502920"/>
          </a:xfrm>
          <a:prstGeom prst="roundRect">
            <a:avLst>
              <a:gd name="adj" fmla="val 14545"/>
            </a:avLst>
          </a:prstGeom>
          <a:solidFill>
            <a:srgbClr val="2E2C26"/>
          </a:solidFill>
          <a:ln/>
        </p:spPr>
        <p:txBody>
          <a:bodyPr/>
          <a:p/>
        </p:txBody>
      </p:sp>
      <p:sp>
        <p:nvSpPr>
          <p:cNvPr id="27" name="Text 24"/>
          <p:cNvSpPr/>
          <p:nvPr/>
        </p:nvSpPr>
        <p:spPr>
          <a:xfrm>
            <a:off x="868680" y="598932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TIP  </a:t>
            </a:r>
            <a:pPr indent="0" marL="0">
              <a:buNone/>
            </a:pPr>
            <a:r>
              <a:rPr lang="en-US" sz="1300" i="1" dirty="0">
                <a:solidFill>
                  <a:srgbClr val="C9C4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Restart Claude Code, then run /gitpush to execute the whole workflow.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457200" y="658368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8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2 · MCP TOOLS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MCP?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Context Protocol (MCP) is an open standard that lets Claude Code connect to external tools and data sources through a common interface — like a USB-C port for AI.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2743200"/>
            <a:ext cx="2706624" cy="274320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822960" y="3017520"/>
            <a:ext cx="566928" cy="566928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3154680"/>
            <a:ext cx="292608" cy="29260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22960" y="3703320"/>
            <a:ext cx="21579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MCP Server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22960" y="4206240"/>
            <a:ext cx="2203704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Exposes tools/data (e.g. Playwright, GitHub, databases).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3374136" y="2743200"/>
            <a:ext cx="2706624" cy="274320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3648456" y="3017520"/>
            <a:ext cx="566928" cy="566928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5616" y="3154680"/>
            <a:ext cx="292608" cy="29260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648456" y="3703320"/>
            <a:ext cx="21579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MCP Client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3648456" y="4206240"/>
            <a:ext cx="2203704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connects to servers and calls their tools.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6199632" y="2743200"/>
            <a:ext cx="2706624" cy="274320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6" name="Shape 12"/>
          <p:cNvSpPr/>
          <p:nvPr/>
        </p:nvSpPr>
        <p:spPr>
          <a:xfrm>
            <a:off x="6473952" y="3017520"/>
            <a:ext cx="566928" cy="566928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1112" y="3154680"/>
            <a:ext cx="292608" cy="292608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473952" y="3703320"/>
            <a:ext cx="21579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Transport</a:t>
            </a:r>
            <a:endParaRPr lang="en-US" sz="1600" dirty="0"/>
          </a:p>
        </p:txBody>
      </p:sp>
      <p:sp>
        <p:nvSpPr>
          <p:cNvPr id="19" name="Text 14"/>
          <p:cNvSpPr/>
          <p:nvPr/>
        </p:nvSpPr>
        <p:spPr>
          <a:xfrm>
            <a:off x="6473952" y="4206240"/>
            <a:ext cx="2203704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stdio or HTTP/SSE — transport-agnostic communication.</a:t>
            </a:r>
            <a:endParaRPr lang="en-US" sz="1300" dirty="0"/>
          </a:p>
        </p:txBody>
      </p:sp>
      <p:sp>
        <p:nvSpPr>
          <p:cNvPr id="20" name="Shape 15"/>
          <p:cNvSpPr/>
          <p:nvPr/>
        </p:nvSpPr>
        <p:spPr>
          <a:xfrm>
            <a:off x="9025128" y="2743200"/>
            <a:ext cx="2706624" cy="274320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21" name="Shape 16"/>
          <p:cNvSpPr/>
          <p:nvPr/>
        </p:nvSpPr>
        <p:spPr>
          <a:xfrm>
            <a:off x="9299448" y="3017520"/>
            <a:ext cx="566928" cy="566928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36608" y="3154680"/>
            <a:ext cx="292608" cy="292608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9299448" y="3703320"/>
            <a:ext cx="21579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Tools</a:t>
            </a:r>
            <a:endParaRPr lang="en-US" sz="1600" dirty="0"/>
          </a:p>
        </p:txBody>
      </p:sp>
      <p:sp>
        <p:nvSpPr>
          <p:cNvPr id="24" name="Text 18"/>
          <p:cNvSpPr/>
          <p:nvPr/>
        </p:nvSpPr>
        <p:spPr>
          <a:xfrm>
            <a:off x="9299448" y="4206240"/>
            <a:ext cx="2203704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server publishes callable actions Claude can use.</a:t>
            </a:r>
            <a:endParaRPr lang="en-US" sz="1300" dirty="0"/>
          </a:p>
        </p:txBody>
      </p:sp>
      <p:sp>
        <p:nvSpPr>
          <p:cNvPr id="25" name="Text 19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900" dirty="0"/>
          </a:p>
        </p:txBody>
      </p:sp>
      <p:sp>
        <p:nvSpPr>
          <p:cNvPr id="26" name="Text 20"/>
          <p:cNvSpPr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Applications with Claude Code</a:t>
            </a:r>
            <a:endParaRPr lang="en-US" sz="900" dirty="0"/>
          </a:p>
        </p:txBody>
      </p:sp>
      <p:sp>
        <p:nvSpPr>
          <p:cNvPr id="27" name="Text 21"/>
          <p:cNvSpPr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9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2 · MCP TOOLS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Connect an MCP Server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828800"/>
            <a:ext cx="548640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b="1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server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mcp add — register an HTTP or local stdio server.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b="1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 scope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(this project), project (.mcp.json, shared), or user (all projects).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b="1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&amp; use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mcp list to check status; /mcp to manage in-session.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0" y="1828800"/>
            <a:ext cx="5212080" cy="3200400"/>
          </a:xfrm>
          <a:prstGeom prst="roundRect">
            <a:avLst>
              <a:gd name="adj" fmla="val 1714"/>
            </a:avLst>
          </a:prstGeom>
          <a:solidFill>
            <a:srgbClr val="1B1A1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675120" y="196596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6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terminal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675120" y="2331720"/>
            <a:ext cx="47548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A86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hosted server
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8E5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claude mcp add --transport \
   http docs &lt;url&gt;
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A86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local stdio server (project)
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8E5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claude mcp add playwright \
   -s project -- npx -y \
   @playwright/mcp@latest
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A7D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claude mcp list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48640" y="534924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TIP  </a:t>
            </a:r>
            <a:pPr indent="0" marL="0">
              <a:buNone/>
            </a:pPr>
            <a:r>
              <a:rPr lang="en-US" sz="1300" i="1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Project-scoped servers live in .mcp.json — commit it so teammates get the same tools.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Applications with Claude Code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</a:t>
            </a:r>
            <a:endParaRPr lang="en-US" sz="9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2 · MCP TOOLS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Playwright MCP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Playwright MCP server lets Claude Code drive a real browser — open pages, click, fill forms and capture screenshots — perfect for testing the website you just built.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2606040"/>
            <a:ext cx="548640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b="1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at project level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the server to your project's MCP config.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b="1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permissions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 Claude to launch and control the browser.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b="1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tools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Claude to open your site and take a screenshot.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0" y="2606040"/>
            <a:ext cx="5212080" cy="2743200"/>
          </a:xfrm>
          <a:prstGeom prst="roundRect">
            <a:avLst>
              <a:gd name="adj" fmla="val 2000"/>
            </a:avLst>
          </a:prstGeom>
          <a:solidFill>
            <a:srgbClr val="1B1A1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7432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6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terminal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675120" y="3154680"/>
            <a:ext cx="466344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A7D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$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8E5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mcp add playwright \
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8E5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npx @playwright/mcp@latest
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&gt;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8E5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my site and take a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8E5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screenshot, then add it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8E5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to the README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Applications with Claude Code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</a:t>
            </a:r>
            <a:endParaRPr lang="en-US" sz="9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2120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875520" y="4206240"/>
            <a:ext cx="3657600" cy="3657600"/>
          </a:xfrm>
          <a:prstGeom prst="ellipse">
            <a:avLst/>
          </a:prstGeom>
          <a:solidFill>
            <a:srgbClr val="D97757">
              <a:alpha val="15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48640" y="502920"/>
            <a:ext cx="2286000" cy="548640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548640" y="50292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3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188720"/>
            <a:ext cx="8686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Install &amp; Use Playwright MCP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10058400" y="640080"/>
            <a:ext cx="1188720" cy="1188720"/>
          </a:xfrm>
          <a:prstGeom prst="ellipse">
            <a:avLst/>
          </a:prstGeom>
          <a:solidFill>
            <a:srgbClr val="2E2C26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51008" y="932688"/>
            <a:ext cx="603504" cy="603504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40080" y="2167128"/>
            <a:ext cx="438912" cy="438912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640080" y="216712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261872" y="2103120"/>
            <a:ext cx="10515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the Playwright MCP tool at the project level.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640080" y="2807208"/>
            <a:ext cx="438912" cy="438912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640080" y="280720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1261872" y="2743200"/>
            <a:ext cx="10515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the browser permissions for Claude Code.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640080" y="3447288"/>
            <a:ext cx="438912" cy="438912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640080" y="344728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1261872" y="3383280"/>
            <a:ext cx="10515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Claude to open your deployed website in the browser.</a:t>
            </a:r>
            <a:endParaRPr lang="en-US" sz="1350" dirty="0"/>
          </a:p>
        </p:txBody>
      </p:sp>
      <p:sp>
        <p:nvSpPr>
          <p:cNvPr id="17" name="Shape 14"/>
          <p:cNvSpPr/>
          <p:nvPr/>
        </p:nvSpPr>
        <p:spPr>
          <a:xfrm>
            <a:off x="640080" y="4087368"/>
            <a:ext cx="438912" cy="438912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p/>
        </p:txBody>
      </p:sp>
      <p:sp>
        <p:nvSpPr>
          <p:cNvPr id="18" name="Text 15"/>
          <p:cNvSpPr/>
          <p:nvPr/>
        </p:nvSpPr>
        <p:spPr>
          <a:xfrm>
            <a:off x="640080" y="408736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1261872" y="4023360"/>
            <a:ext cx="10515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a screenshot of the site using the Playwright MCP tool.</a:t>
            </a:r>
            <a:endParaRPr lang="en-US" sz="1350" dirty="0"/>
          </a:p>
        </p:txBody>
      </p:sp>
      <p:sp>
        <p:nvSpPr>
          <p:cNvPr id="20" name="Shape 17"/>
          <p:cNvSpPr/>
          <p:nvPr/>
        </p:nvSpPr>
        <p:spPr>
          <a:xfrm>
            <a:off x="640080" y="4727448"/>
            <a:ext cx="438912" cy="438912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p/>
        </p:txBody>
      </p:sp>
      <p:sp>
        <p:nvSpPr>
          <p:cNvPr id="21" name="Text 18"/>
          <p:cNvSpPr/>
          <p:nvPr/>
        </p:nvSpPr>
        <p:spPr>
          <a:xfrm>
            <a:off x="640080" y="472744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2" name="Text 19"/>
          <p:cNvSpPr/>
          <p:nvPr/>
        </p:nvSpPr>
        <p:spPr>
          <a:xfrm>
            <a:off x="1261872" y="4663440"/>
            <a:ext cx="10515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the screenshot to your README and push to GitHub.</a:t>
            </a:r>
            <a:endParaRPr lang="en-US" sz="1350" dirty="0"/>
          </a:p>
        </p:txBody>
      </p:sp>
      <p:sp>
        <p:nvSpPr>
          <p:cNvPr id="23" name="Shape 20"/>
          <p:cNvSpPr/>
          <p:nvPr/>
        </p:nvSpPr>
        <p:spPr>
          <a:xfrm>
            <a:off x="640080" y="5989320"/>
            <a:ext cx="10881360" cy="502920"/>
          </a:xfrm>
          <a:prstGeom prst="roundRect">
            <a:avLst>
              <a:gd name="adj" fmla="val 14545"/>
            </a:avLst>
          </a:prstGeom>
          <a:solidFill>
            <a:srgbClr val="2E2C26"/>
          </a:solidFill>
          <a:ln/>
        </p:spPr>
        <p:txBody>
          <a:bodyPr/>
          <a:p/>
        </p:txBody>
      </p:sp>
      <p:sp>
        <p:nvSpPr>
          <p:cNvPr id="24" name="Text 21"/>
          <p:cNvSpPr/>
          <p:nvPr/>
        </p:nvSpPr>
        <p:spPr>
          <a:xfrm>
            <a:off x="868680" y="598932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TIP  </a:t>
            </a:r>
            <a:pPr indent="0" marL="0">
              <a:buNone/>
            </a:pPr>
            <a:r>
              <a:rPr lang="en-US" sz="1300" i="1" dirty="0">
                <a:solidFill>
                  <a:srgbClr val="C9C4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the screenshot renders correctly in your GitHub README.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457200" y="658368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8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2120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875520" y="4206240"/>
            <a:ext cx="3657600" cy="3657600"/>
          </a:xfrm>
          <a:prstGeom prst="ellipse">
            <a:avLst/>
          </a:prstGeom>
          <a:solidFill>
            <a:srgbClr val="D97757">
              <a:alpha val="15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48640" y="502920"/>
            <a:ext cx="2286000" cy="548640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548640" y="50292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3B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188720"/>
            <a:ext cx="8686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 the Enquiry Form (Playwright)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10058400" y="640080"/>
            <a:ext cx="1188720" cy="1188720"/>
          </a:xfrm>
          <a:prstGeom prst="ellipse">
            <a:avLst/>
          </a:prstGeom>
          <a:solidFill>
            <a:srgbClr val="2E2C26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51008" y="932688"/>
            <a:ext cx="603504" cy="603504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40080" y="2167128"/>
            <a:ext cx="438912" cy="438912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640080" y="216712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261872" y="2103120"/>
            <a:ext cx="10515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 the enquiry form to send submissions to angch@tertiaryinfotech.com (e.g. Formspree or a fetch to your endpoint).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640080" y="2807208"/>
            <a:ext cx="438912" cy="438912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640080" y="280720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1261872" y="2743200"/>
            <a:ext cx="10515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Claude to use the Playwright MCP tool to open your deployed site.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640080" y="3447288"/>
            <a:ext cx="438912" cy="438912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640080" y="344728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1261872" y="3383280"/>
            <a:ext cx="10515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 the form with test data (name, email, message) and submit it.</a:t>
            </a:r>
            <a:endParaRPr lang="en-US" sz="1350" dirty="0"/>
          </a:p>
        </p:txBody>
      </p:sp>
      <p:sp>
        <p:nvSpPr>
          <p:cNvPr id="17" name="Shape 14"/>
          <p:cNvSpPr/>
          <p:nvPr/>
        </p:nvSpPr>
        <p:spPr>
          <a:xfrm>
            <a:off x="640080" y="4087368"/>
            <a:ext cx="438912" cy="438912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p/>
        </p:txBody>
      </p:sp>
      <p:sp>
        <p:nvSpPr>
          <p:cNvPr id="18" name="Text 15"/>
          <p:cNvSpPr/>
          <p:nvPr/>
        </p:nvSpPr>
        <p:spPr>
          <a:xfrm>
            <a:off x="640080" y="408736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1261872" y="4023360"/>
            <a:ext cx="10515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the success message appears and the data is captured in the console.</a:t>
            </a:r>
            <a:endParaRPr lang="en-US" sz="1350" dirty="0"/>
          </a:p>
        </p:txBody>
      </p:sp>
      <p:sp>
        <p:nvSpPr>
          <p:cNvPr id="20" name="Shape 17"/>
          <p:cNvSpPr/>
          <p:nvPr/>
        </p:nvSpPr>
        <p:spPr>
          <a:xfrm>
            <a:off x="640080" y="4727448"/>
            <a:ext cx="438912" cy="438912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p/>
        </p:txBody>
      </p:sp>
      <p:sp>
        <p:nvSpPr>
          <p:cNvPr id="21" name="Text 18"/>
          <p:cNvSpPr/>
          <p:nvPr/>
        </p:nvSpPr>
        <p:spPr>
          <a:xfrm>
            <a:off x="640080" y="472744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2" name="Text 19"/>
          <p:cNvSpPr/>
          <p:nvPr/>
        </p:nvSpPr>
        <p:spPr>
          <a:xfrm>
            <a:off x="1261872" y="4663440"/>
            <a:ext cx="10515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that the enquiry email actually arrives in the inbox.</a:t>
            </a:r>
            <a:endParaRPr lang="en-US" sz="1350" dirty="0"/>
          </a:p>
        </p:txBody>
      </p:sp>
      <p:sp>
        <p:nvSpPr>
          <p:cNvPr id="23" name="Shape 20"/>
          <p:cNvSpPr/>
          <p:nvPr/>
        </p:nvSpPr>
        <p:spPr>
          <a:xfrm>
            <a:off x="640080" y="5989320"/>
            <a:ext cx="10881360" cy="502920"/>
          </a:xfrm>
          <a:prstGeom prst="roundRect">
            <a:avLst>
              <a:gd name="adj" fmla="val 14545"/>
            </a:avLst>
          </a:prstGeom>
          <a:solidFill>
            <a:srgbClr val="2E2C26"/>
          </a:solidFill>
          <a:ln/>
        </p:spPr>
        <p:txBody>
          <a:bodyPr/>
          <a:p/>
        </p:txBody>
      </p:sp>
      <p:sp>
        <p:nvSpPr>
          <p:cNvPr id="24" name="Text 21"/>
          <p:cNvSpPr/>
          <p:nvPr/>
        </p:nvSpPr>
        <p:spPr>
          <a:xfrm>
            <a:off x="868680" y="598932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TIP  </a:t>
            </a:r>
            <a:pPr indent="0" marL="0">
              <a:buNone/>
            </a:pPr>
            <a:r>
              <a:rPr lang="en-US" sz="1300" i="1" dirty="0">
                <a:solidFill>
                  <a:srgbClr val="C9C4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Re-run after each change so every enquiry reliably reaches your email.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457200" y="658368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8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2120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280160" y="3657600"/>
            <a:ext cx="4572000" cy="4572000"/>
          </a:xfrm>
          <a:prstGeom prst="ellipse">
            <a:avLst/>
          </a:prstGeom>
          <a:solidFill>
            <a:srgbClr val="D97757">
              <a:alpha val="14000"/>
            </a:srgbClr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822960" y="201168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4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3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77240" y="2514600"/>
            <a:ext cx="76809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Skills, Agents &amp; Hooks</a:t>
            </a:r>
            <a:endParaRPr lang="en-US" sz="4200" dirty="0"/>
          </a:p>
        </p:txBody>
      </p:sp>
      <p:sp>
        <p:nvSpPr>
          <p:cNvPr id="5" name="Shape 3"/>
          <p:cNvSpPr/>
          <p:nvPr/>
        </p:nvSpPr>
        <p:spPr>
          <a:xfrm>
            <a:off x="8321040" y="1463040"/>
            <a:ext cx="3200400" cy="2724912"/>
          </a:xfrm>
          <a:prstGeom prst="roundRect">
            <a:avLst>
              <a:gd name="adj" fmla="val 3356"/>
            </a:avLst>
          </a:prstGeom>
          <a:solidFill>
            <a:srgbClr val="2E2C26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549640" y="1755648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77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052560" y="173736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Skills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549640" y="2322576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77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052560" y="2304288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 Agents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549640" y="2889504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77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9052560" y="2871216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549640" y="3456432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77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052560" y="3438144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Concepts Summary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6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9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3 · AGENT SKILLS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 Skills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 are reusable folders of instructions (SKILL.md) plus optional scripts and resources that teach Claude how to do a specialised task. Claude loads a skill only when it's relevant.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2743200"/>
            <a:ext cx="2706624" cy="274320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822960" y="3017520"/>
            <a:ext cx="566928" cy="566928"/>
          </a:xfrm>
          <a:prstGeom prst="ellipse">
            <a:avLst/>
          </a:prstGeom>
          <a:solidFill>
            <a:srgbClr val="3A7D7B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3154680"/>
            <a:ext cx="292608" cy="29260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22960" y="3703320"/>
            <a:ext cx="21579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SKILL.md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22960" y="4206240"/>
            <a:ext cx="2203704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+ description + instructions Claude follows on demand.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3374136" y="2743200"/>
            <a:ext cx="2706624" cy="274320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3648456" y="3017520"/>
            <a:ext cx="566928" cy="566928"/>
          </a:xfrm>
          <a:prstGeom prst="ellipse">
            <a:avLst/>
          </a:prstGeom>
          <a:solidFill>
            <a:srgbClr val="3A7D7B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5616" y="3154680"/>
            <a:ext cx="292608" cy="29260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648456" y="3703320"/>
            <a:ext cx="21579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 skills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3648456" y="4206240"/>
            <a:ext cx="2203704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.claude/skills/ — shared with your repo &amp; team.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6199632" y="2743200"/>
            <a:ext cx="2706624" cy="274320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6" name="Shape 12"/>
          <p:cNvSpPr/>
          <p:nvPr/>
        </p:nvSpPr>
        <p:spPr>
          <a:xfrm>
            <a:off x="6473952" y="3017520"/>
            <a:ext cx="566928" cy="566928"/>
          </a:xfrm>
          <a:prstGeom prst="ellipse">
            <a:avLst/>
          </a:prstGeom>
          <a:solidFill>
            <a:srgbClr val="3A7D7B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1112" y="3154680"/>
            <a:ext cx="292608" cy="292608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473952" y="3703320"/>
            <a:ext cx="21579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Install</a:t>
            </a:r>
            <a:endParaRPr lang="en-US" sz="1600" dirty="0"/>
          </a:p>
        </p:txBody>
      </p:sp>
      <p:sp>
        <p:nvSpPr>
          <p:cNvPr id="19" name="Text 14"/>
          <p:cNvSpPr/>
          <p:nvPr/>
        </p:nvSpPr>
        <p:spPr>
          <a:xfrm>
            <a:off x="6473952" y="4206240"/>
            <a:ext cx="2203704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npx skills add &lt;repo&gt; --skill &lt;name&gt;.</a:t>
            </a:r>
            <a:endParaRPr lang="en-US" sz="1300" dirty="0"/>
          </a:p>
        </p:txBody>
      </p:sp>
      <p:sp>
        <p:nvSpPr>
          <p:cNvPr id="20" name="Shape 15"/>
          <p:cNvSpPr/>
          <p:nvPr/>
        </p:nvSpPr>
        <p:spPr>
          <a:xfrm>
            <a:off x="9025128" y="2743200"/>
            <a:ext cx="2706624" cy="274320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21" name="Shape 16"/>
          <p:cNvSpPr/>
          <p:nvPr/>
        </p:nvSpPr>
        <p:spPr>
          <a:xfrm>
            <a:off x="9299448" y="3017520"/>
            <a:ext cx="566928" cy="566928"/>
          </a:xfrm>
          <a:prstGeom prst="ellipse">
            <a:avLst/>
          </a:prstGeom>
          <a:solidFill>
            <a:srgbClr val="3A7D7B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36608" y="3154680"/>
            <a:ext cx="292608" cy="292608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9299448" y="3703320"/>
            <a:ext cx="21579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Customise</a:t>
            </a:r>
            <a:endParaRPr lang="en-US" sz="1600" dirty="0"/>
          </a:p>
        </p:txBody>
      </p:sp>
      <p:sp>
        <p:nvSpPr>
          <p:cNvPr id="24" name="Text 18"/>
          <p:cNvSpPr/>
          <p:nvPr/>
        </p:nvSpPr>
        <p:spPr>
          <a:xfrm>
            <a:off x="9299448" y="4206240"/>
            <a:ext cx="2203704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the skill to fit your project's needs.</a:t>
            </a:r>
            <a:endParaRPr lang="en-US" sz="1300" dirty="0"/>
          </a:p>
        </p:txBody>
      </p:sp>
      <p:sp>
        <p:nvSpPr>
          <p:cNvPr id="25" name="Text 19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900" dirty="0"/>
          </a:p>
        </p:txBody>
      </p:sp>
      <p:sp>
        <p:nvSpPr>
          <p:cNvPr id="26" name="Text 20"/>
          <p:cNvSpPr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Applications with Claude Code</a:t>
            </a:r>
            <a:endParaRPr lang="en-US" sz="900" dirty="0"/>
          </a:p>
        </p:txBody>
      </p:sp>
      <p:sp>
        <p:nvSpPr>
          <p:cNvPr id="27" name="Text 21"/>
          <p:cNvSpPr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</a:t>
            </a:r>
            <a:endParaRPr lang="en-US" sz="9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3 · AGENT SKILLS</a:t>
            </a:r>
          </a:p>
        </p:txBody>
      </p:sp>
      <p:sp>
        <p:nvSpPr>
          <p:cNvPr id="4" name="Text 4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SKILL.md vs CLAUDE.md</a:t>
            </a:r>
          </a:p>
        </p:txBody>
      </p:sp>
      <p:sp>
        <p:nvSpPr>
          <p:cNvPr id="5" name="Text 5"/>
          <p:cNvSpPr/>
          <p:nvPr/>
        </p:nvSpPr>
        <p:spPr>
          <a:xfrm>
            <a:off x="548640" y="169164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are Markdown instruction files — the difference is WHEN Claude loads them.</a:t>
            </a:r>
          </a:p>
        </p:txBody>
      </p:sp>
      <p:sp>
        <p:nvSpPr>
          <p:cNvPr id="6" name="Shape 6"/>
          <p:cNvSpPr/>
          <p:nvPr/>
        </p:nvSpPr>
        <p:spPr>
          <a:xfrm>
            <a:off x="548640" y="2468880"/>
            <a:ext cx="5425440" cy="2926080"/>
          </a:xfrm>
          <a:prstGeom prst="roundRect">
            <a:avLst>
              <a:gd name="adj" fmla="val 353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7" name="Shape 7"/>
          <p:cNvSpPr/>
          <p:nvPr/>
        </p:nvSpPr>
        <p:spPr>
          <a:xfrm>
            <a:off x="777240" y="2697480"/>
            <a:ext cx="1005840" cy="91440"/>
          </a:xfrm>
          <a:prstGeom prst="roundRect">
            <a:avLst>
              <a:gd name="adj" fmla="val 50000"/>
            </a:avLst>
          </a:prstGeom>
          <a:solidFill>
            <a:srgbClr val="3A7D7B"/>
          </a:solidFill>
          <a:ln/>
        </p:spPr>
        <p:txBody>
          <a:bodyPr/>
          <a:p/>
        </p:txBody>
      </p:sp>
      <p:sp>
        <p:nvSpPr>
          <p:cNvPr id="8" name="Text 8"/>
          <p:cNvSpPr/>
          <p:nvPr/>
        </p:nvSpPr>
        <p:spPr>
          <a:xfrm>
            <a:off x="777240" y="283464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SKILL.md</a:t>
            </a:r>
          </a:p>
        </p:txBody>
      </p:sp>
      <p:sp>
        <p:nvSpPr>
          <p:cNvPr id="9" name="Shape 9"/>
          <p:cNvSpPr/>
          <p:nvPr/>
        </p:nvSpPr>
        <p:spPr>
          <a:xfrm>
            <a:off x="777240" y="3337560"/>
            <a:ext cx="2377440" cy="320040"/>
          </a:xfrm>
          <a:prstGeom prst="roundRect">
            <a:avLst>
              <a:gd name="adj" fmla="val 50000"/>
            </a:avLst>
          </a:prstGeom>
          <a:solidFill>
            <a:srgbClr val="3A7D7B"/>
          </a:solidFill>
          <a:ln/>
        </p:spPr>
        <p:txBody>
          <a:bodyPr/>
          <a:p/>
        </p:txBody>
      </p:sp>
      <p:sp>
        <p:nvSpPr>
          <p:cNvPr id="10" name="Text 10"/>
          <p:cNvSpPr/>
          <p:nvPr/>
        </p:nvSpPr>
        <p:spPr>
          <a:xfrm>
            <a:off x="777240" y="333756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Loaded ON DEMAND</a:t>
            </a:r>
          </a:p>
        </p:txBody>
      </p:sp>
      <p:sp>
        <p:nvSpPr>
          <p:cNvPr id="11" name="Shape 11"/>
          <p:cNvSpPr/>
          <p:nvPr/>
        </p:nvSpPr>
        <p:spPr>
          <a:xfrm>
            <a:off x="822960" y="3931920"/>
            <a:ext cx="91440" cy="91440"/>
          </a:xfrm>
          <a:prstGeom prst="ellipse">
            <a:avLst/>
          </a:prstGeom>
          <a:solidFill>
            <a:srgbClr val="3A7D7B"/>
          </a:solidFill>
          <a:ln/>
        </p:spPr>
        <p:txBody>
          <a:bodyPr/>
          <a:p/>
        </p:txBody>
      </p:sp>
      <p:sp>
        <p:nvSpPr>
          <p:cNvPr id="12" name="Text 12"/>
          <p:cNvSpPr/>
          <p:nvPr/>
        </p:nvSpPr>
        <p:spPr>
          <a:xfrm>
            <a:off x="1015365" y="3749040"/>
            <a:ext cx="1005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</a:t>
            </a:r>
          </a:p>
        </p:txBody>
      </p:sp>
      <p:sp>
        <p:nvSpPr>
          <p:cNvPr id="13" name="Text 13"/>
          <p:cNvSpPr/>
          <p:nvPr/>
        </p:nvSpPr>
        <p:spPr>
          <a:xfrm>
            <a:off x="2057400" y="3749040"/>
            <a:ext cx="3642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reads the name + description, and loads it only when the task matches.</a:t>
            </a:r>
          </a:p>
        </p:txBody>
      </p:sp>
      <p:sp>
        <p:nvSpPr>
          <p:cNvPr id="14" name="Shape 14"/>
          <p:cNvSpPr/>
          <p:nvPr/>
        </p:nvSpPr>
        <p:spPr>
          <a:xfrm>
            <a:off x="822960" y="4331970"/>
            <a:ext cx="91440" cy="91440"/>
          </a:xfrm>
          <a:prstGeom prst="ellipse">
            <a:avLst/>
          </a:prstGeom>
          <a:solidFill>
            <a:srgbClr val="3A7D7B"/>
          </a:solidFill>
          <a:ln/>
        </p:spPr>
        <p:txBody>
          <a:bodyPr/>
          <a:p/>
        </p:txBody>
      </p:sp>
      <p:sp>
        <p:nvSpPr>
          <p:cNvPr id="15" name="Text 15"/>
          <p:cNvSpPr/>
          <p:nvPr/>
        </p:nvSpPr>
        <p:spPr>
          <a:xfrm>
            <a:off x="1015365" y="4149090"/>
            <a:ext cx="1005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</a:t>
            </a:r>
          </a:p>
        </p:txBody>
      </p:sp>
      <p:sp>
        <p:nvSpPr>
          <p:cNvPr id="16" name="Text 16"/>
          <p:cNvSpPr/>
          <p:nvPr/>
        </p:nvSpPr>
        <p:spPr>
          <a:xfrm>
            <a:off x="2057400" y="4149090"/>
            <a:ext cx="3642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specialised capability — a workflow, a format, a house standard.</a:t>
            </a:r>
          </a:p>
        </p:txBody>
      </p:sp>
      <p:sp>
        <p:nvSpPr>
          <p:cNvPr id="17" name="Shape 17"/>
          <p:cNvSpPr/>
          <p:nvPr/>
        </p:nvSpPr>
        <p:spPr>
          <a:xfrm>
            <a:off x="822960" y="4732020"/>
            <a:ext cx="91440" cy="91440"/>
          </a:xfrm>
          <a:prstGeom prst="ellipse">
            <a:avLst/>
          </a:prstGeom>
          <a:solidFill>
            <a:srgbClr val="3A7D7B"/>
          </a:solidFill>
          <a:ln/>
        </p:spPr>
        <p:txBody>
          <a:bodyPr/>
          <a:p/>
        </p:txBody>
      </p:sp>
      <p:sp>
        <p:nvSpPr>
          <p:cNvPr id="18" name="Text 18"/>
          <p:cNvSpPr/>
          <p:nvPr/>
        </p:nvSpPr>
        <p:spPr>
          <a:xfrm>
            <a:off x="1015365" y="4549140"/>
            <a:ext cx="1005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</a:t>
            </a:r>
          </a:p>
        </p:txBody>
      </p:sp>
      <p:sp>
        <p:nvSpPr>
          <p:cNvPr id="19" name="Text 19"/>
          <p:cNvSpPr/>
          <p:nvPr/>
        </p:nvSpPr>
        <p:spPr>
          <a:xfrm>
            <a:off x="2057400" y="4549140"/>
            <a:ext cx="3642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Costs no context until it fires; you can keep dozens installed.</a:t>
            </a:r>
          </a:p>
        </p:txBody>
      </p:sp>
      <p:sp>
        <p:nvSpPr>
          <p:cNvPr id="20" name="Shape 20"/>
          <p:cNvSpPr/>
          <p:nvPr/>
        </p:nvSpPr>
        <p:spPr>
          <a:xfrm>
            <a:off x="822960" y="5132070"/>
            <a:ext cx="91440" cy="91440"/>
          </a:xfrm>
          <a:prstGeom prst="ellipse">
            <a:avLst/>
          </a:prstGeom>
          <a:solidFill>
            <a:srgbClr val="3A7D7B"/>
          </a:solidFill>
          <a:ln/>
        </p:spPr>
        <p:txBody>
          <a:bodyPr/>
          <a:p/>
        </p:txBody>
      </p:sp>
      <p:sp>
        <p:nvSpPr>
          <p:cNvPr id="21" name="Text 21"/>
          <p:cNvSpPr/>
          <p:nvPr/>
        </p:nvSpPr>
        <p:spPr>
          <a:xfrm>
            <a:off x="1015365" y="4949190"/>
            <a:ext cx="1005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Lives in</a:t>
            </a:r>
          </a:p>
        </p:txBody>
      </p:sp>
      <p:sp>
        <p:nvSpPr>
          <p:cNvPr id="22" name="Text 22"/>
          <p:cNvSpPr/>
          <p:nvPr/>
        </p:nvSpPr>
        <p:spPr>
          <a:xfrm>
            <a:off x="2057400" y="4949190"/>
            <a:ext cx="3642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.claude/skills/&lt;name&gt;/SKILL.md</a:t>
            </a:r>
          </a:p>
        </p:txBody>
      </p:sp>
      <p:sp>
        <p:nvSpPr>
          <p:cNvPr id="23" name="Shape 23"/>
          <p:cNvSpPr/>
          <p:nvPr/>
        </p:nvSpPr>
        <p:spPr>
          <a:xfrm>
            <a:off x="6217920" y="2468880"/>
            <a:ext cx="5425440" cy="2926080"/>
          </a:xfrm>
          <a:prstGeom prst="roundRect">
            <a:avLst>
              <a:gd name="adj" fmla="val 353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24" name="Shape 24"/>
          <p:cNvSpPr/>
          <p:nvPr/>
        </p:nvSpPr>
        <p:spPr>
          <a:xfrm>
            <a:off x="6446520" y="2697480"/>
            <a:ext cx="1005840" cy="91440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/>
        </p:spPr>
        <p:txBody>
          <a:bodyPr/>
          <a:p/>
        </p:txBody>
      </p:sp>
      <p:sp>
        <p:nvSpPr>
          <p:cNvPr id="25" name="Text 25"/>
          <p:cNvSpPr/>
          <p:nvPr/>
        </p:nvSpPr>
        <p:spPr>
          <a:xfrm>
            <a:off x="6446520" y="283464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CLAUDE.md</a:t>
            </a:r>
          </a:p>
        </p:txBody>
      </p:sp>
      <p:sp>
        <p:nvSpPr>
          <p:cNvPr id="26" name="Shape 26"/>
          <p:cNvSpPr/>
          <p:nvPr/>
        </p:nvSpPr>
        <p:spPr>
          <a:xfrm>
            <a:off x="6446520" y="3337560"/>
            <a:ext cx="2377440" cy="320040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/>
        </p:spPr>
        <p:txBody>
          <a:bodyPr/>
          <a:p/>
        </p:txBody>
      </p:sp>
      <p:sp>
        <p:nvSpPr>
          <p:cNvPr id="27" name="Text 27"/>
          <p:cNvSpPr/>
          <p:nvPr/>
        </p:nvSpPr>
        <p:spPr>
          <a:xfrm>
            <a:off x="6446520" y="333756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Loaded EVERY SESSION</a:t>
            </a:r>
          </a:p>
        </p:txBody>
      </p:sp>
      <p:sp>
        <p:nvSpPr>
          <p:cNvPr id="28" name="Shape 28"/>
          <p:cNvSpPr/>
          <p:nvPr/>
        </p:nvSpPr>
        <p:spPr>
          <a:xfrm>
            <a:off x="6492240" y="3931920"/>
            <a:ext cx="91440" cy="9144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p/>
        </p:txBody>
      </p:sp>
      <p:sp>
        <p:nvSpPr>
          <p:cNvPr id="29" name="Text 29"/>
          <p:cNvSpPr/>
          <p:nvPr/>
        </p:nvSpPr>
        <p:spPr>
          <a:xfrm>
            <a:off x="6684645" y="3749040"/>
            <a:ext cx="1005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</a:t>
            </a:r>
          </a:p>
        </p:txBody>
      </p:sp>
      <p:sp>
        <p:nvSpPr>
          <p:cNvPr id="30" name="Text 30"/>
          <p:cNvSpPr/>
          <p:nvPr/>
        </p:nvSpPr>
        <p:spPr>
          <a:xfrm>
            <a:off x="7726680" y="3749040"/>
            <a:ext cx="3642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automatically at the start of every session — always in context.</a:t>
            </a:r>
          </a:p>
        </p:txBody>
      </p:sp>
      <p:sp>
        <p:nvSpPr>
          <p:cNvPr id="31" name="Shape 31"/>
          <p:cNvSpPr/>
          <p:nvPr/>
        </p:nvSpPr>
        <p:spPr>
          <a:xfrm>
            <a:off x="6492240" y="4331970"/>
            <a:ext cx="91440" cy="9144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p/>
        </p:txBody>
      </p:sp>
      <p:sp>
        <p:nvSpPr>
          <p:cNvPr id="32" name="Text 32"/>
          <p:cNvSpPr/>
          <p:nvPr/>
        </p:nvSpPr>
        <p:spPr>
          <a:xfrm>
            <a:off x="6684645" y="4149090"/>
            <a:ext cx="1005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</a:t>
            </a:r>
          </a:p>
        </p:txBody>
      </p:sp>
      <p:sp>
        <p:nvSpPr>
          <p:cNvPr id="33" name="Text 33"/>
          <p:cNvSpPr/>
          <p:nvPr/>
        </p:nvSpPr>
        <p:spPr>
          <a:xfrm>
            <a:off x="7726680" y="4149090"/>
            <a:ext cx="3642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Project-wide facts: stack, conventions, commands, do-nots.</a:t>
            </a:r>
          </a:p>
        </p:txBody>
      </p:sp>
      <p:sp>
        <p:nvSpPr>
          <p:cNvPr id="34" name="Shape 34"/>
          <p:cNvSpPr/>
          <p:nvPr/>
        </p:nvSpPr>
        <p:spPr>
          <a:xfrm>
            <a:off x="6492240" y="4732020"/>
            <a:ext cx="91440" cy="9144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p/>
        </p:txBody>
      </p:sp>
      <p:sp>
        <p:nvSpPr>
          <p:cNvPr id="35" name="Text 35"/>
          <p:cNvSpPr/>
          <p:nvPr/>
        </p:nvSpPr>
        <p:spPr>
          <a:xfrm>
            <a:off x="6684645" y="4549140"/>
            <a:ext cx="1005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</a:t>
            </a:r>
          </a:p>
        </p:txBody>
      </p:sp>
      <p:sp>
        <p:nvSpPr>
          <p:cNvPr id="36" name="Text 36"/>
          <p:cNvSpPr/>
          <p:nvPr/>
        </p:nvSpPr>
        <p:spPr>
          <a:xfrm>
            <a:off x="7726680" y="4549140"/>
            <a:ext cx="3642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Spends context on every turn, so keep it tight and high-value.</a:t>
            </a:r>
          </a:p>
        </p:txBody>
      </p:sp>
      <p:sp>
        <p:nvSpPr>
          <p:cNvPr id="37" name="Shape 37"/>
          <p:cNvSpPr/>
          <p:nvPr/>
        </p:nvSpPr>
        <p:spPr>
          <a:xfrm>
            <a:off x="6492240" y="5132070"/>
            <a:ext cx="91440" cy="9144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p/>
        </p:txBody>
      </p:sp>
      <p:sp>
        <p:nvSpPr>
          <p:cNvPr id="38" name="Text 38"/>
          <p:cNvSpPr/>
          <p:nvPr/>
        </p:nvSpPr>
        <p:spPr>
          <a:xfrm>
            <a:off x="6684645" y="4949190"/>
            <a:ext cx="1005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Lives in</a:t>
            </a:r>
          </a:p>
        </p:txBody>
      </p:sp>
      <p:sp>
        <p:nvSpPr>
          <p:cNvPr id="39" name="Text 39"/>
          <p:cNvSpPr/>
          <p:nvPr/>
        </p:nvSpPr>
        <p:spPr>
          <a:xfrm>
            <a:off x="7726680" y="4949190"/>
            <a:ext cx="3642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CLAUDE.md at the project root (or ~/.claude/CLAUDE.md)</a:t>
            </a:r>
          </a:p>
        </p:txBody>
      </p:sp>
      <p:sp>
        <p:nvSpPr>
          <p:cNvPr id="40" name="Text 40"/>
          <p:cNvSpPr/>
          <p:nvPr/>
        </p:nvSpPr>
        <p:spPr>
          <a:xfrm>
            <a:off x="548640" y="563880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TIP  </a:t>
            </a:r>
            <a:r>
              <a:rPr lang="en-US" sz="1200" i="1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stable project facts in CLAUDE.md; put specialised, occasional procedures in a skill.</a:t>
            </a:r>
          </a:p>
        </p:txBody>
      </p:sp>
      <p:sp>
        <p:nvSpPr>
          <p:cNvPr id="41" name="Text 41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</a:p>
        </p:txBody>
      </p:sp>
      <p:sp>
        <p:nvSpPr>
          <p:cNvPr id="42" name="Text 42"/>
          <p:cNvSpPr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Applications with Claude Code</a:t>
            </a:r>
          </a:p>
        </p:txBody>
      </p:sp>
      <p:sp>
        <p:nvSpPr>
          <p:cNvPr id="43" name="Text 43"/>
          <p:cNvSpPr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2120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875520" y="4206240"/>
            <a:ext cx="3657600" cy="3657600"/>
          </a:xfrm>
          <a:prstGeom prst="ellipse">
            <a:avLst/>
          </a:prstGeom>
          <a:solidFill>
            <a:srgbClr val="D97757">
              <a:alpha val="15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48640" y="502920"/>
            <a:ext cx="2286000" cy="548640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548640" y="50292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4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188720"/>
            <a:ext cx="8686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Install &amp; Run Skills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10058400" y="640080"/>
            <a:ext cx="1188720" cy="1188720"/>
          </a:xfrm>
          <a:prstGeom prst="ellipse">
            <a:avLst/>
          </a:prstGeom>
          <a:solidFill>
            <a:srgbClr val="2E2C26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51008" y="932688"/>
            <a:ext cx="603504" cy="603504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40080" y="2167128"/>
            <a:ext cx="438912" cy="438912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640080" y="216712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261872" y="2103120"/>
            <a:ext cx="10515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frontend-design: npx skills add https://github.com/anthropics/skills --skill frontend-design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640080" y="2807208"/>
            <a:ext cx="438912" cy="438912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640080" y="280720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1261872" y="2743200"/>
            <a:ext cx="10515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Customise the frontend design to appeal to software-dev clients.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640080" y="3447288"/>
            <a:ext cx="438912" cy="438912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640080" y="344728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1261872" y="3383280"/>
            <a:ext cx="10515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seo-audit: npx skills add https://github.com/coreyhaines31/marketingskills --skill seo-audit</a:t>
            </a:r>
            <a:endParaRPr lang="en-US" sz="1350" dirty="0"/>
          </a:p>
        </p:txBody>
      </p:sp>
      <p:sp>
        <p:nvSpPr>
          <p:cNvPr id="17" name="Shape 14"/>
          <p:cNvSpPr/>
          <p:nvPr/>
        </p:nvSpPr>
        <p:spPr>
          <a:xfrm>
            <a:off x="640080" y="4087368"/>
            <a:ext cx="438912" cy="438912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p/>
        </p:txBody>
      </p:sp>
      <p:sp>
        <p:nvSpPr>
          <p:cNvPr id="18" name="Text 15"/>
          <p:cNvSpPr/>
          <p:nvPr/>
        </p:nvSpPr>
        <p:spPr>
          <a:xfrm>
            <a:off x="640080" y="408736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1261872" y="4023360"/>
            <a:ext cx="10515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seo-audit skill to optimise the website's SEO.</a:t>
            </a:r>
            <a:endParaRPr lang="en-US" sz="1350" dirty="0"/>
          </a:p>
        </p:txBody>
      </p:sp>
      <p:sp>
        <p:nvSpPr>
          <p:cNvPr id="20" name="Shape 17"/>
          <p:cNvSpPr/>
          <p:nvPr/>
        </p:nvSpPr>
        <p:spPr>
          <a:xfrm>
            <a:off x="640080" y="4727448"/>
            <a:ext cx="438912" cy="438912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p/>
        </p:txBody>
      </p:sp>
      <p:sp>
        <p:nvSpPr>
          <p:cNvPr id="21" name="Text 18"/>
          <p:cNvSpPr/>
          <p:nvPr/>
        </p:nvSpPr>
        <p:spPr>
          <a:xfrm>
            <a:off x="640080" y="472744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2" name="Text 19"/>
          <p:cNvSpPr/>
          <p:nvPr/>
        </p:nvSpPr>
        <p:spPr>
          <a:xfrm>
            <a:off x="1261872" y="4663440"/>
            <a:ext cx="10515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the improvements and push to GitHub.</a:t>
            </a:r>
            <a:endParaRPr lang="en-US" sz="1350" dirty="0"/>
          </a:p>
        </p:txBody>
      </p:sp>
      <p:sp>
        <p:nvSpPr>
          <p:cNvPr id="23" name="Shape 20"/>
          <p:cNvSpPr/>
          <p:nvPr/>
        </p:nvSpPr>
        <p:spPr>
          <a:xfrm>
            <a:off x="640080" y="5989320"/>
            <a:ext cx="10881360" cy="502920"/>
          </a:xfrm>
          <a:prstGeom prst="roundRect">
            <a:avLst>
              <a:gd name="adj" fmla="val 14545"/>
            </a:avLst>
          </a:prstGeom>
          <a:solidFill>
            <a:srgbClr val="2E2C26"/>
          </a:solidFill>
          <a:ln/>
        </p:spPr>
        <p:txBody>
          <a:bodyPr/>
          <a:p/>
        </p:txBody>
      </p:sp>
      <p:sp>
        <p:nvSpPr>
          <p:cNvPr id="24" name="Text 21"/>
          <p:cNvSpPr/>
          <p:nvPr/>
        </p:nvSpPr>
        <p:spPr>
          <a:xfrm>
            <a:off x="868680" y="598932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TIP  </a:t>
            </a:r>
            <a:pPr indent="0" marL="0">
              <a:buNone/>
            </a:pPr>
            <a:r>
              <a:rPr lang="en-US" sz="1300" i="1" dirty="0">
                <a:solidFill>
                  <a:srgbClr val="C9C4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skills install into .claude/skills/ at the project level.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457200" y="658368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8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3 · SUB AGENTS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Sub Agents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 agents are specialised assistants with their own prompt, tools and context window. Delegate focused jobs — like security review or UX critique — to keep the main thread clean.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2606040"/>
            <a:ext cx="548640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b="1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with /agents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Project to save under .claude/agents/.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b="1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it a clear role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purpose, tools and when to invoke it.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b="1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Isolated context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sub agent runs in its own context window.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0" y="2606040"/>
            <a:ext cx="5212080" cy="2743200"/>
          </a:xfrm>
          <a:prstGeom prst="roundRect">
            <a:avLst>
              <a:gd name="adj" fmla="val 2000"/>
            </a:avLst>
          </a:prstGeom>
          <a:solidFill>
            <a:srgbClr val="1B1A1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7432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6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.claude/agents/security-scan.md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675120" y="3154680"/>
            <a:ext cx="466344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A86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
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A7D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name: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8E5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security-scan
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A7D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description: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8E5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Scan for vulns
  &amp; hardening
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A86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
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You are a security reviewer...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Applications with Claude Code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</a:t>
            </a:r>
            <a:endParaRPr lang="en-US" sz="9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3 · SUB AGENTS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Use Sub Agents?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 for a sub agent when a side task would flood your main conversation with output you won't reference again.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377440"/>
            <a:ext cx="2635758" cy="2743200"/>
          </a:xfrm>
          <a:prstGeom prst="roundRect">
            <a:avLst>
              <a:gd name="adj" fmla="val 277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822960" y="2651760"/>
            <a:ext cx="566928" cy="566928"/>
          </a:xfrm>
          <a:prstGeom prst="ellipse">
            <a:avLst/>
          </a:prstGeom>
          <a:solidFill>
            <a:srgbClr val="3A7D7B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788920"/>
            <a:ext cx="292608" cy="29260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22960" y="3337560"/>
            <a:ext cx="213283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Preserve context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22960" y="3822192"/>
            <a:ext cx="2178558" cy="12070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Exploration &amp; logs stay in the agent's own window — only the summary returns.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3367278" y="2377440"/>
            <a:ext cx="2635758" cy="2743200"/>
          </a:xfrm>
          <a:prstGeom prst="roundRect">
            <a:avLst>
              <a:gd name="adj" fmla="val 277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3641598" y="2651760"/>
            <a:ext cx="566928" cy="566928"/>
          </a:xfrm>
          <a:prstGeom prst="ellipse">
            <a:avLst/>
          </a:prstGeom>
          <a:solidFill>
            <a:srgbClr val="3A7D7B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8758" y="2788920"/>
            <a:ext cx="292608" cy="29260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641598" y="3337560"/>
            <a:ext cx="213283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Enforce constraints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3641598" y="3822192"/>
            <a:ext cx="2178558" cy="12070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 exactly which tools the sub agent is allowed to use.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6185916" y="2377440"/>
            <a:ext cx="2635758" cy="2743200"/>
          </a:xfrm>
          <a:prstGeom prst="roundRect">
            <a:avLst>
              <a:gd name="adj" fmla="val 277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6" name="Shape 12"/>
          <p:cNvSpPr/>
          <p:nvPr/>
        </p:nvSpPr>
        <p:spPr>
          <a:xfrm>
            <a:off x="6460236" y="2651760"/>
            <a:ext cx="566928" cy="566928"/>
          </a:xfrm>
          <a:prstGeom prst="ellipse">
            <a:avLst/>
          </a:prstGeom>
          <a:solidFill>
            <a:srgbClr val="3A7D7B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7396" y="2788920"/>
            <a:ext cx="292608" cy="292608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460236" y="3337560"/>
            <a:ext cx="213283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Reuse &amp; specialise</a:t>
            </a:r>
            <a:endParaRPr lang="en-US" sz="1600" dirty="0"/>
          </a:p>
        </p:txBody>
      </p:sp>
      <p:sp>
        <p:nvSpPr>
          <p:cNvPr id="19" name="Text 14"/>
          <p:cNvSpPr/>
          <p:nvPr/>
        </p:nvSpPr>
        <p:spPr>
          <a:xfrm>
            <a:off x="6460236" y="3822192"/>
            <a:ext cx="2178558" cy="12070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Reuse configs across projects; focused prompts for each domain.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9004554" y="2377440"/>
            <a:ext cx="2635758" cy="2743200"/>
          </a:xfrm>
          <a:prstGeom prst="roundRect">
            <a:avLst>
              <a:gd name="adj" fmla="val 277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21" name="Shape 16"/>
          <p:cNvSpPr/>
          <p:nvPr/>
        </p:nvSpPr>
        <p:spPr>
          <a:xfrm>
            <a:off x="9278874" y="2651760"/>
            <a:ext cx="566928" cy="566928"/>
          </a:xfrm>
          <a:prstGeom prst="ellipse">
            <a:avLst/>
          </a:prstGeom>
          <a:solidFill>
            <a:srgbClr val="3A7D7B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6034" y="2788920"/>
            <a:ext cx="292608" cy="292608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9278874" y="3337560"/>
            <a:ext cx="213283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Control costs</a:t>
            </a:r>
            <a:endParaRPr lang="en-US" sz="1600" dirty="0"/>
          </a:p>
        </p:txBody>
      </p:sp>
      <p:sp>
        <p:nvSpPr>
          <p:cNvPr id="24" name="Text 18"/>
          <p:cNvSpPr/>
          <p:nvPr/>
        </p:nvSpPr>
        <p:spPr>
          <a:xfrm>
            <a:off x="9278874" y="3822192"/>
            <a:ext cx="2178558" cy="12070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narrow tasks to a faster, cheaper model.</a:t>
            </a:r>
            <a:endParaRPr lang="en-US" sz="1250" dirty="0"/>
          </a:p>
        </p:txBody>
      </p:sp>
      <p:sp>
        <p:nvSpPr>
          <p:cNvPr id="25" name="Text 19"/>
          <p:cNvSpPr/>
          <p:nvPr/>
        </p:nvSpPr>
        <p:spPr>
          <a:xfrm>
            <a:off x="548640" y="544068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TIP  </a:t>
            </a:r>
            <a:pPr indent="0" marL="0">
              <a:buNone/>
            </a:pPr>
            <a:r>
              <a:rPr lang="en-US" sz="1300" i="1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a custom sub agent when you keep spawning the same kind of worker with the same instructions.</a:t>
            </a:r>
            <a:endParaRPr lang="en-US" sz="1300" dirty="0"/>
          </a:p>
        </p:txBody>
      </p:sp>
      <p:sp>
        <p:nvSpPr>
          <p:cNvPr id="26" name="Text 20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900" dirty="0"/>
          </a:p>
        </p:txBody>
      </p:sp>
      <p:sp>
        <p:nvSpPr>
          <p:cNvPr id="27" name="Text 21"/>
          <p:cNvSpPr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Applications with Claude Code</a:t>
            </a:r>
            <a:endParaRPr lang="en-US" sz="900" dirty="0"/>
          </a:p>
        </p:txBody>
      </p:sp>
      <p:sp>
        <p:nvSpPr>
          <p:cNvPr id="28" name="Text 22"/>
          <p:cNvSpPr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</a:t>
            </a:r>
            <a:endParaRPr lang="en-US" sz="9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2120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3 · SUB AGENTS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Sub Agents vs Agent Teams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5440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8E5D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Sub Agents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355080" y="1463040"/>
            <a:ext cx="5257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8E5D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 Teams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914400" y="2011680"/>
            <a:ext cx="4709160" cy="457200"/>
          </a:xfrm>
          <a:prstGeom prst="roundRect">
            <a:avLst>
              <a:gd name="adj" fmla="val 12000"/>
            </a:avLst>
          </a:prstGeom>
          <a:solidFill>
            <a:srgbClr val="6D2E46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914400" y="2011680"/>
            <a:ext cx="4709160" cy="45720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Main Agent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554480" y="2468880"/>
            <a:ext cx="0" cy="640080"/>
          </a:xfrm>
          <a:prstGeom prst="line">
            <a:avLst/>
          </a:prstGeom>
          <a:noFill/>
          <a:ln w="19050">
            <a:solidFill>
              <a:srgbClr val="9B958A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914400" y="3108960"/>
            <a:ext cx="1280160" cy="457200"/>
          </a:xfrm>
          <a:prstGeom prst="roundRect">
            <a:avLst>
              <a:gd name="adj" fmla="val 12000"/>
            </a:avLst>
          </a:prstGeom>
          <a:solidFill>
            <a:srgbClr val="C2603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914400" y="3108960"/>
            <a:ext cx="1280160" cy="45720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Subagent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554480" y="3566160"/>
            <a:ext cx="0" cy="502920"/>
          </a:xfrm>
          <a:prstGeom prst="line">
            <a:avLst/>
          </a:prstGeom>
          <a:noFill/>
          <a:ln w="19050">
            <a:solidFill>
              <a:srgbClr val="9B958A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1271016" y="4242816"/>
            <a:ext cx="566928" cy="566928"/>
          </a:xfrm>
          <a:prstGeom prst="ellipse">
            <a:avLst/>
          </a:prstGeom>
          <a:solidFill>
            <a:srgbClr val="2E2C26"/>
          </a:solidFill>
          <a:ln w="12700">
            <a:solidFill>
              <a:srgbClr val="8A867D"/>
            </a:solidFill>
            <a:prstDash val="dash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1271016" y="4242816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268980" y="2468880"/>
            <a:ext cx="0" cy="640080"/>
          </a:xfrm>
          <a:prstGeom prst="line">
            <a:avLst/>
          </a:prstGeom>
          <a:noFill/>
          <a:ln w="19050">
            <a:solidFill>
              <a:srgbClr val="9B958A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2628900" y="3108960"/>
            <a:ext cx="1280160" cy="457200"/>
          </a:xfrm>
          <a:prstGeom prst="roundRect">
            <a:avLst>
              <a:gd name="adj" fmla="val 12000"/>
            </a:avLst>
          </a:prstGeom>
          <a:solidFill>
            <a:srgbClr val="C2603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2628900" y="3108960"/>
            <a:ext cx="1280160" cy="45720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Subagent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268980" y="3566160"/>
            <a:ext cx="0" cy="502920"/>
          </a:xfrm>
          <a:prstGeom prst="line">
            <a:avLst/>
          </a:prstGeom>
          <a:noFill/>
          <a:ln w="19050">
            <a:solidFill>
              <a:srgbClr val="9B958A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2985516" y="4242816"/>
            <a:ext cx="566928" cy="566928"/>
          </a:xfrm>
          <a:prstGeom prst="ellipse">
            <a:avLst/>
          </a:prstGeom>
          <a:solidFill>
            <a:srgbClr val="2E2C26"/>
          </a:solidFill>
          <a:ln w="12700">
            <a:solidFill>
              <a:srgbClr val="8A867D"/>
            </a:solidFill>
            <a:prstDash val="dash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2985516" y="4242816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983480" y="2468880"/>
            <a:ext cx="0" cy="640080"/>
          </a:xfrm>
          <a:prstGeom prst="line">
            <a:avLst/>
          </a:prstGeom>
          <a:noFill/>
          <a:ln w="19050">
            <a:solidFill>
              <a:srgbClr val="9B958A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4343400" y="3108960"/>
            <a:ext cx="1280160" cy="457200"/>
          </a:xfrm>
          <a:prstGeom prst="roundRect">
            <a:avLst>
              <a:gd name="adj" fmla="val 12000"/>
            </a:avLst>
          </a:prstGeom>
          <a:solidFill>
            <a:srgbClr val="C2603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4343400" y="3108960"/>
            <a:ext cx="1280160" cy="45720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Subagent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983480" y="3566160"/>
            <a:ext cx="0" cy="502920"/>
          </a:xfrm>
          <a:prstGeom prst="line">
            <a:avLst/>
          </a:prstGeom>
          <a:noFill/>
          <a:ln w="19050">
            <a:solidFill>
              <a:srgbClr val="9B958A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4700016" y="4242816"/>
            <a:ext cx="566928" cy="566928"/>
          </a:xfrm>
          <a:prstGeom prst="ellipse">
            <a:avLst/>
          </a:prstGeom>
          <a:solidFill>
            <a:srgbClr val="2E2C26"/>
          </a:solidFill>
          <a:ln w="12700">
            <a:solidFill>
              <a:srgbClr val="8A867D"/>
            </a:solidFill>
            <a:prstDash val="dash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4700016" y="4242816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783080" y="254203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B9B4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spawn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3520440" y="363931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B9B4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685800" y="2240280"/>
            <a:ext cx="0" cy="2286000"/>
          </a:xfrm>
          <a:prstGeom prst="line">
            <a:avLst/>
          </a:prstGeom>
          <a:noFill/>
          <a:ln w="19050">
            <a:solidFill>
              <a:srgbClr val="9B958A"/>
            </a:solidFill>
            <a:prstDash val="solid"/>
            <a:headEnd type="triangle"/>
          </a:ln>
        </p:spPr>
        <p:txBody>
          <a:bodyPr/>
          <a:p/>
        </p:txBody>
      </p:sp>
      <p:sp>
        <p:nvSpPr>
          <p:cNvPr id="29" name="Shape 27"/>
          <p:cNvSpPr/>
          <p:nvPr/>
        </p:nvSpPr>
        <p:spPr>
          <a:xfrm>
            <a:off x="685800" y="4526280"/>
            <a:ext cx="502920" cy="0"/>
          </a:xfrm>
          <a:prstGeom prst="line">
            <a:avLst/>
          </a:prstGeom>
          <a:noFill/>
          <a:ln w="19050">
            <a:solidFill>
              <a:srgbClr val="9B958A"/>
            </a:solidFill>
            <a:prstDash val="solid"/>
          </a:ln>
        </p:spPr>
        <p:txBody>
          <a:bodyPr/>
          <a:p/>
        </p:txBody>
      </p:sp>
      <p:sp>
        <p:nvSpPr>
          <p:cNvPr id="30" name="Shape 28"/>
          <p:cNvSpPr/>
          <p:nvPr/>
        </p:nvSpPr>
        <p:spPr>
          <a:xfrm>
            <a:off x="685800" y="2240280"/>
            <a:ext cx="228600" cy="0"/>
          </a:xfrm>
          <a:prstGeom prst="line">
            <a:avLst/>
          </a:prstGeom>
          <a:noFill/>
          <a:ln w="19050">
            <a:solidFill>
              <a:srgbClr val="9B958A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502920" y="461772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9C4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6675120" y="2011680"/>
            <a:ext cx="4617720" cy="457200"/>
          </a:xfrm>
          <a:prstGeom prst="roundRect">
            <a:avLst>
              <a:gd name="adj" fmla="val 12000"/>
            </a:avLst>
          </a:prstGeom>
          <a:solidFill>
            <a:srgbClr val="6D2E46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6675120" y="2011680"/>
            <a:ext cx="4617720" cy="45720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Main Agent (Team Lead)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8983980" y="2468880"/>
            <a:ext cx="0" cy="548640"/>
          </a:xfrm>
          <a:prstGeom prst="line">
            <a:avLst/>
          </a:prstGeom>
          <a:noFill/>
          <a:ln w="19050">
            <a:solidFill>
              <a:srgbClr val="9B958A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9052560" y="2505456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B9B4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spawn &amp; assign tasks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6675120" y="3017520"/>
            <a:ext cx="4617720" cy="457200"/>
          </a:xfrm>
          <a:prstGeom prst="roundRect">
            <a:avLst>
              <a:gd name="adj" fmla="val 12000"/>
            </a:avLst>
          </a:prstGeom>
          <a:solidFill>
            <a:srgbClr val="26405A"/>
          </a:solidFill>
          <a:ln w="19050">
            <a:solidFill>
              <a:srgbClr val="4F86C6"/>
            </a:solidFill>
            <a:prstDash val="dash"/>
          </a:ln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6675120" y="3017520"/>
            <a:ext cx="4617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CE6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Shared Task List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7315200" y="3474720"/>
            <a:ext cx="0" cy="685800"/>
          </a:xfrm>
          <a:prstGeom prst="line">
            <a:avLst/>
          </a:prstGeom>
          <a:noFill/>
          <a:ln w="19050">
            <a:solidFill>
              <a:srgbClr val="9B958A"/>
            </a:solidFill>
            <a:prstDash val="solid"/>
            <a:headEnd type="triangle"/>
            <a:tailEnd type="triangle"/>
          </a:ln>
        </p:spPr>
        <p:txBody>
          <a:bodyPr/>
          <a:p/>
        </p:txBody>
      </p:sp>
      <p:sp>
        <p:nvSpPr>
          <p:cNvPr id="39" name="Shape 37"/>
          <p:cNvSpPr/>
          <p:nvPr/>
        </p:nvSpPr>
        <p:spPr>
          <a:xfrm>
            <a:off x="6656832" y="4160520"/>
            <a:ext cx="1316736" cy="457200"/>
          </a:xfrm>
          <a:prstGeom prst="roundRect">
            <a:avLst>
              <a:gd name="adj" fmla="val 12000"/>
            </a:avLst>
          </a:prstGeom>
          <a:solidFill>
            <a:srgbClr val="5B4B8A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40" name="Text 38"/>
          <p:cNvSpPr/>
          <p:nvPr/>
        </p:nvSpPr>
        <p:spPr>
          <a:xfrm>
            <a:off x="6656832" y="4160520"/>
            <a:ext cx="1316736" cy="45720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Teammate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7315200" y="5074920"/>
            <a:ext cx="0" cy="-274320"/>
          </a:xfrm>
          <a:prstGeom prst="line">
            <a:avLst/>
          </a:prstGeom>
          <a:noFill/>
          <a:ln w="19050">
            <a:solidFill>
              <a:srgbClr val="9B958A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42" name="Text 40"/>
          <p:cNvSpPr/>
          <p:nvPr/>
        </p:nvSpPr>
        <p:spPr>
          <a:xfrm>
            <a:off x="6766560" y="50292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9C4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8983980" y="3474720"/>
            <a:ext cx="0" cy="685800"/>
          </a:xfrm>
          <a:prstGeom prst="line">
            <a:avLst/>
          </a:prstGeom>
          <a:noFill/>
          <a:ln w="19050">
            <a:solidFill>
              <a:srgbClr val="9B958A"/>
            </a:solidFill>
            <a:prstDash val="solid"/>
            <a:headEnd type="triangle"/>
            <a:tailEnd type="triangle"/>
          </a:ln>
        </p:spPr>
        <p:txBody>
          <a:bodyPr/>
          <a:p/>
        </p:txBody>
      </p:sp>
      <p:sp>
        <p:nvSpPr>
          <p:cNvPr id="44" name="Shape 42"/>
          <p:cNvSpPr/>
          <p:nvPr/>
        </p:nvSpPr>
        <p:spPr>
          <a:xfrm>
            <a:off x="8325612" y="4160520"/>
            <a:ext cx="1316736" cy="457200"/>
          </a:xfrm>
          <a:prstGeom prst="roundRect">
            <a:avLst>
              <a:gd name="adj" fmla="val 12000"/>
            </a:avLst>
          </a:prstGeom>
          <a:solidFill>
            <a:srgbClr val="5B4B8A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45" name="Text 43"/>
          <p:cNvSpPr/>
          <p:nvPr/>
        </p:nvSpPr>
        <p:spPr>
          <a:xfrm>
            <a:off x="8325612" y="4160520"/>
            <a:ext cx="1316736" cy="45720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Teammate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8983980" y="5074920"/>
            <a:ext cx="0" cy="-274320"/>
          </a:xfrm>
          <a:prstGeom prst="line">
            <a:avLst/>
          </a:prstGeom>
          <a:noFill/>
          <a:ln w="19050">
            <a:solidFill>
              <a:srgbClr val="9B958A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47" name="Text 45"/>
          <p:cNvSpPr/>
          <p:nvPr/>
        </p:nvSpPr>
        <p:spPr>
          <a:xfrm>
            <a:off x="8435340" y="50292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9C4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10652760" y="3474720"/>
            <a:ext cx="0" cy="685800"/>
          </a:xfrm>
          <a:prstGeom prst="line">
            <a:avLst/>
          </a:prstGeom>
          <a:noFill/>
          <a:ln w="19050">
            <a:solidFill>
              <a:srgbClr val="9B958A"/>
            </a:solidFill>
            <a:prstDash val="solid"/>
            <a:headEnd type="triangle"/>
            <a:tailEnd type="triangle"/>
          </a:ln>
        </p:spPr>
        <p:txBody>
          <a:bodyPr/>
          <a:p/>
        </p:txBody>
      </p:sp>
      <p:sp>
        <p:nvSpPr>
          <p:cNvPr id="49" name="Shape 47"/>
          <p:cNvSpPr/>
          <p:nvPr/>
        </p:nvSpPr>
        <p:spPr>
          <a:xfrm>
            <a:off x="9994392" y="4160520"/>
            <a:ext cx="1316736" cy="457200"/>
          </a:xfrm>
          <a:prstGeom prst="roundRect">
            <a:avLst>
              <a:gd name="adj" fmla="val 12000"/>
            </a:avLst>
          </a:prstGeom>
          <a:solidFill>
            <a:srgbClr val="5B4B8A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50" name="Text 48"/>
          <p:cNvSpPr/>
          <p:nvPr/>
        </p:nvSpPr>
        <p:spPr>
          <a:xfrm>
            <a:off x="9994392" y="4160520"/>
            <a:ext cx="1316736" cy="45720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Teammate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10652760" y="5074920"/>
            <a:ext cx="0" cy="-274320"/>
          </a:xfrm>
          <a:prstGeom prst="line">
            <a:avLst/>
          </a:prstGeom>
          <a:noFill/>
          <a:ln w="19050">
            <a:solidFill>
              <a:srgbClr val="9B958A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52" name="Text 50"/>
          <p:cNvSpPr/>
          <p:nvPr/>
        </p:nvSpPr>
        <p:spPr>
          <a:xfrm>
            <a:off x="10104120" y="50292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9C4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</a:t>
            </a:r>
            <a:endParaRPr lang="en-US" sz="850" dirty="0"/>
          </a:p>
        </p:txBody>
      </p:sp>
      <p:sp>
        <p:nvSpPr>
          <p:cNvPr id="53" name="Text 51"/>
          <p:cNvSpPr/>
          <p:nvPr/>
        </p:nvSpPr>
        <p:spPr>
          <a:xfrm>
            <a:off x="7498080" y="358444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B9B4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 tasks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7973568" y="4389120"/>
            <a:ext cx="347472" cy="0"/>
          </a:xfrm>
          <a:prstGeom prst="line">
            <a:avLst/>
          </a:prstGeom>
          <a:noFill/>
          <a:ln w="19050">
            <a:solidFill>
              <a:srgbClr val="9B958A"/>
            </a:solidFill>
            <a:prstDash val="solid"/>
            <a:headEnd type="triangle"/>
            <a:tailEnd type="triangle"/>
          </a:ln>
        </p:spPr>
        <p:txBody>
          <a:bodyPr/>
          <a:p/>
        </p:txBody>
      </p:sp>
      <p:sp>
        <p:nvSpPr>
          <p:cNvPr id="55" name="Shape 53"/>
          <p:cNvSpPr/>
          <p:nvPr/>
        </p:nvSpPr>
        <p:spPr>
          <a:xfrm>
            <a:off x="9646920" y="4389120"/>
            <a:ext cx="347472" cy="0"/>
          </a:xfrm>
          <a:prstGeom prst="line">
            <a:avLst/>
          </a:prstGeom>
          <a:noFill/>
          <a:ln w="19050">
            <a:solidFill>
              <a:srgbClr val="9B958A"/>
            </a:solidFill>
            <a:prstDash val="solid"/>
            <a:headEnd type="triangle"/>
            <a:tailEnd type="triangle"/>
          </a:ln>
        </p:spPr>
        <p:txBody>
          <a:bodyPr/>
          <a:p/>
        </p:txBody>
      </p:sp>
      <p:sp>
        <p:nvSpPr>
          <p:cNvPr id="56" name="Text 54"/>
          <p:cNvSpPr/>
          <p:nvPr/>
        </p:nvSpPr>
        <p:spPr>
          <a:xfrm>
            <a:off x="8321040" y="44805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B95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communicate</a:t>
            </a:r>
            <a:endParaRPr lang="en-US" sz="850" dirty="0"/>
          </a:p>
        </p:txBody>
      </p:sp>
      <p:sp>
        <p:nvSpPr>
          <p:cNvPr id="57" name="Text 55"/>
          <p:cNvSpPr/>
          <p:nvPr/>
        </p:nvSpPr>
        <p:spPr>
          <a:xfrm>
            <a:off x="548640" y="594360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 agents report back to one main agent · agent teams coordinate via a shared task list.</a:t>
            </a:r>
            <a:endParaRPr lang="en-US" sz="1250" dirty="0"/>
          </a:p>
        </p:txBody>
      </p:sp>
      <p:sp>
        <p:nvSpPr>
          <p:cNvPr id="58" name="Text 56"/>
          <p:cNvSpPr/>
          <p:nvPr/>
        </p:nvSpPr>
        <p:spPr>
          <a:xfrm>
            <a:off x="457200" y="6565392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8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2120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875520" y="4206240"/>
            <a:ext cx="3657600" cy="3657600"/>
          </a:xfrm>
          <a:prstGeom prst="ellipse">
            <a:avLst/>
          </a:prstGeom>
          <a:solidFill>
            <a:srgbClr val="D97757">
              <a:alpha val="15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48640" y="502920"/>
            <a:ext cx="2286000" cy="548640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548640" y="50292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5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188720"/>
            <a:ext cx="8686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Create Custom Sub Agents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10058400" y="640080"/>
            <a:ext cx="1188720" cy="1188720"/>
          </a:xfrm>
          <a:prstGeom prst="ellipse">
            <a:avLst/>
          </a:prstGeom>
          <a:solidFill>
            <a:srgbClr val="2E2C26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51008" y="932688"/>
            <a:ext cx="603504" cy="603504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40080" y="2167128"/>
            <a:ext cx="438912" cy="438912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640080" y="216712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261872" y="2103120"/>
            <a:ext cx="10515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 security-scan sub agent in .claude/agents/ to find vulnerabilities and harden the site.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640080" y="2807208"/>
            <a:ext cx="438912" cy="438912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640080" y="280720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1261872" y="2743200"/>
            <a:ext cx="10515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it and apply the recommended fixes.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640080" y="3447288"/>
            <a:ext cx="438912" cy="438912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640080" y="344728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1261872" y="3383280"/>
            <a:ext cx="10515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lead-magnets: npx skills add https://github.com/coreyhaines31/marketingskills --skill lead-magnets</a:t>
            </a:r>
            <a:endParaRPr lang="en-US" sz="1350" dirty="0"/>
          </a:p>
        </p:txBody>
      </p:sp>
      <p:sp>
        <p:nvSpPr>
          <p:cNvPr id="17" name="Shape 14"/>
          <p:cNvSpPr/>
          <p:nvPr/>
        </p:nvSpPr>
        <p:spPr>
          <a:xfrm>
            <a:off x="640080" y="4087368"/>
            <a:ext cx="438912" cy="438912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p/>
        </p:txBody>
      </p:sp>
      <p:sp>
        <p:nvSpPr>
          <p:cNvPr id="18" name="Text 15"/>
          <p:cNvSpPr/>
          <p:nvPr/>
        </p:nvSpPr>
        <p:spPr>
          <a:xfrm>
            <a:off x="640080" y="408736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1261872" y="4023360"/>
            <a:ext cx="10515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 UI/UX review sub agent that uses lead-magnets to optimise for lead capture.</a:t>
            </a:r>
            <a:endParaRPr lang="en-US" sz="1350" dirty="0"/>
          </a:p>
        </p:txBody>
      </p:sp>
      <p:sp>
        <p:nvSpPr>
          <p:cNvPr id="20" name="Shape 17"/>
          <p:cNvSpPr/>
          <p:nvPr/>
        </p:nvSpPr>
        <p:spPr>
          <a:xfrm>
            <a:off x="640080" y="4727448"/>
            <a:ext cx="438912" cy="438912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p/>
        </p:txBody>
      </p:sp>
      <p:sp>
        <p:nvSpPr>
          <p:cNvPr id="21" name="Text 18"/>
          <p:cNvSpPr/>
          <p:nvPr/>
        </p:nvSpPr>
        <p:spPr>
          <a:xfrm>
            <a:off x="640080" y="472744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2" name="Text 19"/>
          <p:cNvSpPr/>
          <p:nvPr/>
        </p:nvSpPr>
        <p:spPr>
          <a:xfrm>
            <a:off x="1261872" y="4663440"/>
            <a:ext cx="10515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improvements and push to GitHub.</a:t>
            </a:r>
            <a:endParaRPr lang="en-US" sz="1350" dirty="0"/>
          </a:p>
        </p:txBody>
      </p:sp>
      <p:sp>
        <p:nvSpPr>
          <p:cNvPr id="23" name="Shape 20"/>
          <p:cNvSpPr/>
          <p:nvPr/>
        </p:nvSpPr>
        <p:spPr>
          <a:xfrm>
            <a:off x="640080" y="5989320"/>
            <a:ext cx="10881360" cy="502920"/>
          </a:xfrm>
          <a:prstGeom prst="roundRect">
            <a:avLst>
              <a:gd name="adj" fmla="val 14545"/>
            </a:avLst>
          </a:prstGeom>
          <a:solidFill>
            <a:srgbClr val="2E2C26"/>
          </a:solidFill>
          <a:ln/>
        </p:spPr>
        <p:txBody>
          <a:bodyPr/>
          <a:p/>
        </p:txBody>
      </p:sp>
      <p:sp>
        <p:nvSpPr>
          <p:cNvPr id="24" name="Text 21"/>
          <p:cNvSpPr/>
          <p:nvPr/>
        </p:nvSpPr>
        <p:spPr>
          <a:xfrm>
            <a:off x="868680" y="598932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TIP  </a:t>
            </a:r>
            <a:pPr indent="0" marL="0">
              <a:buNone/>
            </a:pPr>
            <a:r>
              <a:rPr lang="en-US" sz="1300" i="1" dirty="0">
                <a:solidFill>
                  <a:srgbClr val="C9C4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agents live in .claude/agents/ at the project level.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457200" y="658368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8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3 · HOOKS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Hooks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Hooks are shell commands that run automatically at defined points in Claude Code's lifecycle — letting you enforce rules, format code, or trigger actions without asking.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743200"/>
            <a:ext cx="2706624" cy="274320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822960" y="3017520"/>
            <a:ext cx="566928" cy="566928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3154680"/>
            <a:ext cx="292608" cy="29260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22960" y="3703320"/>
            <a:ext cx="21579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260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PreToolUse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22960" y="4206240"/>
            <a:ext cx="2203704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before a tool — validate or block an action.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3374136" y="2743200"/>
            <a:ext cx="2706624" cy="274320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3648456" y="3017520"/>
            <a:ext cx="566928" cy="566928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5616" y="3154680"/>
            <a:ext cx="292608" cy="29260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648456" y="3703320"/>
            <a:ext cx="21579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260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PostToolUse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3648456" y="4206240"/>
            <a:ext cx="2203704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after a tool — auto-format or test.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6199632" y="2743200"/>
            <a:ext cx="2706624" cy="274320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6" name="Shape 12"/>
          <p:cNvSpPr/>
          <p:nvPr/>
        </p:nvSpPr>
        <p:spPr>
          <a:xfrm>
            <a:off x="6473952" y="3017520"/>
            <a:ext cx="566928" cy="566928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1112" y="3154680"/>
            <a:ext cx="292608" cy="292608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473952" y="3703320"/>
            <a:ext cx="21579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260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Notification</a:t>
            </a:r>
            <a:endParaRPr lang="en-US" sz="1500" dirty="0"/>
          </a:p>
        </p:txBody>
      </p:sp>
      <p:sp>
        <p:nvSpPr>
          <p:cNvPr id="19" name="Text 14"/>
          <p:cNvSpPr/>
          <p:nvPr/>
        </p:nvSpPr>
        <p:spPr>
          <a:xfrm>
            <a:off x="6473952" y="4206240"/>
            <a:ext cx="2203704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when Claude needs input or finishes.</a:t>
            </a:r>
            <a:endParaRPr lang="en-US" sz="1300" dirty="0"/>
          </a:p>
        </p:txBody>
      </p:sp>
      <p:sp>
        <p:nvSpPr>
          <p:cNvPr id="20" name="Shape 15"/>
          <p:cNvSpPr/>
          <p:nvPr/>
        </p:nvSpPr>
        <p:spPr>
          <a:xfrm>
            <a:off x="9025128" y="2743200"/>
            <a:ext cx="2706624" cy="274320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21" name="Shape 16"/>
          <p:cNvSpPr/>
          <p:nvPr/>
        </p:nvSpPr>
        <p:spPr>
          <a:xfrm>
            <a:off x="9299448" y="3017520"/>
            <a:ext cx="566928" cy="566928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36608" y="3154680"/>
            <a:ext cx="292608" cy="292608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9299448" y="3703320"/>
            <a:ext cx="21579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260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Stop</a:t>
            </a:r>
            <a:endParaRPr lang="en-US" sz="1500" dirty="0"/>
          </a:p>
        </p:txBody>
      </p:sp>
      <p:sp>
        <p:nvSpPr>
          <p:cNvPr id="24" name="Text 18"/>
          <p:cNvSpPr/>
          <p:nvPr/>
        </p:nvSpPr>
        <p:spPr>
          <a:xfrm>
            <a:off x="9299448" y="4206240"/>
            <a:ext cx="2203704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cleanup or checks when a task ends.</a:t>
            </a:r>
            <a:endParaRPr lang="en-US" sz="1300" dirty="0"/>
          </a:p>
        </p:txBody>
      </p:sp>
      <p:sp>
        <p:nvSpPr>
          <p:cNvPr id="25" name="Text 19"/>
          <p:cNvSpPr/>
          <p:nvPr/>
        </p:nvSpPr>
        <p:spPr>
          <a:xfrm>
            <a:off x="548640" y="56235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Configured in .claude/settings.json under "hooks".</a:t>
            </a:r>
            <a:endParaRPr lang="en-US" sz="1300" dirty="0"/>
          </a:p>
        </p:txBody>
      </p:sp>
      <p:sp>
        <p:nvSpPr>
          <p:cNvPr id="26" name="Text 20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900" dirty="0"/>
          </a:p>
        </p:txBody>
      </p:sp>
      <p:sp>
        <p:nvSpPr>
          <p:cNvPr id="27" name="Text 21"/>
          <p:cNvSpPr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Applications with Claude Code</a:t>
            </a:r>
            <a:endParaRPr lang="en-US" sz="900" dirty="0"/>
          </a:p>
        </p:txBody>
      </p:sp>
      <p:sp>
        <p:nvSpPr>
          <p:cNvPr id="28" name="Text 22"/>
          <p:cNvSpPr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</a:t>
            </a:r>
            <a:endParaRPr lang="en-US" sz="9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3 · HOOKS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Automating with Hooks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828800"/>
            <a:ext cx="548640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b="1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Deterministic, not optional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Hooks always run at their event — they don't rely on the model deciding to.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b="1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uses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Auto-format after edits, run tests, block risky commands, send notifications.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b="1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"hooks" block to .claude/settings.json (matchers + commands).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0" y="1828800"/>
            <a:ext cx="5212080" cy="3291840"/>
          </a:xfrm>
          <a:prstGeom prst="roundRect">
            <a:avLst>
              <a:gd name="adj" fmla="val 1667"/>
            </a:avLst>
          </a:prstGeom>
          <a:solidFill>
            <a:srgbClr val="1B1A1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675120" y="196596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6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.claude/settings.json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675120" y="2331720"/>
            <a:ext cx="475488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8E5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
  "hooks": {
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A7D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"PostToolUse": [{
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8E5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"matcher": "Edit|Write",
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8E5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"hooks": [{
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8E5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  "type": "command",
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  "command":
          "npx prettier --write ."
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8E5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}]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8E5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}]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8E5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}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8E5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48640" y="544068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TIP  </a:t>
            </a:r>
            <a:pPr indent="0" marL="0">
              <a:buNone/>
            </a:pPr>
            <a:r>
              <a:rPr lang="en-US" sz="1300" i="1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Hooks receive event context on stdin as JSON — perfect for lint, format and guardrail scripts.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Applications with Claude Code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</a:t>
            </a:r>
            <a:endParaRPr lang="en-US" sz="9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2120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875520" y="4206240"/>
            <a:ext cx="3657600" cy="3657600"/>
          </a:xfrm>
          <a:prstGeom prst="ellipse">
            <a:avLst/>
          </a:prstGeom>
          <a:solidFill>
            <a:srgbClr val="D97757">
              <a:alpha val="15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48640" y="502920"/>
            <a:ext cx="2286000" cy="548640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548640" y="50292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6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188720"/>
            <a:ext cx="8686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Hooks — Floating WhatsApp Widget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10058400" y="640080"/>
            <a:ext cx="1188720" cy="1188720"/>
          </a:xfrm>
          <a:prstGeom prst="ellipse">
            <a:avLst/>
          </a:prstGeom>
          <a:solidFill>
            <a:srgbClr val="2E2C26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51008" y="932688"/>
            <a:ext cx="603504" cy="603504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40080" y="2167128"/>
            <a:ext cx="438912" cy="438912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640080" y="216712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261872" y="2103120"/>
            <a:ext cx="10515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floating WhatsApp widget to the bottom-right of the website from Activity 1.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640080" y="2776728"/>
            <a:ext cx="438912" cy="438912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640080" y="277672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1261872" y="2712720"/>
            <a:ext cx="10515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Style it as a round WhatsApp button that expands into a chat panel on click.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640080" y="3386328"/>
            <a:ext cx="438912" cy="438912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640080" y="338632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1261872" y="3322320"/>
            <a:ext cx="10515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Claude Code hook that fires 10 seconds after page load to auto-open the widget.</a:t>
            </a:r>
            <a:endParaRPr lang="en-US" sz="1350" dirty="0"/>
          </a:p>
        </p:txBody>
      </p:sp>
      <p:sp>
        <p:nvSpPr>
          <p:cNvPr id="17" name="Shape 14"/>
          <p:cNvSpPr/>
          <p:nvPr/>
        </p:nvSpPr>
        <p:spPr>
          <a:xfrm>
            <a:off x="640080" y="3995928"/>
            <a:ext cx="438912" cy="438912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p/>
        </p:txBody>
      </p:sp>
      <p:sp>
        <p:nvSpPr>
          <p:cNvPr id="18" name="Text 15"/>
          <p:cNvSpPr/>
          <p:nvPr/>
        </p:nvSpPr>
        <p:spPr>
          <a:xfrm>
            <a:off x="640080" y="399592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1261872" y="3931920"/>
            <a:ext cx="10515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auto-open, prompt the user “Hi! How can I help you?” with suggested queries as quick-reply chips.</a:t>
            </a:r>
            <a:endParaRPr lang="en-US" sz="1350" dirty="0"/>
          </a:p>
        </p:txBody>
      </p:sp>
      <p:sp>
        <p:nvSpPr>
          <p:cNvPr id="20" name="Shape 17"/>
          <p:cNvSpPr/>
          <p:nvPr/>
        </p:nvSpPr>
        <p:spPr>
          <a:xfrm>
            <a:off x="640080" y="4605528"/>
            <a:ext cx="438912" cy="438912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p/>
        </p:txBody>
      </p:sp>
      <p:sp>
        <p:nvSpPr>
          <p:cNvPr id="21" name="Text 18"/>
          <p:cNvSpPr/>
          <p:nvPr/>
        </p:nvSpPr>
        <p:spPr>
          <a:xfrm>
            <a:off x="640080" y="460552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2" name="Text 19"/>
          <p:cNvSpPr/>
          <p:nvPr/>
        </p:nvSpPr>
        <p:spPr>
          <a:xfrm>
            <a:off x="1261872" y="4541520"/>
            <a:ext cx="10515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voice activation — let the visitor speak their question using the Web Speech API.</a:t>
            </a:r>
            <a:endParaRPr lang="en-US" sz="1350" dirty="0"/>
          </a:p>
        </p:txBody>
      </p:sp>
      <p:sp>
        <p:nvSpPr>
          <p:cNvPr id="23" name="Shape 20"/>
          <p:cNvSpPr/>
          <p:nvPr/>
        </p:nvSpPr>
        <p:spPr>
          <a:xfrm>
            <a:off x="640080" y="5215128"/>
            <a:ext cx="438912" cy="438912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p/>
        </p:txBody>
      </p:sp>
      <p:sp>
        <p:nvSpPr>
          <p:cNvPr id="24" name="Text 21"/>
          <p:cNvSpPr/>
          <p:nvPr/>
        </p:nvSpPr>
        <p:spPr>
          <a:xfrm>
            <a:off x="640080" y="521512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1261872" y="5151120"/>
            <a:ext cx="10515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Playwright MCP to test the 10-second auto-open, the suggested queries and the voice prompt.</a:t>
            </a:r>
            <a:endParaRPr lang="en-US" sz="1350" dirty="0"/>
          </a:p>
        </p:txBody>
      </p:sp>
      <p:sp>
        <p:nvSpPr>
          <p:cNvPr id="26" name="Shape 23"/>
          <p:cNvSpPr/>
          <p:nvPr/>
        </p:nvSpPr>
        <p:spPr>
          <a:xfrm>
            <a:off x="640080" y="5989320"/>
            <a:ext cx="10881360" cy="502920"/>
          </a:xfrm>
          <a:prstGeom prst="roundRect">
            <a:avLst>
              <a:gd name="adj" fmla="val 14545"/>
            </a:avLst>
          </a:prstGeom>
          <a:solidFill>
            <a:srgbClr val="2E2C26"/>
          </a:solidFill>
          <a:ln/>
        </p:spPr>
        <p:txBody>
          <a:bodyPr/>
          <a:p/>
        </p:txBody>
      </p:sp>
      <p:sp>
        <p:nvSpPr>
          <p:cNvPr id="27" name="Text 24"/>
          <p:cNvSpPr/>
          <p:nvPr/>
        </p:nvSpPr>
        <p:spPr>
          <a:xfrm>
            <a:off x="868680" y="598932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TIP  </a:t>
            </a:r>
            <a:pPr indent="0" marL="0">
              <a:buNone/>
            </a:pPr>
            <a:r>
              <a:rPr lang="en-US" sz="1300" i="1" dirty="0">
                <a:solidFill>
                  <a:srgbClr val="C9C4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Hooks live in .claude/hooks + .claude/settings.json; the widget behaviour lives in script.js.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457200" y="658368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8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2120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875520" y="4206240"/>
            <a:ext cx="3657600" cy="3657600"/>
          </a:xfrm>
          <a:prstGeom prst="ellipse">
            <a:avLst/>
          </a:prstGeom>
          <a:solidFill>
            <a:srgbClr val="D97757">
              <a:alpha val="15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48640" y="502920"/>
            <a:ext cx="2286000" cy="548640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548640" y="50292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7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188720"/>
            <a:ext cx="8686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Test, Optimise &amp; Deploy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10058400" y="640080"/>
            <a:ext cx="1188720" cy="1188720"/>
          </a:xfrm>
          <a:prstGeom prst="ellipse">
            <a:avLst/>
          </a:prstGeom>
          <a:solidFill>
            <a:srgbClr val="2E2C26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51008" y="932688"/>
            <a:ext cx="603504" cy="603504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40080" y="2167128"/>
            <a:ext cx="438912" cy="438912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640080" y="216712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261872" y="2103120"/>
            <a:ext cx="10515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Playwright MCP to test the enquiry form end-to-end.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640080" y="2807208"/>
            <a:ext cx="438912" cy="438912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640080" y="280720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1261872" y="2743200"/>
            <a:ext cx="10515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Ensure all enquiries are sent to angch@tertiaryinfotech.com.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640080" y="3447288"/>
            <a:ext cx="438912" cy="438912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640080" y="344728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1261872" y="3383280"/>
            <a:ext cx="10515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WhatsApp floating widget (bottom-right) with suggestive queries, linked to +65 9698 3731.</a:t>
            </a:r>
            <a:endParaRPr lang="en-US" sz="1350" dirty="0"/>
          </a:p>
        </p:txBody>
      </p:sp>
      <p:sp>
        <p:nvSpPr>
          <p:cNvPr id="17" name="Shape 14"/>
          <p:cNvSpPr/>
          <p:nvPr/>
        </p:nvSpPr>
        <p:spPr>
          <a:xfrm>
            <a:off x="640080" y="4087368"/>
            <a:ext cx="438912" cy="438912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p/>
        </p:txBody>
      </p:sp>
      <p:sp>
        <p:nvSpPr>
          <p:cNvPr id="18" name="Text 15"/>
          <p:cNvSpPr/>
          <p:nvPr/>
        </p:nvSpPr>
        <p:spPr>
          <a:xfrm>
            <a:off x="640080" y="408736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1261872" y="4023360"/>
            <a:ext cx="10515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a final security scan and lead-magnet UX review.</a:t>
            </a:r>
            <a:endParaRPr lang="en-US" sz="1350" dirty="0"/>
          </a:p>
        </p:txBody>
      </p:sp>
      <p:sp>
        <p:nvSpPr>
          <p:cNvPr id="20" name="Shape 17"/>
          <p:cNvSpPr/>
          <p:nvPr/>
        </p:nvSpPr>
        <p:spPr>
          <a:xfrm>
            <a:off x="640080" y="4727448"/>
            <a:ext cx="438912" cy="438912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p/>
        </p:txBody>
      </p:sp>
      <p:sp>
        <p:nvSpPr>
          <p:cNvPr id="21" name="Text 18"/>
          <p:cNvSpPr/>
          <p:nvPr/>
        </p:nvSpPr>
        <p:spPr>
          <a:xfrm>
            <a:off x="640080" y="472744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2" name="Text 19"/>
          <p:cNvSpPr/>
          <p:nvPr/>
        </p:nvSpPr>
        <p:spPr>
          <a:xfrm>
            <a:off x="1261872" y="4663440"/>
            <a:ext cx="10515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the final version and verify the live site end-to-end.</a:t>
            </a:r>
            <a:endParaRPr lang="en-US" sz="1350" dirty="0"/>
          </a:p>
        </p:txBody>
      </p:sp>
      <p:sp>
        <p:nvSpPr>
          <p:cNvPr id="23" name="Shape 20"/>
          <p:cNvSpPr/>
          <p:nvPr/>
        </p:nvSpPr>
        <p:spPr>
          <a:xfrm>
            <a:off x="640080" y="5989320"/>
            <a:ext cx="10881360" cy="502920"/>
          </a:xfrm>
          <a:prstGeom prst="roundRect">
            <a:avLst>
              <a:gd name="adj" fmla="val 14545"/>
            </a:avLst>
          </a:prstGeom>
          <a:solidFill>
            <a:srgbClr val="2E2C26"/>
          </a:solidFill>
          <a:ln/>
        </p:spPr>
        <p:txBody>
          <a:bodyPr/>
          <a:p/>
        </p:txBody>
      </p:sp>
      <p:sp>
        <p:nvSpPr>
          <p:cNvPr id="24" name="Text 21"/>
          <p:cNvSpPr/>
          <p:nvPr/>
        </p:nvSpPr>
        <p:spPr>
          <a:xfrm>
            <a:off x="868680" y="598932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  Record the live URL and the tests completed for your final verification.</a:t>
            </a:r>
            <a:pPr indent="0" marL="0">
              <a:buNone/>
            </a:pPr>
            <a:r>
              <a:rPr lang="en-US" sz="1300" i="1" dirty="0">
                <a:solidFill>
                  <a:srgbClr val="C9C4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457200" y="658368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8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CONCEPTS  ·  SUMMARY</a:t>
            </a:r>
          </a:p>
        </p:txBody>
      </p:sp>
      <p:sp>
        <p:nvSpPr>
          <p:cNvPr id="12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kern="0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Triggers What</a:t>
            </a:r>
          </a:p>
        </p:txBody>
      </p:sp>
      <p:sp>
        <p:nvSpPr>
          <p:cNvPr id="14" name="Text 2"/>
          <p:cNvSpPr/>
          <p:nvPr/>
        </p:nvSpPr>
        <p:spPr>
          <a:xfrm>
            <a:off x="548640" y="137160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0" kern="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ways to extend Claude Code — each one is loaded by a different trigger. Knowing which fires when is how you choose the right mechanism.</a:t>
            </a:r>
          </a:p>
        </p:txBody>
      </p:sp>
      <p:sp>
        <p:nvSpPr>
          <p:cNvPr id="16" name="Card 0"/>
          <p:cNvSpPr/>
          <p:nvPr/>
        </p:nvSpPr>
        <p:spPr>
          <a:xfrm>
            <a:off x="548640" y="1901952"/>
            <a:ext cx="11064240" cy="6675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 wrap="square" rtlCol="0" anchor="ctr"/>
          <a:lstStyle/>
          <a:p/>
        </p:txBody>
      </p:sp>
      <p:sp>
        <p:nvSpPr>
          <p:cNvPr id="18" name="Tab 0"/>
          <p:cNvSpPr/>
          <p:nvPr/>
        </p:nvSpPr>
        <p:spPr>
          <a:xfrm>
            <a:off x="749808" y="2075688"/>
            <a:ext cx="68580" cy="320040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/>
        </p:spPr>
        <p:txBody>
          <a:bodyPr wrap="square" rtlCol="0" anchor="ctr"/>
          <a:lstStyle/>
          <a:p/>
        </p:txBody>
      </p:sp>
      <p:sp>
        <p:nvSpPr>
          <p:cNvPr id="20" name="Name 0"/>
          <p:cNvSpPr/>
          <p:nvPr/>
        </p:nvSpPr>
        <p:spPr>
          <a:xfrm>
            <a:off x="960120" y="1901952"/>
            <a:ext cx="2148840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kern="0" dirty="0">
                <a:solidFill>
                  <a:srgbClr val="C26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CLAUDE.md</a:t>
            </a:r>
          </a:p>
        </p:txBody>
      </p:sp>
      <p:sp>
        <p:nvSpPr>
          <p:cNvPr id="22" name="Pill 0"/>
          <p:cNvSpPr/>
          <p:nvPr/>
        </p:nvSpPr>
        <p:spPr>
          <a:xfrm>
            <a:off x="3154680" y="2116836"/>
            <a:ext cx="1691640" cy="283464"/>
          </a:xfrm>
          <a:prstGeom prst="roundRect">
            <a:avLst>
              <a:gd name="adj" fmla="val 50000"/>
            </a:avLst>
          </a:prstGeom>
          <a:solidFill>
            <a:srgbClr val="21201C"/>
          </a:solidFill>
          <a:ln/>
        </p:spPr>
        <p:txBody>
          <a:bodyPr wrap="square" rtlCol="0" anchor="ctr"/>
          <a:lstStyle/>
          <a:p/>
        </p:txBody>
      </p:sp>
      <p:sp>
        <p:nvSpPr>
          <p:cNvPr id="24" name="Badge 0"/>
          <p:cNvSpPr/>
          <p:nvPr/>
        </p:nvSpPr>
        <p:spPr>
          <a:xfrm>
            <a:off x="3154680" y="2116836"/>
            <a:ext cx="1691640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algn="ctr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SESSION</a:t>
            </a:r>
          </a:p>
        </p:txBody>
      </p:sp>
      <p:sp>
        <p:nvSpPr>
          <p:cNvPr id="26" name="Desc 0"/>
          <p:cNvSpPr/>
          <p:nvPr/>
        </p:nvSpPr>
        <p:spPr>
          <a:xfrm>
            <a:off x="5074920" y="1901952"/>
            <a:ext cx="6858000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0" kern="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memory — read automatically at the start of every session, so it is always in context.</a:t>
            </a:r>
          </a:p>
        </p:txBody>
      </p:sp>
      <p:sp>
        <p:nvSpPr>
          <p:cNvPr id="28" name="Card 1"/>
          <p:cNvSpPr/>
          <p:nvPr/>
        </p:nvSpPr>
        <p:spPr>
          <a:xfrm>
            <a:off x="548640" y="2606040"/>
            <a:ext cx="11064240" cy="6675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 wrap="square" rtlCol="0" anchor="ctr"/>
          <a:lstStyle/>
          <a:p/>
        </p:txBody>
      </p:sp>
      <p:sp>
        <p:nvSpPr>
          <p:cNvPr id="30" name="Tab 1"/>
          <p:cNvSpPr/>
          <p:nvPr/>
        </p:nvSpPr>
        <p:spPr>
          <a:xfrm>
            <a:off x="749808" y="2779776"/>
            <a:ext cx="68580" cy="320040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/>
        </p:spPr>
        <p:txBody>
          <a:bodyPr wrap="square" rtlCol="0" anchor="ctr"/>
          <a:lstStyle/>
          <a:p/>
        </p:txBody>
      </p:sp>
      <p:sp>
        <p:nvSpPr>
          <p:cNvPr id="32" name="Name 1"/>
          <p:cNvSpPr/>
          <p:nvPr/>
        </p:nvSpPr>
        <p:spPr>
          <a:xfrm>
            <a:off x="960120" y="2606040"/>
            <a:ext cx="2148840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kern="0" dirty="0">
                <a:solidFill>
                  <a:srgbClr val="C26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</a:t>
            </a:r>
          </a:p>
        </p:txBody>
      </p:sp>
      <p:sp>
        <p:nvSpPr>
          <p:cNvPr id="34" name="Pill 1"/>
          <p:cNvSpPr/>
          <p:nvPr/>
        </p:nvSpPr>
        <p:spPr>
          <a:xfrm>
            <a:off x="3154680" y="2820924"/>
            <a:ext cx="1691640" cy="283464"/>
          </a:xfrm>
          <a:prstGeom prst="roundRect">
            <a:avLst>
              <a:gd name="adj" fmla="val 50000"/>
            </a:avLst>
          </a:prstGeom>
          <a:solidFill>
            <a:srgbClr val="21201C"/>
          </a:solidFill>
          <a:ln/>
        </p:spPr>
        <p:txBody>
          <a:bodyPr wrap="square" rtlCol="0" anchor="ctr"/>
          <a:lstStyle/>
          <a:p/>
        </p:txBody>
      </p:sp>
      <p:sp>
        <p:nvSpPr>
          <p:cNvPr id="36" name="Badge 1"/>
          <p:cNvSpPr/>
          <p:nvPr/>
        </p:nvSpPr>
        <p:spPr>
          <a:xfrm>
            <a:off x="3154680" y="2820924"/>
            <a:ext cx="1691640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algn="ctr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DEMAND</a:t>
            </a:r>
          </a:p>
        </p:txBody>
      </p:sp>
      <p:sp>
        <p:nvSpPr>
          <p:cNvPr id="38" name="Desc 1"/>
          <p:cNvSpPr/>
          <p:nvPr/>
        </p:nvSpPr>
        <p:spPr>
          <a:xfrm>
            <a:off x="5074920" y="2606040"/>
            <a:ext cx="6858000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0" kern="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SKILL.md folders — Claude reads the name + description, and loads one when the task matches.</a:t>
            </a:r>
          </a:p>
        </p:txBody>
      </p:sp>
      <p:sp>
        <p:nvSpPr>
          <p:cNvPr id="40" name="Card 2"/>
          <p:cNvSpPr/>
          <p:nvPr/>
        </p:nvSpPr>
        <p:spPr>
          <a:xfrm>
            <a:off x="548640" y="3310128"/>
            <a:ext cx="11064240" cy="6675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 wrap="square" rtlCol="0" anchor="ctr"/>
          <a:lstStyle/>
          <a:p/>
        </p:txBody>
      </p:sp>
      <p:sp>
        <p:nvSpPr>
          <p:cNvPr id="42" name="Tab 2"/>
          <p:cNvSpPr/>
          <p:nvPr/>
        </p:nvSpPr>
        <p:spPr>
          <a:xfrm>
            <a:off x="749808" y="3483864"/>
            <a:ext cx="68580" cy="320040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/>
        </p:spPr>
        <p:txBody>
          <a:bodyPr wrap="square" rtlCol="0" anchor="ctr"/>
          <a:lstStyle/>
          <a:p/>
        </p:txBody>
      </p:sp>
      <p:sp>
        <p:nvSpPr>
          <p:cNvPr id="44" name="Name 2"/>
          <p:cNvSpPr/>
          <p:nvPr/>
        </p:nvSpPr>
        <p:spPr>
          <a:xfrm>
            <a:off x="960120" y="3310128"/>
            <a:ext cx="2148840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kern="0" dirty="0">
                <a:solidFill>
                  <a:srgbClr val="C26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/ MCP</a:t>
            </a:r>
          </a:p>
        </p:txBody>
      </p:sp>
      <p:sp>
        <p:nvSpPr>
          <p:cNvPr id="46" name="Pill 2"/>
          <p:cNvSpPr/>
          <p:nvPr/>
        </p:nvSpPr>
        <p:spPr>
          <a:xfrm>
            <a:off x="3154680" y="3525012"/>
            <a:ext cx="1691640" cy="283464"/>
          </a:xfrm>
          <a:prstGeom prst="roundRect">
            <a:avLst>
              <a:gd name="adj" fmla="val 50000"/>
            </a:avLst>
          </a:prstGeom>
          <a:solidFill>
            <a:srgbClr val="21201C"/>
          </a:solidFill>
          <a:ln/>
        </p:spPr>
        <p:txBody>
          <a:bodyPr wrap="square" rtlCol="0" anchor="ctr"/>
          <a:lstStyle/>
          <a:p/>
        </p:txBody>
      </p:sp>
      <p:sp>
        <p:nvSpPr>
          <p:cNvPr id="48" name="Badge 2"/>
          <p:cNvSpPr/>
          <p:nvPr/>
        </p:nvSpPr>
        <p:spPr>
          <a:xfrm>
            <a:off x="3154680" y="3525012"/>
            <a:ext cx="1691640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algn="ctr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DEMAND</a:t>
            </a:r>
          </a:p>
        </p:txBody>
      </p:sp>
      <p:sp>
        <p:nvSpPr>
          <p:cNvPr id="50" name="Desc 2"/>
          <p:cNvSpPr/>
          <p:nvPr/>
        </p:nvSpPr>
        <p:spPr>
          <a:xfrm>
            <a:off x="5074920" y="3310128"/>
            <a:ext cx="6858000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0" kern="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and MCP tools — invoked by Claude during the agentic loop whenever the job needs them.</a:t>
            </a:r>
          </a:p>
        </p:txBody>
      </p:sp>
      <p:sp>
        <p:nvSpPr>
          <p:cNvPr id="52" name="Card 3"/>
          <p:cNvSpPr/>
          <p:nvPr/>
        </p:nvSpPr>
        <p:spPr>
          <a:xfrm>
            <a:off x="548640" y="4014216"/>
            <a:ext cx="11064240" cy="6675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 wrap="square" rtlCol="0" anchor="ctr"/>
          <a:lstStyle/>
          <a:p/>
        </p:txBody>
      </p:sp>
      <p:sp>
        <p:nvSpPr>
          <p:cNvPr id="54" name="Tab 3"/>
          <p:cNvSpPr/>
          <p:nvPr/>
        </p:nvSpPr>
        <p:spPr>
          <a:xfrm>
            <a:off x="749808" y="4187952"/>
            <a:ext cx="68580" cy="320040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/>
        </p:spPr>
        <p:txBody>
          <a:bodyPr wrap="square" rtlCol="0" anchor="ctr"/>
          <a:lstStyle/>
          <a:p/>
        </p:txBody>
      </p:sp>
      <p:sp>
        <p:nvSpPr>
          <p:cNvPr id="56" name="Name 3"/>
          <p:cNvSpPr/>
          <p:nvPr/>
        </p:nvSpPr>
        <p:spPr>
          <a:xfrm>
            <a:off x="960120" y="4014216"/>
            <a:ext cx="2148840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kern="0" dirty="0">
                <a:solidFill>
                  <a:srgbClr val="C26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Slash Commands</a:t>
            </a:r>
          </a:p>
        </p:txBody>
      </p:sp>
      <p:sp>
        <p:nvSpPr>
          <p:cNvPr id="58" name="Pill 3"/>
          <p:cNvSpPr/>
          <p:nvPr/>
        </p:nvSpPr>
        <p:spPr>
          <a:xfrm>
            <a:off x="3154680" y="4229100"/>
            <a:ext cx="1691640" cy="283464"/>
          </a:xfrm>
          <a:prstGeom prst="roundRect">
            <a:avLst>
              <a:gd name="adj" fmla="val 50000"/>
            </a:avLst>
          </a:prstGeom>
          <a:solidFill>
            <a:srgbClr val="21201C"/>
          </a:solidFill>
          <a:ln/>
        </p:spPr>
        <p:txBody>
          <a:bodyPr wrap="square" rtlCol="0" anchor="ctr"/>
          <a:lstStyle/>
          <a:p/>
        </p:txBody>
      </p:sp>
      <p:sp>
        <p:nvSpPr>
          <p:cNvPr id="60" name="Badge 3"/>
          <p:cNvSpPr/>
          <p:nvPr/>
        </p:nvSpPr>
        <p:spPr>
          <a:xfrm>
            <a:off x="3154680" y="4229100"/>
            <a:ext cx="1691640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algn="ctr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MANUALLY</a:t>
            </a:r>
          </a:p>
        </p:txBody>
      </p:sp>
      <p:sp>
        <p:nvSpPr>
          <p:cNvPr id="62" name="Desc 3"/>
          <p:cNvSpPr/>
          <p:nvPr/>
        </p:nvSpPr>
        <p:spPr>
          <a:xfrm>
            <a:off x="5074920" y="4014216"/>
            <a:ext cx="6858000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0" kern="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Saved prompts in .claude/commands/ — they run only when you type /&lt;name&gt; yourself.</a:t>
            </a:r>
          </a:p>
        </p:txBody>
      </p:sp>
      <p:sp>
        <p:nvSpPr>
          <p:cNvPr id="64" name="Card 4"/>
          <p:cNvSpPr/>
          <p:nvPr/>
        </p:nvSpPr>
        <p:spPr>
          <a:xfrm>
            <a:off x="548640" y="4718304"/>
            <a:ext cx="11064240" cy="6675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 wrap="square" rtlCol="0" anchor="ctr"/>
          <a:lstStyle/>
          <a:p/>
        </p:txBody>
      </p:sp>
      <p:sp>
        <p:nvSpPr>
          <p:cNvPr id="66" name="Tab 4"/>
          <p:cNvSpPr/>
          <p:nvPr/>
        </p:nvSpPr>
        <p:spPr>
          <a:xfrm>
            <a:off x="749808" y="4892040"/>
            <a:ext cx="68580" cy="320040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/>
        </p:spPr>
        <p:txBody>
          <a:bodyPr wrap="square" rtlCol="0" anchor="ctr"/>
          <a:lstStyle/>
          <a:p/>
        </p:txBody>
      </p:sp>
      <p:sp>
        <p:nvSpPr>
          <p:cNvPr id="68" name="Name 4"/>
          <p:cNvSpPr/>
          <p:nvPr/>
        </p:nvSpPr>
        <p:spPr>
          <a:xfrm>
            <a:off x="960120" y="4718304"/>
            <a:ext cx="2148840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kern="0" dirty="0">
                <a:solidFill>
                  <a:srgbClr val="C26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Hooks</a:t>
            </a:r>
          </a:p>
        </p:txBody>
      </p:sp>
      <p:sp>
        <p:nvSpPr>
          <p:cNvPr id="70" name="Pill 4"/>
          <p:cNvSpPr/>
          <p:nvPr/>
        </p:nvSpPr>
        <p:spPr>
          <a:xfrm>
            <a:off x="3154680" y="4933188"/>
            <a:ext cx="1691640" cy="283464"/>
          </a:xfrm>
          <a:prstGeom prst="roundRect">
            <a:avLst>
              <a:gd name="adj" fmla="val 50000"/>
            </a:avLst>
          </a:prstGeom>
          <a:solidFill>
            <a:srgbClr val="21201C"/>
          </a:solidFill>
          <a:ln/>
        </p:spPr>
        <p:txBody>
          <a:bodyPr wrap="square" rtlCol="0" anchor="ctr"/>
          <a:lstStyle/>
          <a:p/>
        </p:txBody>
      </p:sp>
      <p:sp>
        <p:nvSpPr>
          <p:cNvPr id="72" name="Badge 4"/>
          <p:cNvSpPr/>
          <p:nvPr/>
        </p:nvSpPr>
        <p:spPr>
          <a:xfrm>
            <a:off x="3154680" y="4933188"/>
            <a:ext cx="1691640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algn="ctr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EVENT</a:t>
            </a:r>
          </a:p>
        </p:txBody>
      </p:sp>
      <p:sp>
        <p:nvSpPr>
          <p:cNvPr id="74" name="Desc 4"/>
          <p:cNvSpPr/>
          <p:nvPr/>
        </p:nvSpPr>
        <p:spPr>
          <a:xfrm>
            <a:off x="5074920" y="4718304"/>
            <a:ext cx="6858000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0" kern="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Shell commands in settings.json — fired deterministically by a lifecycle event, not by the model.</a:t>
            </a:r>
          </a:p>
        </p:txBody>
      </p:sp>
      <p:sp>
        <p:nvSpPr>
          <p:cNvPr id="76" name="Card 5"/>
          <p:cNvSpPr/>
          <p:nvPr/>
        </p:nvSpPr>
        <p:spPr>
          <a:xfrm>
            <a:off x="548640" y="5422392"/>
            <a:ext cx="11064240" cy="6675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 wrap="square" rtlCol="0" anchor="ctr"/>
          <a:lstStyle/>
          <a:p/>
        </p:txBody>
      </p:sp>
      <p:sp>
        <p:nvSpPr>
          <p:cNvPr id="78" name="Tab 5"/>
          <p:cNvSpPr/>
          <p:nvPr/>
        </p:nvSpPr>
        <p:spPr>
          <a:xfrm>
            <a:off x="749808" y="5596128"/>
            <a:ext cx="68580" cy="320040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/>
        </p:spPr>
        <p:txBody>
          <a:bodyPr wrap="square" rtlCol="0" anchor="ctr"/>
          <a:lstStyle/>
          <a:p/>
        </p:txBody>
      </p:sp>
      <p:sp>
        <p:nvSpPr>
          <p:cNvPr id="80" name="Name 5"/>
          <p:cNvSpPr/>
          <p:nvPr/>
        </p:nvSpPr>
        <p:spPr>
          <a:xfrm>
            <a:off x="960120" y="5422392"/>
            <a:ext cx="2148840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kern="0" dirty="0">
                <a:solidFill>
                  <a:srgbClr val="C26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 Agents</a:t>
            </a:r>
          </a:p>
        </p:txBody>
      </p:sp>
      <p:sp>
        <p:nvSpPr>
          <p:cNvPr id="82" name="Pill 5"/>
          <p:cNvSpPr/>
          <p:nvPr/>
        </p:nvSpPr>
        <p:spPr>
          <a:xfrm>
            <a:off x="3154680" y="5637276"/>
            <a:ext cx="1691640" cy="283464"/>
          </a:xfrm>
          <a:prstGeom prst="roundRect">
            <a:avLst>
              <a:gd name="adj" fmla="val 50000"/>
            </a:avLst>
          </a:prstGeom>
          <a:solidFill>
            <a:srgbClr val="21201C"/>
          </a:solidFill>
          <a:ln/>
        </p:spPr>
        <p:txBody>
          <a:bodyPr wrap="square" rtlCol="0" anchor="ctr"/>
          <a:lstStyle/>
          <a:p/>
        </p:txBody>
      </p:sp>
      <p:sp>
        <p:nvSpPr>
          <p:cNvPr id="84" name="Badge 5"/>
          <p:cNvSpPr/>
          <p:nvPr/>
        </p:nvSpPr>
        <p:spPr>
          <a:xfrm>
            <a:off x="3154680" y="5637276"/>
            <a:ext cx="1691640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algn="ctr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DELEGATION</a:t>
            </a:r>
          </a:p>
        </p:txBody>
      </p:sp>
      <p:sp>
        <p:nvSpPr>
          <p:cNvPr id="86" name="Desc 5"/>
          <p:cNvSpPr/>
          <p:nvPr/>
        </p:nvSpPr>
        <p:spPr>
          <a:xfrm>
            <a:off x="5074920" y="5422392"/>
            <a:ext cx="6858000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0" kern="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Specialised assistants with their own context — spawned when the main agent delegates a job.</a:t>
            </a:r>
          </a:p>
        </p:txBody>
      </p:sp>
      <p:sp>
        <p:nvSpPr>
          <p:cNvPr id="88" name="Tip"/>
          <p:cNvSpPr/>
          <p:nvPr/>
        </p:nvSpPr>
        <p:spPr>
          <a:xfrm>
            <a:off x="548640" y="621792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TIP  </a:t>
            </a:r>
            <a:r>
              <a:rPr lang="en-US" sz="1200" b="0" kern="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Always-on context is expensive — keep CLAUDE.md tight and push specialised, occasional procedures into skills, commands and sub agents.</a:t>
            </a:r>
          </a:p>
        </p:txBody>
      </p:sp>
      <p:sp>
        <p:nvSpPr>
          <p:cNvPr id="90" name="Foot L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0" kern="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</a:p>
        </p:txBody>
      </p:sp>
      <p:sp>
        <p:nvSpPr>
          <p:cNvPr id="92" name="Foot C"/>
          <p:cNvSpPr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0" kern="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Applications with Claude Code</a:t>
            </a:r>
          </a:p>
        </p:txBody>
      </p:sp>
      <p:sp>
        <p:nvSpPr>
          <p:cNvPr id="94" name="Foot N"/>
          <p:cNvSpPr/>
          <p:nvPr/>
        </p:nvSpPr>
        <p:spPr>
          <a:xfrm>
            <a:off x="11373427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0" kern="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SECURITY</a:t>
            </a:r>
          </a:p>
        </p:txBody>
      </p:sp>
      <p:sp>
        <p:nvSpPr>
          <p:cNvPr id="12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kern="0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Principles of AI Security</a:t>
            </a:r>
          </a:p>
        </p:txBody>
      </p:sp>
      <p:sp>
        <p:nvSpPr>
          <p:cNvPr id="14" name="Text 2"/>
          <p:cNvSpPr/>
          <p:nvPr/>
        </p:nvSpPr>
        <p:spPr>
          <a:xfrm>
            <a:off x="548640" y="137160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0" kern="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act on your behalf. These five controls keep what they can see and do safe, reviewable and accountable.</a:t>
            </a:r>
          </a:p>
        </p:txBody>
      </p:sp>
      <p:sp>
        <p:nvSpPr>
          <p:cNvPr id="16" name="Card 0"/>
          <p:cNvSpPr/>
          <p:nvPr/>
        </p:nvSpPr>
        <p:spPr>
          <a:xfrm>
            <a:off x="548640" y="1965960"/>
            <a:ext cx="11064240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 wrap="square" rtlCol="0" anchor="ctr"/>
          <a:lstStyle/>
          <a:p/>
        </p:txBody>
      </p:sp>
      <p:sp>
        <p:nvSpPr>
          <p:cNvPr id="18" name="Tab 0"/>
          <p:cNvSpPr/>
          <p:nvPr/>
        </p:nvSpPr>
        <p:spPr>
          <a:xfrm>
            <a:off x="749808" y="2171700"/>
            <a:ext cx="68580" cy="320040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/>
        </p:spPr>
        <p:txBody>
          <a:bodyPr wrap="square" rtlCol="0" anchor="ctr"/>
          <a:lstStyle/>
          <a:p/>
        </p:txBody>
      </p:sp>
      <p:sp>
        <p:nvSpPr>
          <p:cNvPr id="20" name="Name 0"/>
          <p:cNvSpPr/>
          <p:nvPr/>
        </p:nvSpPr>
        <p:spPr>
          <a:xfrm>
            <a:off x="960120" y="1965960"/>
            <a:ext cx="2057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kern="0" dirty="0">
                <a:solidFill>
                  <a:srgbClr val="C26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Control</a:t>
            </a:r>
          </a:p>
        </p:txBody>
      </p:sp>
      <p:sp>
        <p:nvSpPr>
          <p:cNvPr id="22" name="Pill 0"/>
          <p:cNvSpPr/>
          <p:nvPr/>
        </p:nvSpPr>
        <p:spPr>
          <a:xfrm>
            <a:off x="3063240" y="2212848"/>
            <a:ext cx="2103120" cy="283464"/>
          </a:xfrm>
          <a:prstGeom prst="roundRect">
            <a:avLst>
              <a:gd name="adj" fmla="val 50000"/>
            </a:avLst>
          </a:prstGeom>
          <a:solidFill>
            <a:srgbClr val="21201C"/>
          </a:solidFill>
          <a:ln/>
        </p:spPr>
        <p:txBody>
          <a:bodyPr wrap="square" rtlCol="0" anchor="ctr"/>
          <a:lstStyle/>
          <a:p/>
        </p:txBody>
      </p:sp>
      <p:sp>
        <p:nvSpPr>
          <p:cNvPr id="24" name="Badge 0"/>
          <p:cNvSpPr/>
          <p:nvPr/>
        </p:nvSpPr>
        <p:spPr>
          <a:xfrm>
            <a:off x="3063240" y="2212848"/>
            <a:ext cx="2103120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algn="ctr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AI CAN SEE</a:t>
            </a:r>
          </a:p>
        </p:txBody>
      </p:sp>
      <p:sp>
        <p:nvSpPr>
          <p:cNvPr id="26" name="Desc 0"/>
          <p:cNvSpPr/>
          <p:nvPr/>
        </p:nvSpPr>
        <p:spPr>
          <a:xfrm>
            <a:off x="5394960" y="1965960"/>
            <a:ext cx="6126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0" kern="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 your data (public, internal, confidential) and decide exactly which data the AI may access.</a:t>
            </a:r>
          </a:p>
        </p:txBody>
      </p:sp>
      <p:sp>
        <p:nvSpPr>
          <p:cNvPr id="28" name="Card 1"/>
          <p:cNvSpPr/>
          <p:nvPr/>
        </p:nvSpPr>
        <p:spPr>
          <a:xfrm>
            <a:off x="548640" y="2788920"/>
            <a:ext cx="11064240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 wrap="square" rtlCol="0" anchor="ctr"/>
          <a:lstStyle/>
          <a:p/>
        </p:txBody>
      </p:sp>
      <p:sp>
        <p:nvSpPr>
          <p:cNvPr id="30" name="Tab 1"/>
          <p:cNvSpPr/>
          <p:nvPr/>
        </p:nvSpPr>
        <p:spPr>
          <a:xfrm>
            <a:off x="749808" y="2994660"/>
            <a:ext cx="68580" cy="320040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/>
        </p:spPr>
        <p:txBody>
          <a:bodyPr wrap="square" rtlCol="0" anchor="ctr"/>
          <a:lstStyle/>
          <a:p/>
        </p:txBody>
      </p:sp>
      <p:sp>
        <p:nvSpPr>
          <p:cNvPr id="32" name="Name 1"/>
          <p:cNvSpPr/>
          <p:nvPr/>
        </p:nvSpPr>
        <p:spPr>
          <a:xfrm>
            <a:off x="960120" y="2788920"/>
            <a:ext cx="2057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kern="0" dirty="0">
                <a:solidFill>
                  <a:srgbClr val="C26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 Control</a:t>
            </a:r>
          </a:p>
        </p:txBody>
      </p:sp>
      <p:sp>
        <p:nvSpPr>
          <p:cNvPr id="34" name="Pill 1"/>
          <p:cNvSpPr/>
          <p:nvPr/>
        </p:nvSpPr>
        <p:spPr>
          <a:xfrm>
            <a:off x="3063240" y="3035808"/>
            <a:ext cx="2103120" cy="283464"/>
          </a:xfrm>
          <a:prstGeom prst="roundRect">
            <a:avLst>
              <a:gd name="adj" fmla="val 50000"/>
            </a:avLst>
          </a:prstGeom>
          <a:solidFill>
            <a:srgbClr val="21201C"/>
          </a:solidFill>
          <a:ln/>
        </p:spPr>
        <p:txBody>
          <a:bodyPr wrap="square" rtlCol="0" anchor="ctr"/>
          <a:lstStyle/>
          <a:p/>
        </p:txBody>
      </p:sp>
      <p:sp>
        <p:nvSpPr>
          <p:cNvPr id="36" name="Badge 1"/>
          <p:cNvSpPr/>
          <p:nvPr/>
        </p:nvSpPr>
        <p:spPr>
          <a:xfrm>
            <a:off x="3063240" y="3035808"/>
            <a:ext cx="2103120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algn="ctr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AI CAN DO</a:t>
            </a:r>
          </a:p>
        </p:txBody>
      </p:sp>
      <p:sp>
        <p:nvSpPr>
          <p:cNvPr id="38" name="Desc 1"/>
          <p:cNvSpPr/>
          <p:nvPr/>
        </p:nvSpPr>
        <p:spPr>
          <a:xfrm>
            <a:off x="5394960" y="2788920"/>
            <a:ext cx="6126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0" kern="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Grant only the rights needed — read, write, edit, delete. Ask before anything destructive.</a:t>
            </a:r>
          </a:p>
        </p:txBody>
      </p:sp>
      <p:sp>
        <p:nvSpPr>
          <p:cNvPr id="40" name="Card 2"/>
          <p:cNvSpPr/>
          <p:nvPr/>
        </p:nvSpPr>
        <p:spPr>
          <a:xfrm>
            <a:off x="548640" y="3611880"/>
            <a:ext cx="11064240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 wrap="square" rtlCol="0" anchor="ctr"/>
          <a:lstStyle/>
          <a:p/>
        </p:txBody>
      </p:sp>
      <p:sp>
        <p:nvSpPr>
          <p:cNvPr id="42" name="Tab 2"/>
          <p:cNvSpPr/>
          <p:nvPr/>
        </p:nvSpPr>
        <p:spPr>
          <a:xfrm>
            <a:off x="749808" y="3817620"/>
            <a:ext cx="68580" cy="320040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/>
        </p:spPr>
        <p:txBody>
          <a:bodyPr wrap="square" rtlCol="0" anchor="ctr"/>
          <a:lstStyle/>
          <a:p/>
        </p:txBody>
      </p:sp>
      <p:sp>
        <p:nvSpPr>
          <p:cNvPr id="44" name="Name 2"/>
          <p:cNvSpPr/>
          <p:nvPr/>
        </p:nvSpPr>
        <p:spPr>
          <a:xfrm>
            <a:off x="960120" y="3611880"/>
            <a:ext cx="2057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kern="0" dirty="0">
                <a:solidFill>
                  <a:srgbClr val="C26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in the Loop</a:t>
            </a:r>
          </a:p>
        </p:txBody>
      </p:sp>
      <p:sp>
        <p:nvSpPr>
          <p:cNvPr id="46" name="Pill 2"/>
          <p:cNvSpPr/>
          <p:nvPr/>
        </p:nvSpPr>
        <p:spPr>
          <a:xfrm>
            <a:off x="3063240" y="3858768"/>
            <a:ext cx="2103120" cy="283464"/>
          </a:xfrm>
          <a:prstGeom prst="roundRect">
            <a:avLst>
              <a:gd name="adj" fmla="val 50000"/>
            </a:avLst>
          </a:prstGeom>
          <a:solidFill>
            <a:srgbClr val="21201C"/>
          </a:solidFill>
          <a:ln/>
        </p:spPr>
        <p:txBody>
          <a:bodyPr wrap="square" rtlCol="0" anchor="ctr"/>
          <a:lstStyle/>
          <a:p/>
        </p:txBody>
      </p:sp>
      <p:sp>
        <p:nvSpPr>
          <p:cNvPr id="48" name="Badge 2"/>
          <p:cNvSpPr/>
          <p:nvPr/>
        </p:nvSpPr>
        <p:spPr>
          <a:xfrm>
            <a:off x="3063240" y="3858768"/>
            <a:ext cx="2103120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algn="ctr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APPROVES</a:t>
            </a:r>
          </a:p>
        </p:txBody>
      </p:sp>
      <p:sp>
        <p:nvSpPr>
          <p:cNvPr id="50" name="Desc 2"/>
          <p:cNvSpPr/>
          <p:nvPr/>
        </p:nvSpPr>
        <p:spPr>
          <a:xfrm>
            <a:off x="5394960" y="3611880"/>
            <a:ext cx="6126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0" kern="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reviews and approves high-impact actions — deploys, deletions, payments, emails.</a:t>
            </a:r>
          </a:p>
        </p:txBody>
      </p:sp>
      <p:sp>
        <p:nvSpPr>
          <p:cNvPr id="52" name="Card 3"/>
          <p:cNvSpPr/>
          <p:nvPr/>
        </p:nvSpPr>
        <p:spPr>
          <a:xfrm>
            <a:off x="548640" y="4434840"/>
            <a:ext cx="11064240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 wrap="square" rtlCol="0" anchor="ctr"/>
          <a:lstStyle/>
          <a:p/>
        </p:txBody>
      </p:sp>
      <p:sp>
        <p:nvSpPr>
          <p:cNvPr id="54" name="Tab 3"/>
          <p:cNvSpPr/>
          <p:nvPr/>
        </p:nvSpPr>
        <p:spPr>
          <a:xfrm>
            <a:off x="749808" y="4640580"/>
            <a:ext cx="68580" cy="320040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/>
        </p:spPr>
        <p:txBody>
          <a:bodyPr wrap="square" rtlCol="0" anchor="ctr"/>
          <a:lstStyle/>
          <a:p/>
        </p:txBody>
      </p:sp>
      <p:sp>
        <p:nvSpPr>
          <p:cNvPr id="56" name="Name 3"/>
          <p:cNvSpPr/>
          <p:nvPr/>
        </p:nvSpPr>
        <p:spPr>
          <a:xfrm>
            <a:off x="960120" y="4434840"/>
            <a:ext cx="2057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kern="0" dirty="0">
                <a:solidFill>
                  <a:srgbClr val="C26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Traceability</a:t>
            </a:r>
          </a:p>
        </p:txBody>
      </p:sp>
      <p:sp>
        <p:nvSpPr>
          <p:cNvPr id="58" name="Pill 3"/>
          <p:cNvSpPr/>
          <p:nvPr/>
        </p:nvSpPr>
        <p:spPr>
          <a:xfrm>
            <a:off x="3063240" y="4681728"/>
            <a:ext cx="2103120" cy="283464"/>
          </a:xfrm>
          <a:prstGeom prst="roundRect">
            <a:avLst>
              <a:gd name="adj" fmla="val 50000"/>
            </a:avLst>
          </a:prstGeom>
          <a:solidFill>
            <a:srgbClr val="21201C"/>
          </a:solidFill>
          <a:ln/>
        </p:spPr>
        <p:txBody>
          <a:bodyPr wrap="square" rtlCol="0" anchor="ctr"/>
          <a:lstStyle/>
          <a:p/>
        </p:txBody>
      </p:sp>
      <p:sp>
        <p:nvSpPr>
          <p:cNvPr id="60" name="Badge 3"/>
          <p:cNvSpPr/>
          <p:nvPr/>
        </p:nvSpPr>
        <p:spPr>
          <a:xfrm>
            <a:off x="3063240" y="4681728"/>
            <a:ext cx="2103120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algn="ctr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HAPPENED</a:t>
            </a:r>
          </a:p>
        </p:txBody>
      </p:sp>
      <p:sp>
        <p:nvSpPr>
          <p:cNvPr id="62" name="Desc 3"/>
          <p:cNvSpPr/>
          <p:nvPr/>
        </p:nvSpPr>
        <p:spPr>
          <a:xfrm>
            <a:off x="5394960" y="4434840"/>
            <a:ext cx="6126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0" kern="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every prompt, tool call and change so actions can be audited, explained and rolled back.</a:t>
            </a:r>
          </a:p>
        </p:txBody>
      </p:sp>
      <p:sp>
        <p:nvSpPr>
          <p:cNvPr id="64" name="Card 4"/>
          <p:cNvSpPr/>
          <p:nvPr/>
        </p:nvSpPr>
        <p:spPr>
          <a:xfrm>
            <a:off x="548640" y="5257800"/>
            <a:ext cx="11064240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 wrap="square" rtlCol="0" anchor="ctr"/>
          <a:lstStyle/>
          <a:p/>
        </p:txBody>
      </p:sp>
      <p:sp>
        <p:nvSpPr>
          <p:cNvPr id="66" name="Tab 4"/>
          <p:cNvSpPr/>
          <p:nvPr/>
        </p:nvSpPr>
        <p:spPr>
          <a:xfrm>
            <a:off x="749808" y="5463540"/>
            <a:ext cx="68580" cy="320040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/>
        </p:spPr>
        <p:txBody>
          <a:bodyPr wrap="square" rtlCol="0" anchor="ctr"/>
          <a:lstStyle/>
          <a:p/>
        </p:txBody>
      </p:sp>
      <p:sp>
        <p:nvSpPr>
          <p:cNvPr id="68" name="Name 4"/>
          <p:cNvSpPr/>
          <p:nvPr/>
        </p:nvSpPr>
        <p:spPr>
          <a:xfrm>
            <a:off x="960120" y="5257800"/>
            <a:ext cx="2057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kern="0" dirty="0">
                <a:solidFill>
                  <a:srgbClr val="C26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Right-Sized Models</a:t>
            </a:r>
          </a:p>
        </p:txBody>
      </p:sp>
      <p:sp>
        <p:nvSpPr>
          <p:cNvPr id="70" name="Pill 4"/>
          <p:cNvSpPr/>
          <p:nvPr/>
        </p:nvSpPr>
        <p:spPr>
          <a:xfrm>
            <a:off x="3063240" y="5504688"/>
            <a:ext cx="2103120" cy="283464"/>
          </a:xfrm>
          <a:prstGeom prst="roundRect">
            <a:avLst>
              <a:gd name="adj" fmla="val 50000"/>
            </a:avLst>
          </a:prstGeom>
          <a:solidFill>
            <a:srgbClr val="21201C"/>
          </a:solidFill>
          <a:ln/>
        </p:spPr>
        <p:txBody>
          <a:bodyPr wrap="square" rtlCol="0" anchor="ctr"/>
          <a:lstStyle/>
          <a:p/>
        </p:txBody>
      </p:sp>
      <p:sp>
        <p:nvSpPr>
          <p:cNvPr id="72" name="Badge 4"/>
          <p:cNvSpPr/>
          <p:nvPr/>
        </p:nvSpPr>
        <p:spPr>
          <a:xfrm>
            <a:off x="3063240" y="5504688"/>
            <a:ext cx="2103120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algn="ctr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THE MOST POWERFUL</a:t>
            </a:r>
          </a:p>
        </p:txBody>
      </p:sp>
      <p:sp>
        <p:nvSpPr>
          <p:cNvPr id="74" name="Desc 4"/>
          <p:cNvSpPr/>
          <p:nvPr/>
        </p:nvSpPr>
        <p:spPr>
          <a:xfrm>
            <a:off x="5394960" y="5257800"/>
            <a:ext cx="6126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0" kern="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use the most powerful models by default — the smallest model that does the job has less autonomy and risk.</a:t>
            </a:r>
          </a:p>
        </p:txBody>
      </p:sp>
      <p:sp>
        <p:nvSpPr>
          <p:cNvPr id="88" name="Tip"/>
          <p:cNvSpPr/>
          <p:nvPr/>
        </p:nvSpPr>
        <p:spPr>
          <a:xfrm>
            <a:off x="548640" y="608076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TIP  </a:t>
            </a:r>
            <a:r>
              <a:rPr lang="en-US" sz="1200" b="0" kern="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Claude Code: permission modes &amp; allow/deny rules, hooks for guardrails &amp; logs, plan mode for human review.</a:t>
            </a:r>
          </a:p>
        </p:txBody>
      </p:sp>
      <p:sp>
        <p:nvSpPr>
          <p:cNvPr id="90" name="Foot L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0" kern="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</a:p>
        </p:txBody>
      </p:sp>
      <p:sp>
        <p:nvSpPr>
          <p:cNvPr id="92" name="Foot C"/>
          <p:cNvSpPr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0" kern="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Applications with Claude Code</a:t>
            </a:r>
          </a:p>
        </p:txBody>
      </p:sp>
      <p:sp>
        <p:nvSpPr>
          <p:cNvPr id="94" name="Foot N"/>
          <p:cNvSpPr/>
          <p:nvPr/>
        </p:nvSpPr>
        <p:spPr>
          <a:xfrm>
            <a:off x="11373427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0" kern="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 UP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Summary &amp; Q&amp;A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77240" y="1965960"/>
            <a:ext cx="548640" cy="548640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103120"/>
            <a:ext cx="274320" cy="274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08760" y="192024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260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Topic 1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3383280" y="192024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agentic loop and context engineering power everything Claude Code does.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48640" y="2807208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777240" y="2990088"/>
            <a:ext cx="548640" cy="548640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127248"/>
            <a:ext cx="274320" cy="27432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508760" y="2944368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260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Topic 2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3383280" y="2944368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commands and MCP tools automate and extend your workflow.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548640" y="3831336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5" name="Shape 11"/>
          <p:cNvSpPr/>
          <p:nvPr/>
        </p:nvSpPr>
        <p:spPr>
          <a:xfrm>
            <a:off x="777240" y="4014216"/>
            <a:ext cx="548640" cy="548640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4151376"/>
            <a:ext cx="274320" cy="27432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508760" y="3968496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260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Topic 3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3383280" y="3968496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Skills, sub agents and hooks make Claude a specialised teammate.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548640" y="4855464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20" name="Shape 15"/>
          <p:cNvSpPr/>
          <p:nvPr/>
        </p:nvSpPr>
        <p:spPr>
          <a:xfrm>
            <a:off x="777240" y="5038344"/>
            <a:ext cx="548640" cy="548640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5175504"/>
            <a:ext cx="274320" cy="27432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508760" y="4992624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260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Integrated Build</a:t>
            </a:r>
            <a:endParaRPr lang="en-US" sz="1700" dirty="0"/>
          </a:p>
        </p:txBody>
      </p:sp>
      <p:sp>
        <p:nvSpPr>
          <p:cNvPr id="23" name="Text 17"/>
          <p:cNvSpPr/>
          <p:nvPr/>
        </p:nvSpPr>
        <p:spPr>
          <a:xfrm>
            <a:off x="3383280" y="4992624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built, deployed, tested, secured and optimised a real website.</a:t>
            </a:r>
            <a:endParaRPr lang="en-US" sz="1400" dirty="0"/>
          </a:p>
        </p:txBody>
      </p:sp>
      <p:sp>
        <p:nvSpPr>
          <p:cNvPr id="24" name="Text 18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900" dirty="0"/>
          </a:p>
        </p:txBody>
      </p:sp>
      <p:sp>
        <p:nvSpPr>
          <p:cNvPr id="25" name="Text 19"/>
          <p:cNvSpPr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Applications with Claude Code</a:t>
            </a:r>
            <a:endParaRPr lang="en-US" sz="900" dirty="0"/>
          </a:p>
        </p:txBody>
      </p:sp>
      <p:sp>
        <p:nvSpPr>
          <p:cNvPr id="26" name="Text 20"/>
          <p:cNvSpPr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</a:t>
            </a:r>
            <a:endParaRPr lang="en-US" sz="9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Assessment Flow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the assessment stage, follow these five steps in order.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468880"/>
            <a:ext cx="1993392" cy="2834640"/>
          </a:xfrm>
          <a:prstGeom prst="roundRect">
            <a:avLst>
              <a:gd name="adj" fmla="val 367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804672" y="2743200"/>
            <a:ext cx="512064" cy="512064"/>
          </a:xfrm>
          <a:prstGeom prst="ellipse">
            <a:avLst/>
          </a:prstGeom>
          <a:solidFill>
            <a:srgbClr val="3A7D7B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2688" y="2871216"/>
            <a:ext cx="256032" cy="25603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04672" y="3364992"/>
            <a:ext cx="1536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804672" y="3639312"/>
            <a:ext cx="153619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TRAQOM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04672" y="4160520"/>
            <a:ext cx="1572768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the TRAQOM QR code on the LMS and complete the survey.</a:t>
            </a:r>
            <a:endParaRPr lang="en-US" sz="1100" dirty="0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6896" y="3813048"/>
            <a:ext cx="146304" cy="146304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2798064" y="2468880"/>
            <a:ext cx="1993392" cy="2834640"/>
          </a:xfrm>
          <a:prstGeom prst="roundRect">
            <a:avLst>
              <a:gd name="adj" fmla="val 3670"/>
            </a:avLst>
          </a:prstGeom>
          <a:solidFill>
            <a:srgbClr val="21201C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3" name="Shape 9"/>
          <p:cNvSpPr/>
          <p:nvPr/>
        </p:nvSpPr>
        <p:spPr>
          <a:xfrm>
            <a:off x="3054096" y="2743200"/>
            <a:ext cx="512064" cy="512064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82112" y="2871216"/>
            <a:ext cx="256032" cy="256032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054096" y="3364992"/>
            <a:ext cx="1536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</a:t>
            </a:r>
            <a:endParaRPr lang="en-US" sz="1000" dirty="0"/>
          </a:p>
        </p:txBody>
      </p:sp>
      <p:sp>
        <p:nvSpPr>
          <p:cNvPr id="16" name="Text 11"/>
          <p:cNvSpPr/>
          <p:nvPr/>
        </p:nvSpPr>
        <p:spPr>
          <a:xfrm>
            <a:off x="3054096" y="3639312"/>
            <a:ext cx="153619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Attendance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3054096" y="4160520"/>
            <a:ext cx="1572768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C4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the assessment digital attendance.</a:t>
            </a:r>
            <a:endParaRPr lang="en-US" sz="1100" dirty="0"/>
          </a:p>
        </p:txBody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0" y="3813048"/>
            <a:ext cx="146304" cy="146304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5047488" y="2468880"/>
            <a:ext cx="1993392" cy="2834640"/>
          </a:xfrm>
          <a:prstGeom prst="roundRect">
            <a:avLst>
              <a:gd name="adj" fmla="val 367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20" name="Shape 14"/>
          <p:cNvSpPr/>
          <p:nvPr/>
        </p:nvSpPr>
        <p:spPr>
          <a:xfrm>
            <a:off x="5303520" y="2743200"/>
            <a:ext cx="512064" cy="512064"/>
          </a:xfrm>
          <a:prstGeom prst="ellipse">
            <a:avLst/>
          </a:prstGeom>
          <a:solidFill>
            <a:srgbClr val="3A7D7B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31536" y="2871216"/>
            <a:ext cx="256032" cy="256032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5303520" y="3364992"/>
            <a:ext cx="1536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303520" y="3639312"/>
            <a:ext cx="153619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Assessment</a:t>
            </a:r>
            <a:endParaRPr lang="en-US" sz="1400" dirty="0"/>
          </a:p>
        </p:txBody>
      </p:sp>
      <p:sp>
        <p:nvSpPr>
          <p:cNvPr id="24" name="Text 17"/>
          <p:cNvSpPr/>
          <p:nvPr/>
        </p:nvSpPr>
        <p:spPr>
          <a:xfrm>
            <a:off x="5303520" y="4160520"/>
            <a:ext cx="1572768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the WA &amp; PP.</a:t>
            </a:r>
            <a:endParaRPr lang="en-US" sz="1100" dirty="0"/>
          </a:p>
        </p:txBody>
      </p:sp>
      <p:pic>
        <p:nvPicPr>
          <p:cNvPr id="25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95744" y="3813048"/>
            <a:ext cx="146304" cy="146304"/>
          </a:xfrm>
          <a:prstGeom prst="rect">
            <a:avLst/>
          </a:prstGeom>
        </p:spPr>
      </p:pic>
      <p:sp>
        <p:nvSpPr>
          <p:cNvPr id="26" name="Shape 18"/>
          <p:cNvSpPr/>
          <p:nvPr/>
        </p:nvSpPr>
        <p:spPr>
          <a:xfrm>
            <a:off x="7296912" y="2468880"/>
            <a:ext cx="1993392" cy="2834640"/>
          </a:xfrm>
          <a:prstGeom prst="roundRect">
            <a:avLst>
              <a:gd name="adj" fmla="val 3670"/>
            </a:avLst>
          </a:prstGeom>
          <a:solidFill>
            <a:srgbClr val="21201C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27" name="Shape 19"/>
          <p:cNvSpPr/>
          <p:nvPr/>
        </p:nvSpPr>
        <p:spPr>
          <a:xfrm>
            <a:off x="7552944" y="2743200"/>
            <a:ext cx="512064" cy="512064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80960" y="2871216"/>
            <a:ext cx="256032" cy="256032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7552944" y="3364992"/>
            <a:ext cx="1536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</a:t>
            </a:r>
            <a:endParaRPr lang="en-US" sz="1000" dirty="0"/>
          </a:p>
        </p:txBody>
      </p:sp>
      <p:sp>
        <p:nvSpPr>
          <p:cNvPr id="30" name="Text 21"/>
          <p:cNvSpPr/>
          <p:nvPr/>
        </p:nvSpPr>
        <p:spPr>
          <a:xfrm>
            <a:off x="7552944" y="3639312"/>
            <a:ext cx="153619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Submit Answers</a:t>
            </a:r>
            <a:endParaRPr lang="en-US" sz="1400" dirty="0"/>
          </a:p>
        </p:txBody>
      </p:sp>
      <p:sp>
        <p:nvSpPr>
          <p:cNvPr id="31" name="Text 22"/>
          <p:cNvSpPr/>
          <p:nvPr/>
        </p:nvSpPr>
        <p:spPr>
          <a:xfrm>
            <a:off x="7552944" y="4160520"/>
            <a:ext cx="1572768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C4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your assessment answers on the LMS.</a:t>
            </a:r>
            <a:endParaRPr lang="en-US" sz="1100" dirty="0"/>
          </a:p>
        </p:txBody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45168" y="3813048"/>
            <a:ext cx="146304" cy="146304"/>
          </a:xfrm>
          <a:prstGeom prst="rect">
            <a:avLst/>
          </a:prstGeom>
        </p:spPr>
      </p:pic>
      <p:sp>
        <p:nvSpPr>
          <p:cNvPr id="33" name="Shape 23"/>
          <p:cNvSpPr/>
          <p:nvPr/>
        </p:nvSpPr>
        <p:spPr>
          <a:xfrm>
            <a:off x="9546336" y="2468880"/>
            <a:ext cx="1993392" cy="2834640"/>
          </a:xfrm>
          <a:prstGeom prst="roundRect">
            <a:avLst>
              <a:gd name="adj" fmla="val 367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34" name="Shape 24"/>
          <p:cNvSpPr/>
          <p:nvPr/>
        </p:nvSpPr>
        <p:spPr>
          <a:xfrm>
            <a:off x="9802368" y="2743200"/>
            <a:ext cx="512064" cy="512064"/>
          </a:xfrm>
          <a:prstGeom prst="ellipse">
            <a:avLst/>
          </a:prstGeom>
          <a:solidFill>
            <a:srgbClr val="3A7D7B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35" name="Image 8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930384" y="2871216"/>
            <a:ext cx="256032" cy="256032"/>
          </a:xfrm>
          <a:prstGeom prst="rect">
            <a:avLst/>
          </a:prstGeom>
        </p:spPr>
      </p:pic>
      <p:sp>
        <p:nvSpPr>
          <p:cNvPr id="36" name="Text 25"/>
          <p:cNvSpPr/>
          <p:nvPr/>
        </p:nvSpPr>
        <p:spPr>
          <a:xfrm>
            <a:off x="9802368" y="3364992"/>
            <a:ext cx="1536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5</a:t>
            </a:r>
            <a:endParaRPr lang="en-US" sz="1000" dirty="0"/>
          </a:p>
        </p:txBody>
      </p:sp>
      <p:sp>
        <p:nvSpPr>
          <p:cNvPr id="37" name="Text 26"/>
          <p:cNvSpPr/>
          <p:nvPr/>
        </p:nvSpPr>
        <p:spPr>
          <a:xfrm>
            <a:off x="9802368" y="3639312"/>
            <a:ext cx="153619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Sign the Record</a:t>
            </a:r>
            <a:endParaRPr lang="en-US" sz="1400" dirty="0"/>
          </a:p>
        </p:txBody>
      </p:sp>
      <p:sp>
        <p:nvSpPr>
          <p:cNvPr id="38" name="Text 27"/>
          <p:cNvSpPr/>
          <p:nvPr/>
        </p:nvSpPr>
        <p:spPr>
          <a:xfrm>
            <a:off x="9802368" y="4160520"/>
            <a:ext cx="1572768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your Assessment Summary Record.</a:t>
            </a:r>
            <a:endParaRPr lang="en-US" sz="1100" dirty="0"/>
          </a:p>
        </p:txBody>
      </p:sp>
      <p:sp>
        <p:nvSpPr>
          <p:cNvPr id="39" name="Text 28"/>
          <p:cNvSpPr/>
          <p:nvPr/>
        </p:nvSpPr>
        <p:spPr>
          <a:xfrm>
            <a:off x="548640" y="557784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TIP  </a:t>
            </a:r>
            <a:pPr indent="0" marL="0">
              <a:buNone/>
            </a:pPr>
            <a:r>
              <a:rPr lang="en-US" sz="1300" i="1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Courseware and the assessment are on the LMS: https://lms-tms.tertiaryinfotech.com/</a:t>
            </a:r>
            <a:endParaRPr lang="en-US" sz="1300" dirty="0"/>
          </a:p>
        </p:txBody>
      </p:sp>
      <p:sp>
        <p:nvSpPr>
          <p:cNvPr id="40" name="Text 29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900" dirty="0"/>
          </a:p>
        </p:txBody>
      </p:sp>
      <p:sp>
        <p:nvSpPr>
          <p:cNvPr id="41" name="Text 30"/>
          <p:cNvSpPr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Applications with Claude Code</a:t>
            </a:r>
            <a:endParaRPr lang="en-US" sz="900" dirty="0"/>
          </a:p>
        </p:txBody>
      </p:sp>
      <p:sp>
        <p:nvSpPr>
          <p:cNvPr id="42" name="Text 31"/>
          <p:cNvSpPr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</a:t>
            </a:r>
            <a:endParaRPr lang="en-US" sz="9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YOU GO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Certification &amp; TRAQOM Survey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5394960" cy="310896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68680" y="2194560"/>
            <a:ext cx="566928" cy="566928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2331720"/>
            <a:ext cx="292608" cy="2926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54480" y="2240280"/>
            <a:ext cx="4206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TRAQOM Survey (Mandatory)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868680" y="3017520"/>
            <a:ext cx="47548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the certification &amp; TRAQOM survey to receive your certificate.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ai-lms-tms.tertiaryinfo.tech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217920" y="1920240"/>
            <a:ext cx="5394960" cy="3108960"/>
          </a:xfrm>
          <a:prstGeom prst="roundRect">
            <a:avLst>
              <a:gd name="adj" fmla="val 2353"/>
            </a:avLst>
          </a:prstGeom>
          <a:solidFill>
            <a:srgbClr val="21201C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6537960" y="2194560"/>
            <a:ext cx="566928" cy="566928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2331720"/>
            <a:ext cx="292608" cy="2926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223760" y="2240280"/>
            <a:ext cx="4206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Digital Attendance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6537960" y="3017520"/>
            <a:ext cx="47548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C4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to take AM, PM and Assessment digital attendance — required for your funding.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900" dirty="0"/>
          </a:p>
        </p:txBody>
      </p:sp>
      <p:sp>
        <p:nvSpPr>
          <p:cNvPr id="15" name="Text 11"/>
          <p:cNvSpPr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Applications with Claude Code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</a:t>
            </a:r>
            <a:endParaRPr lang="en-US" sz="9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2120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463040"/>
            <a:ext cx="4572000" cy="4572000"/>
          </a:xfrm>
          <a:prstGeom prst="ellipse">
            <a:avLst/>
          </a:prstGeom>
          <a:solidFill>
            <a:srgbClr val="D97757">
              <a:alpha val="16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058400" y="4023360"/>
            <a:ext cx="3657600" cy="3657600"/>
          </a:xfrm>
          <a:prstGeom prst="ellipse">
            <a:avLst/>
          </a:prstGeom>
          <a:solidFill>
            <a:srgbClr val="3A7D7B">
              <a:alpha val="14000"/>
            </a:srgbClr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822960" y="237744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You!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822960" y="35661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C4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 We're here to help — during and after class.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22960" y="42062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enquiry@tertiaryinfotech.com   |   +65 6100 0613</a:t>
            </a:r>
            <a:endParaRPr lang="en-US" sz="15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201C"/>
        </a:solidFill>
      </p:bgPr>
    </p:bg>
    <p:spTree>
      <p:nvGrpSpPr>
        <p:cNvPr id="1" name=""/>
        <p:cNvGrpSpPr/>
        <p:nvPr/>
      </p:nvGrpSpPr>
      <p:grpSpPr/>
      <p:sp>
        <p:nvSpPr>
          <p:cNvPr id="3" name="Text 1"/>
          <p:cNvSpPr/>
          <p:nvPr/>
        </p:nvSpPr>
        <p:spPr>
          <a:xfrm>
            <a:off x="548640" y="64008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PORTAL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Login to LMS and Download Course Material</a:t>
            </a:r>
            <a:endParaRPr lang="en-US" sz="2800" dirty="0"/>
          </a:p>
        </p:txBody>
      </p:sp>
      <p:sp>
        <p:nvSpPr>
          <p:cNvPr id="19" name="Text 14"/>
          <p:cNvSpPr/>
          <p:nvPr/>
        </p:nvSpPr>
        <p:spPr>
          <a:xfrm>
            <a:off x="457200" y="6565392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800" dirty="0"/>
          </a:p>
        </p:txBody>
      </p:sp>
      <p:pic>
        <p:nvPicPr>
          <p:cNvPr id="20" name="Picture 19" descr="ref_logi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038637" y="1897380"/>
            <a:ext cx="8114725" cy="4037076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21" name="TextBox 20"/>
          <p:cNvSpPr txBox="1"/>
          <p:nvPr/>
        </p:nvSpPr>
        <p:spPr>
          <a:xfrm>
            <a:off x="609600" y="6016752"/>
            <a:ext cx="10972800" cy="4594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>
                <a:solidFill>
                  <a:srgbClr val="CBD5E1"/>
                </a:solidFill>
                <a:latin typeface="Cambria"/>
              </a:rPr>
              <a:t>Log in at lms-tms.tertiaryinfotech.com with your registered email and the OTP sent to your inbox, then open this course to download the slides and Learner Guide.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64</Slides>
  <Notes>64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64</vt:i4>
      </vt:variant>
    </vt:vector>
  </HeadingPairs>
  <TitlesOfParts>
    <vt:vector size="6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Agentic AI Applications with Claude Code</dc:title>
  <dc:subject>PptxGenJS Presentation</dc:subject>
  <dc:creator>Dr. Alfred Ang</dc:creator>
  <cp:lastModifiedBy>Dr. Alfred Ang</cp:lastModifiedBy>
  <cp:revision>1</cp:revision>
  <dcterms:created xsi:type="dcterms:W3CDTF">2026-06-27T18:49:35Z</dcterms:created>
  <dcterms:modified xsi:type="dcterms:W3CDTF">2026-06-27T18:49:35Z</dcterms:modified>
</cp:coreProperties>
</file>