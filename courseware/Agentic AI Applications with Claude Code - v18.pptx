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69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5" r:id="rId76"/>
    <p:sldId id="263" r:id="rId9"/>
    <p:sldId id="264" r:id="rId10"/>
    <p:sldId id="265" r:id="rId11"/>
    <p:sldId id="266" r:id="rId12"/>
    <p:sldId id="267" r:id="rId13"/>
    <p:sldId id="268" r:id="rId14"/>
    <p:sldId id="326" r:id="rId77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3" r:id="rId74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5" r:id="rId61"/>
    <p:sldId id="324" r:id="rId75"/>
    <p:sldId id="327" r:id="rId78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20.xml"/><Relationship Id="rId72" Type="http://schemas.openxmlformats.org/officeDocument/2006/relationships/slide" Target="slides/slide53.xml"/><Relationship Id="rId74" Type="http://schemas.openxmlformats.org/officeDocument/2006/relationships/slide" Target="slides/slide43.xml"/><Relationship Id="rId75" Type="http://schemas.openxmlformats.org/officeDocument/2006/relationships/slide" Target="slides/slide63.xml"/><Relationship Id="rId76" Type="http://schemas.openxmlformats.org/officeDocument/2006/relationships/slide" Target="slides/slide8.xml"/><Relationship Id="rId77" Type="http://schemas.openxmlformats.org/officeDocument/2006/relationships/slide" Target="slides/slide69.xml"/><Relationship Id="rId78" Type="http://schemas.openxmlformats.org/officeDocument/2006/relationships/slide" Target="slides/slide7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Relationship Id="rId7" Type="http://schemas.openxmlformats.org/officeDocument/2006/relationships/hyperlink" Target="https://lms-tms.tertiaryinfotech.com/" TargetMode="Externa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18.0  ·  14 Oct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7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Cowork in one app — web, desktop &amp; mobile.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43078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4582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3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45821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45821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tool for building — terminal, IDE &amp; web.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80670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8341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5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83413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83413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UI, prototypes &amp; front-end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Excel, PowerPoint, Word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43078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45821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3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45821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45821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clicks &amp; fills forms in Chrome.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80670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8341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75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83413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83413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AI, 2023–2026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goes mainstream; results depend on the prompt wording.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tools and MCP launches; results depend on context.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Codex: systems that plan, act and check their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agents work 24/7 — OpenClaw, Hermes Agent, agent teams.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wording one prompt → curating context → engineering the harness → AI agents that work around the clock.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 xml:space="preserve"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 and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Cowork are now one app: Claude. Claude Code is the agentic tool for building — the one we use in this course.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ask, draft, analyse and research with web search.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plans and runs multi-step tasks on your files.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skills: Drive, Gmail, Calendar, Microsoft 365.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— web, desktop and mobile apps.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for building software, sites and automations.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terminal, VS Code, desktop app and web.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files, runs commands and calls MCP tools for you.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CLAUDE.md, skills, sub agents and hooks.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Principles of AI Security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65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17170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</a:p>
        </p:txBody>
      </p:sp>
      <p:sp>
        <p:nvSpPr>
          <p:cNvPr id="22" name="Pill 0"/>
          <p:cNvSpPr/>
          <p:nvPr/>
        </p:nvSpPr>
        <p:spPr>
          <a:xfrm>
            <a:off x="3063240" y="221284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063240" y="22128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SEE</a:t>
            </a:r>
          </a:p>
        </p:txBody>
      </p:sp>
      <p:sp>
        <p:nvSpPr>
          <p:cNvPr id="26" name="Desc 0"/>
          <p:cNvSpPr/>
          <p:nvPr/>
        </p:nvSpPr>
        <p:spPr>
          <a:xfrm>
            <a:off x="5394960" y="19659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your data (public, internal, confidential) and decide exactly which data the AI may access.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99466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7889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</a:t>
            </a:r>
          </a:p>
        </p:txBody>
      </p:sp>
      <p:sp>
        <p:nvSpPr>
          <p:cNvPr id="34" name="Pill 1"/>
          <p:cNvSpPr/>
          <p:nvPr/>
        </p:nvSpPr>
        <p:spPr>
          <a:xfrm>
            <a:off x="3063240" y="303580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063240" y="3035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</a:t>
            </a:r>
          </a:p>
        </p:txBody>
      </p:sp>
      <p:sp>
        <p:nvSpPr>
          <p:cNvPr id="38" name="Desc 1"/>
          <p:cNvSpPr/>
          <p:nvPr/>
        </p:nvSpPr>
        <p:spPr>
          <a:xfrm>
            <a:off x="5394960" y="27889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rights needed — read, write, edit, delete. Ask before anything destructive.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611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81762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6118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</a:p>
        </p:txBody>
      </p:sp>
      <p:sp>
        <p:nvSpPr>
          <p:cNvPr id="46" name="Pill 2"/>
          <p:cNvSpPr/>
          <p:nvPr/>
        </p:nvSpPr>
        <p:spPr>
          <a:xfrm>
            <a:off x="3063240" y="385876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063240" y="3858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</a:t>
            </a:r>
          </a:p>
        </p:txBody>
      </p:sp>
      <p:sp>
        <p:nvSpPr>
          <p:cNvPr id="50" name="Desc 2"/>
          <p:cNvSpPr/>
          <p:nvPr/>
        </p:nvSpPr>
        <p:spPr>
          <a:xfrm>
            <a:off x="5394960" y="36118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approves high-impact actions — deploys, deletions, payments, emails.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4348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64058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4348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</a:p>
        </p:txBody>
      </p:sp>
      <p:sp>
        <p:nvSpPr>
          <p:cNvPr id="58" name="Pill 3"/>
          <p:cNvSpPr/>
          <p:nvPr/>
        </p:nvSpPr>
        <p:spPr>
          <a:xfrm>
            <a:off x="3063240" y="468172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063240" y="468172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</a:p>
        </p:txBody>
      </p:sp>
      <p:sp>
        <p:nvSpPr>
          <p:cNvPr id="62" name="Desc 3"/>
          <p:cNvSpPr/>
          <p:nvPr/>
        </p:nvSpPr>
        <p:spPr>
          <a:xfrm>
            <a:off x="5394960" y="4434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prompt, tool call and change so actions can be audited, explained and rolled back.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54635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52578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Models</a:t>
            </a:r>
          </a:p>
        </p:txBody>
      </p:sp>
      <p:sp>
        <p:nvSpPr>
          <p:cNvPr id="70" name="Pill 4"/>
          <p:cNvSpPr/>
          <p:nvPr/>
        </p:nvSpPr>
        <p:spPr>
          <a:xfrm>
            <a:off x="3063240" y="550468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063240" y="55046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MOST POWERFUL</a:t>
            </a:r>
          </a:p>
        </p:txBody>
      </p:sp>
      <p:sp>
        <p:nvSpPr>
          <p:cNvPr id="74" name="Desc 4"/>
          <p:cNvSpPr/>
          <p:nvPr/>
        </p:nvSpPr>
        <p:spPr>
          <a:xfrm>
            <a:off x="5394960" y="52578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most powerful models by default — the smallest model that does the job has less autonomy and risk.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Code: permission modes &amp; allow/deny rules, hooks for guardrails &amp; logs, plan mode for human review.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